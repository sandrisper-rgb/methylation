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62" r:id="rId3"/>
    <p:sldId id="292" r:id="rId4"/>
    <p:sldId id="261" r:id="rId5"/>
    <p:sldId id="266" r:id="rId6"/>
    <p:sldId id="257" r:id="rId7"/>
    <p:sldId id="258" r:id="rId8"/>
    <p:sldId id="260" r:id="rId9"/>
    <p:sldId id="263" r:id="rId10"/>
    <p:sldId id="271" r:id="rId11"/>
    <p:sldId id="264" r:id="rId12"/>
    <p:sldId id="274" r:id="rId13"/>
    <p:sldId id="276" r:id="rId14"/>
    <p:sldId id="268" r:id="rId15"/>
    <p:sldId id="267" r:id="rId16"/>
    <p:sldId id="298" r:id="rId17"/>
    <p:sldId id="269" r:id="rId18"/>
    <p:sldId id="277" r:id="rId19"/>
    <p:sldId id="296" r:id="rId20"/>
    <p:sldId id="297" r:id="rId21"/>
    <p:sldId id="280" r:id="rId22"/>
    <p:sldId id="281" r:id="rId23"/>
    <p:sldId id="293" r:id="rId24"/>
    <p:sldId id="294" r:id="rId25"/>
    <p:sldId id="288" r:id="rId26"/>
    <p:sldId id="284" r:id="rId27"/>
    <p:sldId id="295" r:id="rId28"/>
    <p:sldId id="286" r:id="rId29"/>
    <p:sldId id="291" r:id="rId30"/>
    <p:sldId id="287" r:id="rId31"/>
  </p:sldIdLst>
  <p:sldSz cx="18288000" cy="10287000"/>
  <p:notesSz cx="6858000" cy="9144000"/>
  <p:embeddedFontLst>
    <p:embeddedFont>
      <p:font typeface="Open Sans" panose="020B0606030504020204" pitchFamily="34" charset="0"/>
      <p:regular r:id="rId33"/>
      <p:bold r:id="rId34"/>
      <p:italic r:id="rId35"/>
      <p:boldItalic r:id="rId36"/>
    </p:embeddedFont>
    <p:embeddedFont>
      <p:font typeface="Source Sans Pro" panose="020B0503030403020204" pitchFamily="3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4992">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2" roundtripDataSignature="AMtx7miWRmvxUnpn45pKwGDvXiG6XjWgSA=="/>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BE1441A-3B19-17C4-7C81-3D545B481010}" name="Luisa  Fernanda Vargas" initials="LV" userId="S::lfvargasb@unbosque.edu.co::09896466-a0e0-4715-8e18-dff27b1f92e0" providerId="AD"/>
  <p188:author id="{4796E95F-9505-55BA-AF01-4F52ECE997DA}" name="Angie Alejandra Benavides rojas" initials="AB" userId="S::aabenavides@unbosque.edu.co::76994d87-4fae-4641-8f2d-440782e829d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BEA1"/>
    <a:srgbClr val="FEACAD"/>
    <a:srgbClr val="EF8970"/>
    <a:srgbClr val="E5761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34" d="100"/>
          <a:sy n="34" d="100"/>
        </p:scale>
        <p:origin x="922" y="101"/>
      </p:cViewPr>
      <p:guideLst>
        <p:guide orient="horz" pos="2160"/>
        <p:guide pos="2880"/>
        <p:guide pos="499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customschemas.google.com/relationships/presentationmetadata" Target="metadata"/><Relationship Id="rId47"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tableStyles" Target="tableStyles.xml"/><Relationship Id="rId20" Type="http://schemas.openxmlformats.org/officeDocument/2006/relationships/slide" Target="slides/slide19.xml"/></Relationships>
</file>

<file path=ppt/charts/_rels/chart1.xml.rels><?xml version="1.0" encoding="UTF-8" standalone="yes"?>
<Relationships xmlns="http://schemas.openxmlformats.org/package/2006/relationships"><Relationship Id="rId3" Type="http://schemas.openxmlformats.org/officeDocument/2006/relationships/oleObject" Target="file:///C:\Users\lore2\Documents\SIgA\MONTAJE%2024-02-21%20ANALISIS.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822822060272065"/>
          <c:y val="6.309521729965914E-2"/>
          <c:w val="0.83305847628520202"/>
          <c:h val="0.791715956991903"/>
        </c:manualLayout>
      </c:layout>
      <c:scatterChart>
        <c:scatterStyle val="lineMarker"/>
        <c:varyColors val="0"/>
        <c:ser>
          <c:idx val="0"/>
          <c:order val="0"/>
          <c:tx>
            <c:strRef>
              <c:f>'PLACA 1'!$D$28</c:f>
              <c:strCache>
                <c:ptCount val="1"/>
                <c:pt idx="0">
                  <c:v>ABS</c:v>
                </c:pt>
              </c:strCache>
            </c:strRef>
          </c:tx>
          <c:spPr>
            <a:ln w="19050"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anchor="ctr" anchorCtr="1"/>
              <a:lstStyle/>
              <a:p>
                <a:pPr>
                  <a:defRPr sz="800" b="0" i="0" u="none" strike="noStrike" kern="1200" baseline="0">
                    <a:solidFill>
                      <a:schemeClr val="tx1">
                        <a:lumMod val="75000"/>
                        <a:lumOff val="25000"/>
                      </a:schemeClr>
                    </a:solidFill>
                    <a:latin typeface="+mn-lt"/>
                    <a:ea typeface="+mn-ea"/>
                    <a:cs typeface="+mn-cs"/>
                  </a:defRPr>
                </a:pPr>
                <a:endParaRPr lang="es-CO"/>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trendline>
            <c:spPr>
              <a:ln w="19050" cap="rnd">
                <a:solidFill>
                  <a:schemeClr val="accent1"/>
                </a:solidFill>
                <a:prstDash val="sysDot"/>
              </a:ln>
              <a:effectLst/>
            </c:spPr>
            <c:trendlineType val="linear"/>
            <c:dispRSqr val="1"/>
            <c:dispEq val="1"/>
            <c:trendlineLbl>
              <c:layout>
                <c:manualLayout>
                  <c:x val="-0.31071135300918801"/>
                  <c:y val="2.9787546971448099E-3"/>
                </c:manualLayout>
              </c:layout>
              <c:numFmt formatCode="General" sourceLinked="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s-CO"/>
                </a:p>
              </c:txPr>
            </c:trendlineLbl>
          </c:trendline>
          <c:xVal>
            <c:numRef>
              <c:f>'PLACA 1'!$C$29:$C$39</c:f>
              <c:numCache>
                <c:formatCode>0.000</c:formatCode>
                <c:ptCount val="11"/>
                <c:pt idx="1">
                  <c:v>1.25</c:v>
                </c:pt>
                <c:pt idx="2">
                  <c:v>0.625</c:v>
                </c:pt>
                <c:pt idx="3">
                  <c:v>0.3125</c:v>
                </c:pt>
                <c:pt idx="4">
                  <c:v>0.15625</c:v>
                </c:pt>
                <c:pt idx="5">
                  <c:v>7.8125E-2</c:v>
                </c:pt>
                <c:pt idx="6">
                  <c:v>3.90625E-2</c:v>
                </c:pt>
                <c:pt idx="7">
                  <c:v>0</c:v>
                </c:pt>
              </c:numCache>
            </c:numRef>
          </c:xVal>
          <c:yVal>
            <c:numRef>
              <c:f>'PLACA 1'!$D$29:$D$39</c:f>
              <c:numCache>
                <c:formatCode>0.000</c:formatCode>
                <c:ptCount val="11"/>
                <c:pt idx="1">
                  <c:v>1.2167999953031501</c:v>
                </c:pt>
                <c:pt idx="2">
                  <c:v>0.83884000092744804</c:v>
                </c:pt>
                <c:pt idx="3">
                  <c:v>0.47603999719023699</c:v>
                </c:pt>
                <c:pt idx="4">
                  <c:v>0.33533500099778202</c:v>
                </c:pt>
                <c:pt idx="5">
                  <c:v>0.17680000886321101</c:v>
                </c:pt>
                <c:pt idx="6">
                  <c:v>0.13495999991893701</c:v>
                </c:pt>
                <c:pt idx="7">
                  <c:v>3.29999998211861E-3</c:v>
                </c:pt>
              </c:numCache>
            </c:numRef>
          </c:yVal>
          <c:smooth val="0"/>
          <c:extLst>
            <c:ext xmlns:c16="http://schemas.microsoft.com/office/drawing/2014/chart" uri="{C3380CC4-5D6E-409C-BE32-E72D297353CC}">
              <c16:uniqueId val="{00000001-D05D-4972-BF4B-39C1FF98C2F0}"/>
            </c:ext>
          </c:extLst>
        </c:ser>
        <c:dLbls>
          <c:showLegendKey val="0"/>
          <c:showVal val="0"/>
          <c:showCatName val="0"/>
          <c:showSerName val="0"/>
          <c:showPercent val="0"/>
          <c:showBubbleSize val="0"/>
        </c:dLbls>
        <c:axId val="2107760000"/>
        <c:axId val="2107754192"/>
      </c:scatterChart>
      <c:valAx>
        <c:axId val="2107760000"/>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r>
                  <a:rPr lang="es-CO"/>
                  <a:t>CONCENTRACION</a:t>
                </a:r>
              </a:p>
            </c:rich>
          </c:tx>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s-CO"/>
            </a:p>
          </c:txPr>
        </c:title>
        <c:numFmt formatCode="0.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s-CO"/>
          </a:p>
        </c:txPr>
        <c:crossAx val="2107754192"/>
        <c:crosses val="autoZero"/>
        <c:crossBetween val="midCat"/>
      </c:valAx>
      <c:valAx>
        <c:axId val="210775419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r>
                  <a:rPr lang="es-CO"/>
                  <a:t>ABSORBANCIA</a:t>
                </a:r>
              </a:p>
            </c:rich>
          </c:tx>
          <c:overlay val="0"/>
          <c:spPr>
            <a:noFill/>
            <a:ln>
              <a:noFill/>
            </a:ln>
            <a:effectLst/>
          </c:spPr>
          <c:txPr>
            <a:bodyPr rot="-54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s-CO"/>
            </a:p>
          </c:txPr>
        </c:title>
        <c:numFmt formatCode="0.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es-CO"/>
          </a:p>
        </c:txPr>
        <c:crossAx val="2107760000"/>
        <c:crosses val="autoZero"/>
        <c:crossBetween val="midCat"/>
      </c:valAx>
      <c:spPr>
        <a:noFill/>
        <a:ln>
          <a:noFill/>
        </a:ln>
        <a:effectLst/>
      </c:spPr>
    </c:plotArea>
    <c:plotVisOnly val="1"/>
    <c:dispBlanksAs val="gap"/>
    <c:showDLblsOverMax val="0"/>
  </c:chart>
  <c:spPr>
    <a:noFill/>
    <a:ln>
      <a:noFill/>
    </a:ln>
    <a:effectLst/>
  </c:spPr>
  <c:txPr>
    <a:bodyPr/>
    <a:lstStyle/>
    <a:p>
      <a:pPr>
        <a:defRPr sz="800"/>
      </a:pPr>
      <a:endParaRPr lang="es-CO"/>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4" Type="http://schemas.openxmlformats.org/officeDocument/2006/relationships/image" Target="../media/image3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svg"/><Relationship Id="rId1" Type="http://schemas.openxmlformats.org/officeDocument/2006/relationships/image" Target="../media/image35.png"/><Relationship Id="rId4" Type="http://schemas.openxmlformats.org/officeDocument/2006/relationships/image" Target="../media/image38.svg"/></Relationships>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1B9CDF8-905F-45F5-8449-DE4E8E9F0A75}" type="doc">
      <dgm:prSet loTypeId="urn:microsoft.com/office/officeart/2018/2/layout/IconVerticalSolidList" loCatId="icon" qsTypeId="urn:microsoft.com/office/officeart/2005/8/quickstyle/simple1" qsCatId="simple" csTypeId="urn:microsoft.com/office/officeart/2005/8/colors/accent6_2" csCatId="accent6" phldr="1"/>
      <dgm:spPr/>
      <dgm:t>
        <a:bodyPr/>
        <a:lstStyle/>
        <a:p>
          <a:endParaRPr lang="en-US"/>
        </a:p>
      </dgm:t>
    </dgm:pt>
    <dgm:pt modelId="{60B617DB-E946-45CC-BB95-298B466863FD}">
      <dgm:prSet custT="1"/>
      <dgm:spPr/>
      <dgm:t>
        <a:bodyPr/>
        <a:lstStyle/>
        <a:p>
          <a:pPr algn="ctr">
            <a:lnSpc>
              <a:spcPct val="100000"/>
            </a:lnSpc>
          </a:pPr>
          <a:r>
            <a:rPr lang="es-ES" sz="2000" b="0" i="0" dirty="0">
              <a:latin typeface="Source Sans Pro" panose="020B0503030403020204" pitchFamily="34" charset="0"/>
              <a:ea typeface="Source Sans Pro" panose="020B0503030403020204" pitchFamily="34" charset="0"/>
            </a:rPr>
            <a:t>Al implementar la </a:t>
          </a:r>
          <a:r>
            <a:rPr lang="es-ES" sz="2000" b="1" i="1" dirty="0">
              <a:latin typeface="Source Sans Pro" panose="020B0503030403020204" pitchFamily="34" charset="0"/>
              <a:ea typeface="Source Sans Pro" panose="020B0503030403020204" pitchFamily="34" charset="0"/>
            </a:rPr>
            <a:t>biopsia líquida </a:t>
          </a:r>
          <a:r>
            <a:rPr lang="es-ES" sz="2000" b="0" i="0" dirty="0">
              <a:latin typeface="Source Sans Pro" panose="020B0503030403020204" pitchFamily="34" charset="0"/>
              <a:ea typeface="Source Sans Pro" panose="020B0503030403020204" pitchFamily="34" charset="0"/>
            </a:rPr>
            <a:t> como herramienta diagnostica y poco invasiva podremos contribuir  a la i</a:t>
          </a:r>
          <a:r>
            <a:rPr lang="es-ES" sz="2000" b="0" i="0" u="sng" dirty="0">
              <a:latin typeface="Source Sans Pro" panose="020B0503030403020204" pitchFamily="34" charset="0"/>
              <a:ea typeface="Source Sans Pro" panose="020B0503030403020204" pitchFamily="34" charset="0"/>
            </a:rPr>
            <a:t>dentificación temprana </a:t>
          </a:r>
          <a:r>
            <a:rPr lang="es-ES" sz="2000" b="0" i="0" dirty="0">
              <a:latin typeface="Source Sans Pro" panose="020B0503030403020204" pitchFamily="34" charset="0"/>
              <a:ea typeface="Source Sans Pro" panose="020B0503030403020204" pitchFamily="34" charset="0"/>
            </a:rPr>
            <a:t>de alteraciones epigenéticas asociadas a la enfermedad</a:t>
          </a:r>
          <a:endParaRPr lang="en-US" sz="2000" u="none" dirty="0">
            <a:latin typeface="Source Sans Pro" panose="020B0503030403020204" pitchFamily="34" charset="0"/>
            <a:ea typeface="Source Sans Pro" panose="020B0503030403020204" pitchFamily="34" charset="0"/>
          </a:endParaRPr>
        </a:p>
      </dgm:t>
    </dgm:pt>
    <dgm:pt modelId="{8D66649D-A968-4A1C-8111-0D21D521A4AE}" type="sibTrans" cxnId="{2BF712DD-B788-4D6E-A6BC-0BFE72EA2FAD}">
      <dgm:prSet/>
      <dgm:spPr/>
      <dgm:t>
        <a:bodyPr/>
        <a:lstStyle/>
        <a:p>
          <a:endParaRPr lang="en-US"/>
        </a:p>
      </dgm:t>
    </dgm:pt>
    <dgm:pt modelId="{314D8A09-ED94-4E6D-9FBD-FA9F569132E8}" type="parTrans" cxnId="{2BF712DD-B788-4D6E-A6BC-0BFE72EA2FAD}">
      <dgm:prSet/>
      <dgm:spPr/>
      <dgm:t>
        <a:bodyPr/>
        <a:lstStyle/>
        <a:p>
          <a:endParaRPr lang="en-US"/>
        </a:p>
      </dgm:t>
    </dgm:pt>
    <dgm:pt modelId="{3E54F45D-DFA1-47B5-836D-7B11DED8AE4C}">
      <dgm:prSet custT="1"/>
      <dgm:spPr/>
      <dgm:t>
        <a:bodyPr/>
        <a:lstStyle/>
        <a:p>
          <a:pPr algn="ctr">
            <a:lnSpc>
              <a:spcPct val="100000"/>
            </a:lnSpc>
          </a:pPr>
          <a:r>
            <a:rPr lang="es-ES" sz="2000" b="0" i="0" u="none" dirty="0">
              <a:latin typeface="Source Sans Pro" panose="020B0503030403020204" pitchFamily="34" charset="0"/>
              <a:ea typeface="Source Sans Pro" panose="020B0503030403020204" pitchFamily="34" charset="0"/>
            </a:rPr>
            <a:t>Proponemos analizar una </a:t>
          </a:r>
          <a:r>
            <a:rPr lang="es-ES" sz="2000" b="1" i="0" u="none" dirty="0">
              <a:latin typeface="Source Sans Pro" panose="020B0503030403020204" pitchFamily="34" charset="0"/>
              <a:ea typeface="Source Sans Pro" panose="020B0503030403020204" pitchFamily="34" charset="0"/>
            </a:rPr>
            <a:t>firma de genes </a:t>
          </a:r>
          <a:r>
            <a:rPr lang="es-ES" sz="2000" b="0" i="0" u="none" dirty="0">
              <a:latin typeface="Source Sans Pro" panose="020B0503030403020204" pitchFamily="34" charset="0"/>
              <a:ea typeface="Source Sans Pro" panose="020B0503030403020204" pitchFamily="34" charset="0"/>
            </a:rPr>
            <a:t>diferencialmente metilados entre individuos sanos y pacientes con CU de larga duración, que podría servir como </a:t>
          </a:r>
          <a:r>
            <a:rPr lang="es-ES" sz="2000" b="0" i="1" u="sng" dirty="0">
              <a:latin typeface="Source Sans Pro" panose="020B0503030403020204" pitchFamily="34" charset="0"/>
              <a:ea typeface="Source Sans Pro" panose="020B0503030403020204" pitchFamily="34" charset="0"/>
            </a:rPr>
            <a:t>biomarcadores</a:t>
          </a:r>
          <a:r>
            <a:rPr lang="es-ES" sz="2000" b="0" i="0" u="none" dirty="0">
              <a:latin typeface="Source Sans Pro" panose="020B0503030403020204" pitchFamily="34" charset="0"/>
              <a:ea typeface="Source Sans Pro" panose="020B0503030403020204" pitchFamily="34" charset="0"/>
            </a:rPr>
            <a:t> para identificar aquellos con mayor riesgo de progresar a CCR  y asociarlas con los niveles de producción de </a:t>
          </a:r>
          <a:r>
            <a:rPr lang="es-ES" sz="2000" b="0" i="0" u="none" dirty="0" err="1">
              <a:latin typeface="Source Sans Pro" panose="020B0503030403020204" pitchFamily="34" charset="0"/>
              <a:ea typeface="Source Sans Pro" panose="020B0503030403020204" pitchFamily="34" charset="0"/>
            </a:rPr>
            <a:t>SIgA</a:t>
          </a:r>
          <a:r>
            <a:rPr lang="es-ES" sz="2000" b="0" i="0" u="none" dirty="0">
              <a:latin typeface="Source Sans Pro" panose="020B0503030403020204" pitchFamily="34" charset="0"/>
              <a:ea typeface="Source Sans Pro" panose="020B0503030403020204" pitchFamily="34" charset="0"/>
            </a:rPr>
            <a:t>. </a:t>
          </a:r>
          <a:endParaRPr lang="en-US" sz="2000" dirty="0">
            <a:latin typeface="Source Sans Pro" panose="020B0503030403020204" pitchFamily="34" charset="0"/>
            <a:ea typeface="Source Sans Pro" panose="020B0503030403020204" pitchFamily="34" charset="0"/>
          </a:endParaRPr>
        </a:p>
      </dgm:t>
    </dgm:pt>
    <dgm:pt modelId="{F9E576D0-070F-4CE8-830D-A9D6D0B4F726}" type="sibTrans" cxnId="{DCB5F302-436F-4B44-A15C-C9F6BEFF7748}">
      <dgm:prSet/>
      <dgm:spPr/>
      <dgm:t>
        <a:bodyPr/>
        <a:lstStyle/>
        <a:p>
          <a:endParaRPr lang="en-US"/>
        </a:p>
      </dgm:t>
    </dgm:pt>
    <dgm:pt modelId="{00FDC842-B2BE-48BD-85CC-393C690A43F3}" type="parTrans" cxnId="{DCB5F302-436F-4B44-A15C-C9F6BEFF7748}">
      <dgm:prSet/>
      <dgm:spPr/>
      <dgm:t>
        <a:bodyPr/>
        <a:lstStyle/>
        <a:p>
          <a:endParaRPr lang="en-US"/>
        </a:p>
      </dgm:t>
    </dgm:pt>
    <dgm:pt modelId="{E3242543-89AF-4FC8-B74C-FA64459A7DF4}" type="pres">
      <dgm:prSet presAssocID="{F1B9CDF8-905F-45F5-8449-DE4E8E9F0A75}" presName="root" presStyleCnt="0">
        <dgm:presLayoutVars>
          <dgm:dir/>
          <dgm:resizeHandles val="exact"/>
        </dgm:presLayoutVars>
      </dgm:prSet>
      <dgm:spPr/>
    </dgm:pt>
    <dgm:pt modelId="{C3D54666-A20E-4CCC-B84E-2A596722A811}" type="pres">
      <dgm:prSet presAssocID="{3E54F45D-DFA1-47B5-836D-7B11DED8AE4C}" presName="compNode" presStyleCnt="0"/>
      <dgm:spPr/>
    </dgm:pt>
    <dgm:pt modelId="{3B0D32EE-E84B-4A12-B295-BA86233BDA1D}" type="pres">
      <dgm:prSet presAssocID="{3E54F45D-DFA1-47B5-836D-7B11DED8AE4C}" presName="bgRect" presStyleLbl="bgShp" presStyleIdx="0" presStyleCnt="2" custScaleY="143762" custLinFactNeighborX="8061" custLinFactNeighborY="-10959"/>
      <dgm:spPr>
        <a:solidFill>
          <a:schemeClr val="accent5">
            <a:lumMod val="20000"/>
            <a:lumOff val="80000"/>
          </a:schemeClr>
        </a:solidFill>
      </dgm:spPr>
    </dgm:pt>
    <dgm:pt modelId="{1BB73F0B-FAEA-4240-ABC6-48BF583095CA}" type="pres">
      <dgm:prSet presAssocID="{3E54F45D-DFA1-47B5-836D-7B11DED8AE4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ientífico"/>
        </a:ext>
      </dgm:extLst>
    </dgm:pt>
    <dgm:pt modelId="{640A6DAF-4CA9-4C1E-923B-EB03C0A725C8}" type="pres">
      <dgm:prSet presAssocID="{3E54F45D-DFA1-47B5-836D-7B11DED8AE4C}" presName="spaceRect" presStyleCnt="0"/>
      <dgm:spPr/>
    </dgm:pt>
    <dgm:pt modelId="{4C9E203C-6CA2-4BB1-B08F-C6E0014DA3C0}" type="pres">
      <dgm:prSet presAssocID="{3E54F45D-DFA1-47B5-836D-7B11DED8AE4C}" presName="parTx" presStyleLbl="revTx" presStyleIdx="0" presStyleCnt="2" custScaleX="105645" custScaleY="99145" custLinFactNeighborX="-5166" custLinFactNeighborY="-17930">
        <dgm:presLayoutVars>
          <dgm:chMax val="0"/>
          <dgm:chPref val="0"/>
        </dgm:presLayoutVars>
      </dgm:prSet>
      <dgm:spPr/>
    </dgm:pt>
    <dgm:pt modelId="{676BD16B-73D5-4EFB-9325-D6925F59C501}" type="pres">
      <dgm:prSet presAssocID="{F9E576D0-070F-4CE8-830D-A9D6D0B4F726}" presName="sibTrans" presStyleCnt="0"/>
      <dgm:spPr/>
    </dgm:pt>
    <dgm:pt modelId="{5EE3F7F3-5F98-40EC-B281-E4674A429858}" type="pres">
      <dgm:prSet presAssocID="{60B617DB-E946-45CC-BB95-298B466863FD}" presName="compNode" presStyleCnt="0"/>
      <dgm:spPr/>
    </dgm:pt>
    <dgm:pt modelId="{97B52E15-D5EE-4943-91CB-7A218B2194B8}" type="pres">
      <dgm:prSet presAssocID="{60B617DB-E946-45CC-BB95-298B466863FD}" presName="bgRect" presStyleLbl="bgShp" presStyleIdx="1" presStyleCnt="2" custScaleY="137270" custLinFactNeighborX="296" custLinFactNeighborY="-2290"/>
      <dgm:spPr>
        <a:solidFill>
          <a:schemeClr val="accent5">
            <a:lumMod val="20000"/>
            <a:lumOff val="80000"/>
          </a:schemeClr>
        </a:solidFill>
      </dgm:spPr>
    </dgm:pt>
    <dgm:pt modelId="{7A14280E-1813-4FA3-90D1-BB829D46A947}" type="pres">
      <dgm:prSet presAssocID="{60B617DB-E946-45CC-BB95-298B466863F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ADN"/>
        </a:ext>
      </dgm:extLst>
    </dgm:pt>
    <dgm:pt modelId="{2B8C0FB2-3D58-4A02-B50E-46369B23E139}" type="pres">
      <dgm:prSet presAssocID="{60B617DB-E946-45CC-BB95-298B466863FD}" presName="spaceRect" presStyleCnt="0"/>
      <dgm:spPr/>
    </dgm:pt>
    <dgm:pt modelId="{7B8B9632-312A-4E94-AB27-E7C6D4A2DF1C}" type="pres">
      <dgm:prSet presAssocID="{60B617DB-E946-45CC-BB95-298B466863FD}" presName="parTx" presStyleLbl="revTx" presStyleIdx="1" presStyleCnt="2" custLinFactNeighborX="-7439" custLinFactNeighborY="-17125">
        <dgm:presLayoutVars>
          <dgm:chMax val="0"/>
          <dgm:chPref val="0"/>
        </dgm:presLayoutVars>
      </dgm:prSet>
      <dgm:spPr/>
    </dgm:pt>
  </dgm:ptLst>
  <dgm:cxnLst>
    <dgm:cxn modelId="{DCB5F302-436F-4B44-A15C-C9F6BEFF7748}" srcId="{F1B9CDF8-905F-45F5-8449-DE4E8E9F0A75}" destId="{3E54F45D-DFA1-47B5-836D-7B11DED8AE4C}" srcOrd="0" destOrd="0" parTransId="{00FDC842-B2BE-48BD-85CC-393C690A43F3}" sibTransId="{F9E576D0-070F-4CE8-830D-A9D6D0B4F726}"/>
    <dgm:cxn modelId="{E84ED269-E36D-4C08-8258-EFA4E243A622}" type="presOf" srcId="{F1B9CDF8-905F-45F5-8449-DE4E8E9F0A75}" destId="{E3242543-89AF-4FC8-B74C-FA64459A7DF4}" srcOrd="0" destOrd="0" presId="urn:microsoft.com/office/officeart/2018/2/layout/IconVerticalSolidList"/>
    <dgm:cxn modelId="{8E36D39D-5E95-4955-AF24-033811DE0C21}" type="presOf" srcId="{3E54F45D-DFA1-47B5-836D-7B11DED8AE4C}" destId="{4C9E203C-6CA2-4BB1-B08F-C6E0014DA3C0}" srcOrd="0" destOrd="0" presId="urn:microsoft.com/office/officeart/2018/2/layout/IconVerticalSolidList"/>
    <dgm:cxn modelId="{2BF712DD-B788-4D6E-A6BC-0BFE72EA2FAD}" srcId="{F1B9CDF8-905F-45F5-8449-DE4E8E9F0A75}" destId="{60B617DB-E946-45CC-BB95-298B466863FD}" srcOrd="1" destOrd="0" parTransId="{314D8A09-ED94-4E6D-9FBD-FA9F569132E8}" sibTransId="{8D66649D-A968-4A1C-8111-0D21D521A4AE}"/>
    <dgm:cxn modelId="{90BFF8F6-E70F-47A3-BE26-99A0C29462B4}" type="presOf" srcId="{60B617DB-E946-45CC-BB95-298B466863FD}" destId="{7B8B9632-312A-4E94-AB27-E7C6D4A2DF1C}" srcOrd="0" destOrd="0" presId="urn:microsoft.com/office/officeart/2018/2/layout/IconVerticalSolidList"/>
    <dgm:cxn modelId="{FB572A9A-E738-4CDC-AFCD-6AE0B61263BE}" type="presParOf" srcId="{E3242543-89AF-4FC8-B74C-FA64459A7DF4}" destId="{C3D54666-A20E-4CCC-B84E-2A596722A811}" srcOrd="0" destOrd="0" presId="urn:microsoft.com/office/officeart/2018/2/layout/IconVerticalSolidList"/>
    <dgm:cxn modelId="{A2A12836-5B46-4A52-B0DB-B6E05421D874}" type="presParOf" srcId="{C3D54666-A20E-4CCC-B84E-2A596722A811}" destId="{3B0D32EE-E84B-4A12-B295-BA86233BDA1D}" srcOrd="0" destOrd="0" presId="urn:microsoft.com/office/officeart/2018/2/layout/IconVerticalSolidList"/>
    <dgm:cxn modelId="{525B7007-FDA6-4F3B-A067-4E7F4BFD9580}" type="presParOf" srcId="{C3D54666-A20E-4CCC-B84E-2A596722A811}" destId="{1BB73F0B-FAEA-4240-ABC6-48BF583095CA}" srcOrd="1" destOrd="0" presId="urn:microsoft.com/office/officeart/2018/2/layout/IconVerticalSolidList"/>
    <dgm:cxn modelId="{B4E3AD7C-7FE4-4957-A901-11DA6749609E}" type="presParOf" srcId="{C3D54666-A20E-4CCC-B84E-2A596722A811}" destId="{640A6DAF-4CA9-4C1E-923B-EB03C0A725C8}" srcOrd="2" destOrd="0" presId="urn:microsoft.com/office/officeart/2018/2/layout/IconVerticalSolidList"/>
    <dgm:cxn modelId="{E053F2B1-318B-4095-BEFF-EC562E24F3CF}" type="presParOf" srcId="{C3D54666-A20E-4CCC-B84E-2A596722A811}" destId="{4C9E203C-6CA2-4BB1-B08F-C6E0014DA3C0}" srcOrd="3" destOrd="0" presId="urn:microsoft.com/office/officeart/2018/2/layout/IconVerticalSolidList"/>
    <dgm:cxn modelId="{123771EE-AED7-4083-8F69-4573145A9B28}" type="presParOf" srcId="{E3242543-89AF-4FC8-B74C-FA64459A7DF4}" destId="{676BD16B-73D5-4EFB-9325-D6925F59C501}" srcOrd="1" destOrd="0" presId="urn:microsoft.com/office/officeart/2018/2/layout/IconVerticalSolidList"/>
    <dgm:cxn modelId="{B55499C5-08F1-4A2D-B8DA-8085B768690A}" type="presParOf" srcId="{E3242543-89AF-4FC8-B74C-FA64459A7DF4}" destId="{5EE3F7F3-5F98-40EC-B281-E4674A429858}" srcOrd="2" destOrd="0" presId="urn:microsoft.com/office/officeart/2018/2/layout/IconVerticalSolidList"/>
    <dgm:cxn modelId="{52360DDF-4868-42C0-8B1F-3CCDD02F75EB}" type="presParOf" srcId="{5EE3F7F3-5F98-40EC-B281-E4674A429858}" destId="{97B52E15-D5EE-4943-91CB-7A218B2194B8}" srcOrd="0" destOrd="0" presId="urn:microsoft.com/office/officeart/2018/2/layout/IconVerticalSolidList"/>
    <dgm:cxn modelId="{B4011A7D-161F-4856-B031-E8C17CF83D84}" type="presParOf" srcId="{5EE3F7F3-5F98-40EC-B281-E4674A429858}" destId="{7A14280E-1813-4FA3-90D1-BB829D46A947}" srcOrd="1" destOrd="0" presId="urn:microsoft.com/office/officeart/2018/2/layout/IconVerticalSolidList"/>
    <dgm:cxn modelId="{331AB074-B270-4353-8817-D2CCB957365D}" type="presParOf" srcId="{5EE3F7F3-5F98-40EC-B281-E4674A429858}" destId="{2B8C0FB2-3D58-4A02-B50E-46369B23E139}" srcOrd="2" destOrd="0" presId="urn:microsoft.com/office/officeart/2018/2/layout/IconVerticalSolidList"/>
    <dgm:cxn modelId="{C73E0361-D264-41F9-A02C-ECC6512FA384}" type="presParOf" srcId="{5EE3F7F3-5F98-40EC-B281-E4674A429858}" destId="{7B8B9632-312A-4E94-AB27-E7C6D4A2DF1C}" srcOrd="3" destOrd="0" presId="urn:microsoft.com/office/officeart/2018/2/layout/IconVerticalSolid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97BBFA8-FA47-4699-98A6-6AF299BA7FC2}" type="doc">
      <dgm:prSet loTypeId="urn:microsoft.com/office/officeart/2005/8/layout/list1" loCatId="list" qsTypeId="urn:microsoft.com/office/officeart/2005/8/quickstyle/simple1" qsCatId="simple" csTypeId="urn:microsoft.com/office/officeart/2005/8/colors/accent0_1" csCatId="mainScheme" phldr="1"/>
      <dgm:spPr/>
      <dgm:t>
        <a:bodyPr/>
        <a:lstStyle/>
        <a:p>
          <a:endParaRPr lang="es-ES"/>
        </a:p>
      </dgm:t>
    </dgm:pt>
    <dgm:pt modelId="{7C1DF7D5-00FE-46B5-8919-A61E1BE7ADEC}">
      <dgm:prSet phldrT="[Texto]" custT="1"/>
      <dgm:spPr/>
      <dgm:t>
        <a:bodyPr/>
        <a:lstStyle/>
        <a:p>
          <a:pPr algn="ctr">
            <a:buNone/>
          </a:pPr>
          <a:r>
            <a:rPr lang="en-US" sz="2400" b="0" dirty="0" err="1">
              <a:latin typeface="Source Sans Pro" panose="020B0503030403020204" pitchFamily="34" charset="0"/>
              <a:ea typeface="Source Sans Pro" panose="020B0503030403020204" pitchFamily="34" charset="0"/>
              <a:cs typeface="Arial"/>
              <a:sym typeface="Arial"/>
            </a:rPr>
            <a:t>Modelos</a:t>
          </a:r>
          <a:r>
            <a:rPr lang="en-US" sz="2400" b="0" dirty="0">
              <a:latin typeface="Source Sans Pro" panose="020B0503030403020204" pitchFamily="34" charset="0"/>
              <a:ea typeface="Source Sans Pro" panose="020B0503030403020204" pitchFamily="34" charset="0"/>
              <a:cs typeface="Arial"/>
              <a:sym typeface="Arial"/>
            </a:rPr>
            <a:t> de </a:t>
          </a:r>
          <a:r>
            <a:rPr lang="en-US" sz="2400" b="0" dirty="0" err="1">
              <a:latin typeface="Source Sans Pro" panose="020B0503030403020204" pitchFamily="34" charset="0"/>
              <a:ea typeface="Source Sans Pro" panose="020B0503030403020204" pitchFamily="34" charset="0"/>
              <a:cs typeface="Arial"/>
              <a:sym typeface="Arial"/>
            </a:rPr>
            <a:t>regresión</a:t>
          </a:r>
          <a:r>
            <a:rPr lang="en-US" sz="2400" b="0" dirty="0">
              <a:latin typeface="Source Sans Pro" panose="020B0503030403020204" pitchFamily="34" charset="0"/>
              <a:ea typeface="Source Sans Pro" panose="020B0503030403020204" pitchFamily="34" charset="0"/>
              <a:cs typeface="Arial"/>
              <a:sym typeface="Arial"/>
            </a:rPr>
            <a:t> para </a:t>
          </a:r>
          <a:r>
            <a:rPr lang="en-US" sz="2400" b="0" dirty="0" err="1">
              <a:latin typeface="Source Sans Pro" panose="020B0503030403020204" pitchFamily="34" charset="0"/>
              <a:ea typeface="Source Sans Pro" panose="020B0503030403020204" pitchFamily="34" charset="0"/>
              <a:cs typeface="Arial"/>
              <a:sym typeface="Arial"/>
            </a:rPr>
            <a:t>evaluar</a:t>
          </a:r>
          <a:r>
            <a:rPr lang="en-US" sz="2400" b="0" dirty="0">
              <a:latin typeface="Source Sans Pro" panose="020B0503030403020204" pitchFamily="34" charset="0"/>
              <a:ea typeface="Source Sans Pro" panose="020B0503030403020204" pitchFamily="34" charset="0"/>
              <a:cs typeface="Arial"/>
              <a:sym typeface="Arial"/>
            </a:rPr>
            <a:t> </a:t>
          </a:r>
          <a:r>
            <a:rPr lang="en-US" sz="2400" b="0" dirty="0" err="1">
              <a:latin typeface="Source Sans Pro" panose="020B0503030403020204" pitchFamily="34" charset="0"/>
              <a:ea typeface="Source Sans Pro" panose="020B0503030403020204" pitchFamily="34" charset="0"/>
              <a:cs typeface="Arial"/>
              <a:sym typeface="Arial"/>
            </a:rPr>
            <a:t>diferencias</a:t>
          </a:r>
          <a:r>
            <a:rPr lang="en-US" sz="2400" b="0" dirty="0">
              <a:latin typeface="Source Sans Pro" panose="020B0503030403020204" pitchFamily="34" charset="0"/>
              <a:ea typeface="Source Sans Pro" panose="020B0503030403020204" pitchFamily="34" charset="0"/>
              <a:cs typeface="Arial"/>
              <a:sym typeface="Arial"/>
            </a:rPr>
            <a:t> </a:t>
          </a:r>
          <a:r>
            <a:rPr lang="en-US" sz="2400" b="0" dirty="0" err="1">
              <a:latin typeface="Source Sans Pro" panose="020B0503030403020204" pitchFamily="34" charset="0"/>
              <a:ea typeface="Source Sans Pro" panose="020B0503030403020204" pitchFamily="34" charset="0"/>
              <a:cs typeface="Arial"/>
              <a:sym typeface="Arial"/>
            </a:rPr>
            <a:t>significativas</a:t>
          </a:r>
          <a:r>
            <a:rPr lang="en-US" sz="2400" b="0" dirty="0">
              <a:latin typeface="Source Sans Pro" panose="020B0503030403020204" pitchFamily="34" charset="0"/>
              <a:ea typeface="Source Sans Pro" panose="020B0503030403020204" pitchFamily="34" charset="0"/>
              <a:cs typeface="Arial"/>
              <a:sym typeface="Arial"/>
            </a:rPr>
            <a:t> entre </a:t>
          </a:r>
          <a:r>
            <a:rPr lang="en-US" sz="2400" b="0" dirty="0" err="1">
              <a:latin typeface="Source Sans Pro" panose="020B0503030403020204" pitchFamily="34" charset="0"/>
              <a:ea typeface="Source Sans Pro" panose="020B0503030403020204" pitchFamily="34" charset="0"/>
              <a:cs typeface="Arial"/>
              <a:sym typeface="Arial"/>
            </a:rPr>
            <a:t>grupos</a:t>
          </a:r>
          <a:r>
            <a:rPr lang="en-US" sz="2400" b="0" dirty="0">
              <a:latin typeface="Source Sans Pro" panose="020B0503030403020204" pitchFamily="34" charset="0"/>
              <a:ea typeface="Source Sans Pro" panose="020B0503030403020204" pitchFamily="34" charset="0"/>
              <a:cs typeface="Arial"/>
              <a:sym typeface="Arial"/>
            </a:rPr>
            <a:t>. Se </a:t>
          </a:r>
          <a:r>
            <a:rPr lang="en-US" sz="2400" b="0" dirty="0" err="1">
              <a:latin typeface="Source Sans Pro" panose="020B0503030403020204" pitchFamily="34" charset="0"/>
              <a:ea typeface="Source Sans Pro" panose="020B0503030403020204" pitchFamily="34" charset="0"/>
              <a:cs typeface="Arial"/>
              <a:sym typeface="Arial"/>
            </a:rPr>
            <a:t>realizará</a:t>
          </a:r>
          <a:r>
            <a:rPr lang="en-US" sz="2400" b="0" dirty="0">
              <a:latin typeface="Source Sans Pro" panose="020B0503030403020204" pitchFamily="34" charset="0"/>
              <a:ea typeface="Source Sans Pro" panose="020B0503030403020204" pitchFamily="34" charset="0"/>
              <a:cs typeface="Arial"/>
              <a:sym typeface="Arial"/>
            </a:rPr>
            <a:t> un </a:t>
          </a:r>
          <a:r>
            <a:rPr lang="en-US" sz="2400" b="0" dirty="0" err="1">
              <a:latin typeface="Source Sans Pro" panose="020B0503030403020204" pitchFamily="34" charset="0"/>
              <a:ea typeface="Source Sans Pro" panose="020B0503030403020204" pitchFamily="34" charset="0"/>
              <a:cs typeface="Arial"/>
              <a:sym typeface="Arial"/>
            </a:rPr>
            <a:t>análisis</a:t>
          </a:r>
          <a:r>
            <a:rPr lang="en-US" sz="2400" b="0" dirty="0">
              <a:latin typeface="Source Sans Pro" panose="020B0503030403020204" pitchFamily="34" charset="0"/>
              <a:ea typeface="Source Sans Pro" panose="020B0503030403020204" pitchFamily="34" charset="0"/>
              <a:cs typeface="Arial"/>
              <a:sym typeface="Arial"/>
            </a:rPr>
            <a:t> DSS (Dispersion Shrinkage for sequencing data) disponible en </a:t>
          </a:r>
          <a:r>
            <a:rPr lang="en-US" sz="2400" b="0" dirty="0" err="1">
              <a:latin typeface="Source Sans Pro" panose="020B0503030403020204" pitchFamily="34" charset="0"/>
              <a:ea typeface="Source Sans Pro" panose="020B0503030403020204" pitchFamily="34" charset="0"/>
              <a:cs typeface="Arial"/>
              <a:sym typeface="Arial"/>
            </a:rPr>
            <a:t>Rstudio</a:t>
          </a:r>
          <a:r>
            <a:rPr lang="en-US" sz="2400" b="0" dirty="0">
              <a:latin typeface="Source Sans Pro" panose="020B0503030403020204" pitchFamily="34" charset="0"/>
              <a:ea typeface="Source Sans Pro" panose="020B0503030403020204" pitchFamily="34" charset="0"/>
              <a:cs typeface="Arial"/>
              <a:sym typeface="Arial"/>
            </a:rPr>
            <a:t> para </a:t>
          </a:r>
          <a:r>
            <a:rPr lang="en-US" sz="2400" b="0" dirty="0" err="1">
              <a:latin typeface="Source Sans Pro" panose="020B0503030403020204" pitchFamily="34" charset="0"/>
              <a:ea typeface="Source Sans Pro" panose="020B0503030403020204" pitchFamily="34" charset="0"/>
              <a:cs typeface="Arial"/>
              <a:sym typeface="Arial"/>
            </a:rPr>
            <a:t>identificar</a:t>
          </a:r>
          <a:r>
            <a:rPr lang="en-US" sz="2400" b="0" dirty="0">
              <a:latin typeface="Source Sans Pro" panose="020B0503030403020204" pitchFamily="34" charset="0"/>
              <a:ea typeface="Source Sans Pro" panose="020B0503030403020204" pitchFamily="34" charset="0"/>
              <a:cs typeface="Arial"/>
              <a:sym typeface="Arial"/>
            </a:rPr>
            <a:t> regiones CpG entre plasma vs tejido </a:t>
          </a:r>
          <a:r>
            <a:rPr lang="en-US" sz="2400" b="0" dirty="0" err="1">
              <a:latin typeface="Source Sans Pro" panose="020B0503030403020204" pitchFamily="34" charset="0"/>
              <a:ea typeface="Source Sans Pro" panose="020B0503030403020204" pitchFamily="34" charset="0"/>
              <a:cs typeface="Arial"/>
              <a:sym typeface="Arial"/>
            </a:rPr>
            <a:t>colónico</a:t>
          </a:r>
          <a:endParaRPr lang="es-ES" sz="2400" b="0" dirty="0">
            <a:latin typeface="Source Sans Pro" panose="020B0503030403020204" pitchFamily="34" charset="0"/>
            <a:ea typeface="Source Sans Pro" panose="020B0503030403020204" pitchFamily="34" charset="0"/>
          </a:endParaRPr>
        </a:p>
      </dgm:t>
    </dgm:pt>
    <dgm:pt modelId="{F39A7BB2-CBB6-4942-B96A-2F713D3D0283}" type="parTrans" cxnId="{337E10C5-9090-4D13-BEB2-8C22778F279C}">
      <dgm:prSet/>
      <dgm:spPr/>
      <dgm:t>
        <a:bodyPr/>
        <a:lstStyle/>
        <a:p>
          <a:endParaRPr lang="es-ES"/>
        </a:p>
      </dgm:t>
    </dgm:pt>
    <dgm:pt modelId="{DCC61466-9B0B-4869-A580-AF8FA57B526D}" type="sibTrans" cxnId="{337E10C5-9090-4D13-BEB2-8C22778F279C}">
      <dgm:prSet/>
      <dgm:spPr/>
      <dgm:t>
        <a:bodyPr/>
        <a:lstStyle/>
        <a:p>
          <a:endParaRPr lang="es-ES"/>
        </a:p>
      </dgm:t>
    </dgm:pt>
    <dgm:pt modelId="{CDCE79F7-6ECF-42C5-995F-386814BC4424}">
      <dgm:prSet phldrT="[Texto]" custT="1"/>
      <dgm:spPr/>
      <dgm:t>
        <a:bodyPr/>
        <a:lstStyle/>
        <a:p>
          <a:pPr algn="ctr"/>
          <a:r>
            <a:rPr lang="en-US" sz="2400" b="0" dirty="0">
              <a:latin typeface="Source Sans Pro" panose="020B0503030403020204" pitchFamily="34" charset="0"/>
              <a:ea typeface="Source Sans Pro" panose="020B0503030403020204" pitchFamily="34" charset="0"/>
              <a:cs typeface="Arial"/>
              <a:sym typeface="Arial"/>
            </a:rPr>
            <a:t>La </a:t>
          </a:r>
          <a:r>
            <a:rPr lang="en-US" sz="2400" b="0" dirty="0" err="1">
              <a:latin typeface="Source Sans Pro" panose="020B0503030403020204" pitchFamily="34" charset="0"/>
              <a:ea typeface="Source Sans Pro" panose="020B0503030403020204" pitchFamily="34" charset="0"/>
              <a:cs typeface="Arial"/>
              <a:sym typeface="Arial"/>
            </a:rPr>
            <a:t>proporción</a:t>
          </a:r>
          <a:r>
            <a:rPr lang="en-US" sz="2400" b="0" dirty="0">
              <a:latin typeface="Source Sans Pro" panose="020B0503030403020204" pitchFamily="34" charset="0"/>
              <a:ea typeface="Source Sans Pro" panose="020B0503030403020204" pitchFamily="34" charset="0"/>
              <a:cs typeface="Arial"/>
              <a:sym typeface="Arial"/>
            </a:rPr>
            <a:t> de 5mC se </a:t>
          </a:r>
          <a:r>
            <a:rPr lang="en-US" sz="2400" b="0" dirty="0" err="1">
              <a:latin typeface="Source Sans Pro" panose="020B0503030403020204" pitchFamily="34" charset="0"/>
              <a:ea typeface="Source Sans Pro" panose="020B0503030403020204" pitchFamily="34" charset="0"/>
              <a:cs typeface="Arial"/>
              <a:sym typeface="Arial"/>
            </a:rPr>
            <a:t>calculará</a:t>
          </a:r>
          <a:r>
            <a:rPr lang="en-US" sz="2400" b="0" dirty="0">
              <a:latin typeface="Source Sans Pro" panose="020B0503030403020204" pitchFamily="34" charset="0"/>
              <a:ea typeface="Source Sans Pro" panose="020B0503030403020204" pitchFamily="34" charset="0"/>
              <a:cs typeface="Arial"/>
              <a:sym typeface="Arial"/>
            </a:rPr>
            <a:t> con la </a:t>
          </a:r>
          <a:r>
            <a:rPr lang="en-US" sz="2400" b="0" dirty="0" err="1">
              <a:latin typeface="Source Sans Pro" panose="020B0503030403020204" pitchFamily="34" charset="0"/>
              <a:ea typeface="Source Sans Pro" panose="020B0503030403020204" pitchFamily="34" charset="0"/>
              <a:cs typeface="Arial"/>
              <a:sym typeface="Arial"/>
            </a:rPr>
            <a:t>siguiente</a:t>
          </a:r>
          <a:r>
            <a:rPr lang="en-US" sz="2400" b="0" dirty="0">
              <a:latin typeface="Source Sans Pro" panose="020B0503030403020204" pitchFamily="34" charset="0"/>
              <a:ea typeface="Source Sans Pro" panose="020B0503030403020204" pitchFamily="34" charset="0"/>
              <a:cs typeface="Arial"/>
              <a:sym typeface="Arial"/>
            </a:rPr>
            <a:t> formula: </a:t>
          </a:r>
        </a:p>
        <a:p>
          <a:pPr algn="ctr"/>
          <a:r>
            <a:rPr lang="pt-BR" sz="2400" b="1" dirty="0">
              <a:latin typeface="Source Sans Pro" panose="020B0503030403020204" pitchFamily="34" charset="0"/>
              <a:ea typeface="Source Sans Pro" panose="020B0503030403020204" pitchFamily="34" charset="0"/>
              <a:cs typeface="Arial"/>
              <a:sym typeface="Arial"/>
            </a:rPr>
            <a:t>% de </a:t>
          </a:r>
          <a:r>
            <a:rPr lang="pt-BR" sz="2400" b="1" dirty="0" err="1">
              <a:latin typeface="Source Sans Pro" panose="020B0503030403020204" pitchFamily="34" charset="0"/>
              <a:ea typeface="Source Sans Pro" panose="020B0503030403020204" pitchFamily="34" charset="0"/>
              <a:cs typeface="Arial"/>
              <a:sym typeface="Arial"/>
            </a:rPr>
            <a:t>metilacion</a:t>
          </a:r>
          <a:r>
            <a:rPr lang="pt-BR" sz="2400" b="1" dirty="0">
              <a:latin typeface="Source Sans Pro" panose="020B0503030403020204" pitchFamily="34" charset="0"/>
              <a:ea typeface="Source Sans Pro" panose="020B0503030403020204" pitchFamily="34" charset="0"/>
              <a:cs typeface="Arial"/>
              <a:sym typeface="Arial"/>
            </a:rPr>
            <a:t>=#citosinas </a:t>
          </a:r>
          <a:r>
            <a:rPr lang="pt-BR" sz="2400" b="1" dirty="0" err="1">
              <a:latin typeface="Source Sans Pro" panose="020B0503030403020204" pitchFamily="34" charset="0"/>
              <a:ea typeface="Source Sans Pro" panose="020B0503030403020204" pitchFamily="34" charset="0"/>
              <a:cs typeface="Arial"/>
              <a:sym typeface="Arial"/>
            </a:rPr>
            <a:t>metiladas</a:t>
          </a:r>
          <a:r>
            <a:rPr lang="pt-BR" sz="2400" b="1" dirty="0">
              <a:latin typeface="Source Sans Pro" panose="020B0503030403020204" pitchFamily="34" charset="0"/>
              <a:ea typeface="Source Sans Pro" panose="020B0503030403020204" pitchFamily="34" charset="0"/>
              <a:cs typeface="Arial"/>
              <a:sym typeface="Arial"/>
            </a:rPr>
            <a:t>/#citosinas metilas+ #citosinas no </a:t>
          </a:r>
          <a:r>
            <a:rPr lang="pt-BR" sz="2400" b="1" dirty="0" err="1">
              <a:latin typeface="Source Sans Pro" panose="020B0503030403020204" pitchFamily="34" charset="0"/>
              <a:ea typeface="Source Sans Pro" panose="020B0503030403020204" pitchFamily="34" charset="0"/>
              <a:cs typeface="Arial"/>
              <a:sym typeface="Arial"/>
            </a:rPr>
            <a:t>metiladas</a:t>
          </a:r>
          <a:r>
            <a:rPr lang="pt-BR" sz="2400" b="1" dirty="0">
              <a:latin typeface="Source Sans Pro" panose="020B0503030403020204" pitchFamily="34" charset="0"/>
              <a:ea typeface="Source Sans Pro" panose="020B0503030403020204" pitchFamily="34" charset="0"/>
              <a:cs typeface="Arial"/>
              <a:sym typeface="Arial"/>
            </a:rPr>
            <a:t> x 100</a:t>
          </a:r>
          <a:endParaRPr lang="es-ES" sz="2400" b="1" dirty="0">
            <a:latin typeface="Source Sans Pro" panose="020B0503030403020204" pitchFamily="34" charset="0"/>
            <a:ea typeface="Source Sans Pro" panose="020B0503030403020204" pitchFamily="34" charset="0"/>
          </a:endParaRPr>
        </a:p>
      </dgm:t>
    </dgm:pt>
    <dgm:pt modelId="{446F0C57-8C73-483E-978D-AC2D7BE37BED}" type="parTrans" cxnId="{80F2AA27-6093-434A-8DAD-1F9C6052AD97}">
      <dgm:prSet/>
      <dgm:spPr/>
      <dgm:t>
        <a:bodyPr/>
        <a:lstStyle/>
        <a:p>
          <a:endParaRPr lang="es-ES"/>
        </a:p>
      </dgm:t>
    </dgm:pt>
    <dgm:pt modelId="{9190414F-96A3-482C-AD7B-0AB8A2C68D50}" type="sibTrans" cxnId="{80F2AA27-6093-434A-8DAD-1F9C6052AD97}">
      <dgm:prSet/>
      <dgm:spPr/>
      <dgm:t>
        <a:bodyPr/>
        <a:lstStyle/>
        <a:p>
          <a:endParaRPr lang="es-ES"/>
        </a:p>
      </dgm:t>
    </dgm:pt>
    <dgm:pt modelId="{F3FE3779-E77F-4C1D-AAC4-2681958473F5}">
      <dgm:prSet phldrT="[Texto]" custT="1"/>
      <dgm:spPr/>
      <dgm:t>
        <a:bodyPr/>
        <a:lstStyle/>
        <a:p>
          <a:pPr algn="ctr">
            <a:buNone/>
          </a:pPr>
          <a:r>
            <a:rPr lang="en-US" sz="2400" b="0" dirty="0" err="1">
              <a:latin typeface="Source Sans Pro" panose="020B0503030403020204" pitchFamily="34" charset="0"/>
              <a:ea typeface="Source Sans Pro" panose="020B0503030403020204" pitchFamily="34" charset="0"/>
              <a:cs typeface="Arial"/>
              <a:sym typeface="Arial"/>
            </a:rPr>
            <a:t>Análisis</a:t>
          </a:r>
          <a:r>
            <a:rPr lang="en-US" sz="2400" b="0" dirty="0">
              <a:latin typeface="Source Sans Pro" panose="020B0503030403020204" pitchFamily="34" charset="0"/>
              <a:ea typeface="Source Sans Pro" panose="020B0503030403020204" pitchFamily="34" charset="0"/>
              <a:cs typeface="Arial"/>
              <a:sym typeface="Arial"/>
            </a:rPr>
            <a:t> de  </a:t>
          </a:r>
          <a:r>
            <a:rPr lang="en-US" sz="2400" b="0" dirty="0" err="1">
              <a:latin typeface="Source Sans Pro" panose="020B0503030403020204" pitchFamily="34" charset="0"/>
              <a:ea typeface="Source Sans Pro" panose="020B0503030403020204" pitchFamily="34" charset="0"/>
              <a:cs typeface="Arial"/>
              <a:sym typeface="Arial"/>
            </a:rPr>
            <a:t>enriquecimiento</a:t>
          </a:r>
          <a:r>
            <a:rPr lang="en-US" sz="2400" b="0" dirty="0">
              <a:latin typeface="Source Sans Pro" panose="020B0503030403020204" pitchFamily="34" charset="0"/>
              <a:ea typeface="Source Sans Pro" panose="020B0503030403020204" pitchFamily="34" charset="0"/>
              <a:cs typeface="Arial"/>
              <a:sym typeface="Arial"/>
            </a:rPr>
            <a:t> </a:t>
          </a:r>
          <a:r>
            <a:rPr lang="en-US" sz="2400" b="0" dirty="0" err="1">
              <a:latin typeface="Source Sans Pro" panose="020B0503030403020204" pitchFamily="34" charset="0"/>
              <a:ea typeface="Source Sans Pro" panose="020B0503030403020204" pitchFamily="34" charset="0"/>
              <a:cs typeface="Arial"/>
              <a:sym typeface="Arial"/>
            </a:rPr>
            <a:t>génico</a:t>
          </a:r>
          <a:r>
            <a:rPr lang="en-US" sz="2400" b="0" dirty="0">
              <a:latin typeface="Source Sans Pro" panose="020B0503030403020204" pitchFamily="34" charset="0"/>
              <a:ea typeface="Source Sans Pro" panose="020B0503030403020204" pitchFamily="34" charset="0"/>
              <a:cs typeface="Arial"/>
              <a:sym typeface="Arial"/>
            </a:rPr>
            <a:t> KEGG para </a:t>
          </a:r>
          <a:r>
            <a:rPr lang="en-US" sz="2400" b="0" dirty="0" err="1">
              <a:latin typeface="Source Sans Pro" panose="020B0503030403020204" pitchFamily="34" charset="0"/>
              <a:ea typeface="Source Sans Pro" panose="020B0503030403020204" pitchFamily="34" charset="0"/>
              <a:cs typeface="Arial"/>
              <a:sym typeface="Arial"/>
            </a:rPr>
            <a:t>identificar</a:t>
          </a:r>
          <a:r>
            <a:rPr lang="en-US" sz="2400" b="0" dirty="0">
              <a:latin typeface="Source Sans Pro" panose="020B0503030403020204" pitchFamily="34" charset="0"/>
              <a:ea typeface="Source Sans Pro" panose="020B0503030403020204" pitchFamily="34" charset="0"/>
              <a:cs typeface="Arial"/>
              <a:sym typeface="Arial"/>
            </a:rPr>
            <a:t> </a:t>
          </a:r>
          <a:r>
            <a:rPr lang="en-US" sz="2400" b="0" dirty="0" err="1">
              <a:latin typeface="Source Sans Pro" panose="020B0503030403020204" pitchFamily="34" charset="0"/>
              <a:ea typeface="Source Sans Pro" panose="020B0503030403020204" pitchFamily="34" charset="0"/>
              <a:cs typeface="Arial"/>
              <a:sym typeface="Arial"/>
            </a:rPr>
            <a:t>rutas</a:t>
          </a:r>
          <a:r>
            <a:rPr lang="en-US" sz="2400" b="0" dirty="0">
              <a:latin typeface="Source Sans Pro" panose="020B0503030403020204" pitchFamily="34" charset="0"/>
              <a:ea typeface="Source Sans Pro" panose="020B0503030403020204" pitchFamily="34" charset="0"/>
              <a:cs typeface="Arial"/>
              <a:sym typeface="Arial"/>
            </a:rPr>
            <a:t> </a:t>
          </a:r>
          <a:r>
            <a:rPr lang="en-US" sz="2400" b="0" dirty="0" err="1">
              <a:latin typeface="Source Sans Pro" panose="020B0503030403020204" pitchFamily="34" charset="0"/>
              <a:ea typeface="Source Sans Pro" panose="020B0503030403020204" pitchFamily="34" charset="0"/>
              <a:cs typeface="Arial"/>
              <a:sym typeface="Arial"/>
            </a:rPr>
            <a:t>biológicas</a:t>
          </a:r>
          <a:r>
            <a:rPr lang="en-US" sz="2400" b="0" dirty="0">
              <a:latin typeface="Source Sans Pro" panose="020B0503030403020204" pitchFamily="34" charset="0"/>
              <a:ea typeface="Source Sans Pro" panose="020B0503030403020204" pitchFamily="34" charset="0"/>
              <a:cs typeface="Arial"/>
              <a:sym typeface="Arial"/>
            </a:rPr>
            <a:t> </a:t>
          </a:r>
          <a:r>
            <a:rPr lang="en-US" sz="2400" b="0" dirty="0" err="1">
              <a:latin typeface="Source Sans Pro" panose="020B0503030403020204" pitchFamily="34" charset="0"/>
              <a:ea typeface="Source Sans Pro" panose="020B0503030403020204" pitchFamily="34" charset="0"/>
              <a:cs typeface="Arial"/>
              <a:sym typeface="Arial"/>
            </a:rPr>
            <a:t>impactadas</a:t>
          </a:r>
          <a:r>
            <a:rPr lang="en-US" sz="2400" b="0" dirty="0">
              <a:latin typeface="Source Sans Pro" panose="020B0503030403020204" pitchFamily="34" charset="0"/>
              <a:ea typeface="Source Sans Pro" panose="020B0503030403020204" pitchFamily="34" charset="0"/>
              <a:cs typeface="Arial"/>
              <a:sym typeface="Arial"/>
            </a:rPr>
            <a:t> </a:t>
          </a:r>
          <a:r>
            <a:rPr lang="en-US" sz="2400" b="0" dirty="0" err="1">
              <a:latin typeface="Source Sans Pro" panose="020B0503030403020204" pitchFamily="34" charset="0"/>
              <a:ea typeface="Source Sans Pro" panose="020B0503030403020204" pitchFamily="34" charset="0"/>
              <a:cs typeface="Arial"/>
              <a:sym typeface="Arial"/>
            </a:rPr>
            <a:t>por</a:t>
          </a:r>
          <a:r>
            <a:rPr lang="en-US" sz="2400" b="0" dirty="0">
              <a:latin typeface="Source Sans Pro" panose="020B0503030403020204" pitchFamily="34" charset="0"/>
              <a:ea typeface="Source Sans Pro" panose="020B0503030403020204" pitchFamily="34" charset="0"/>
              <a:cs typeface="Arial"/>
              <a:sym typeface="Arial"/>
            </a:rPr>
            <a:t> </a:t>
          </a:r>
          <a:r>
            <a:rPr lang="en-US" sz="2400" b="0" dirty="0" err="1">
              <a:latin typeface="Source Sans Pro" panose="020B0503030403020204" pitchFamily="34" charset="0"/>
              <a:ea typeface="Source Sans Pro" panose="020B0503030403020204" pitchFamily="34" charset="0"/>
              <a:cs typeface="Arial"/>
              <a:sym typeface="Arial"/>
            </a:rPr>
            <a:t>los</a:t>
          </a:r>
          <a:r>
            <a:rPr lang="en-US" sz="2400" b="0" dirty="0">
              <a:latin typeface="Source Sans Pro" panose="020B0503030403020204" pitchFamily="34" charset="0"/>
              <a:ea typeface="Source Sans Pro" panose="020B0503030403020204" pitchFamily="34" charset="0"/>
              <a:cs typeface="Arial"/>
              <a:sym typeface="Arial"/>
            </a:rPr>
            <a:t> </a:t>
          </a:r>
          <a:r>
            <a:rPr lang="en-US" sz="2400" b="0" dirty="0" err="1">
              <a:latin typeface="Source Sans Pro" panose="020B0503030403020204" pitchFamily="34" charset="0"/>
              <a:ea typeface="Source Sans Pro" panose="020B0503030403020204" pitchFamily="34" charset="0"/>
              <a:cs typeface="Arial"/>
              <a:sym typeface="Arial"/>
            </a:rPr>
            <a:t>cambios</a:t>
          </a:r>
          <a:r>
            <a:rPr lang="en-US" sz="2400" b="0" dirty="0">
              <a:latin typeface="Source Sans Pro" panose="020B0503030403020204" pitchFamily="34" charset="0"/>
              <a:ea typeface="Source Sans Pro" panose="020B0503030403020204" pitchFamily="34" charset="0"/>
              <a:cs typeface="Arial"/>
              <a:sym typeface="Arial"/>
            </a:rPr>
            <a:t> </a:t>
          </a:r>
          <a:r>
            <a:rPr lang="en-US" sz="2400" b="0" dirty="0" err="1">
              <a:latin typeface="Source Sans Pro" panose="020B0503030403020204" pitchFamily="34" charset="0"/>
              <a:ea typeface="Source Sans Pro" panose="020B0503030403020204" pitchFamily="34" charset="0"/>
              <a:cs typeface="Arial"/>
              <a:sym typeface="Arial"/>
            </a:rPr>
            <a:t>epigenéticos</a:t>
          </a:r>
          <a:r>
            <a:rPr lang="en-US" sz="2400" b="1" dirty="0">
              <a:latin typeface="Source Sans Pro" panose="020B0503030403020204" pitchFamily="34" charset="0"/>
              <a:ea typeface="Source Sans Pro" panose="020B0503030403020204" pitchFamily="34" charset="0"/>
              <a:cs typeface="Arial"/>
              <a:sym typeface="Arial"/>
            </a:rPr>
            <a:t>.</a:t>
          </a:r>
          <a:endParaRPr lang="es-ES" sz="2400" dirty="0">
            <a:latin typeface="Source Sans Pro" panose="020B0503030403020204" pitchFamily="34" charset="0"/>
            <a:ea typeface="Source Sans Pro" panose="020B0503030403020204" pitchFamily="34" charset="0"/>
          </a:endParaRPr>
        </a:p>
      </dgm:t>
    </dgm:pt>
    <dgm:pt modelId="{AFB0F5D0-0A69-45BF-9670-A1DB47D969B6}" type="parTrans" cxnId="{8FA4C93E-BEE2-4B6B-B249-1D330BEC318C}">
      <dgm:prSet/>
      <dgm:spPr/>
      <dgm:t>
        <a:bodyPr/>
        <a:lstStyle/>
        <a:p>
          <a:endParaRPr lang="es-ES"/>
        </a:p>
      </dgm:t>
    </dgm:pt>
    <dgm:pt modelId="{3A87D7A2-B7D3-4BEE-A951-52892A089EAC}" type="sibTrans" cxnId="{8FA4C93E-BEE2-4B6B-B249-1D330BEC318C}">
      <dgm:prSet/>
      <dgm:spPr/>
      <dgm:t>
        <a:bodyPr/>
        <a:lstStyle/>
        <a:p>
          <a:endParaRPr lang="es-ES"/>
        </a:p>
      </dgm:t>
    </dgm:pt>
    <dgm:pt modelId="{4B6D3BBA-A153-4789-A5D0-473F0319ADBD}" type="pres">
      <dgm:prSet presAssocID="{997BBFA8-FA47-4699-98A6-6AF299BA7FC2}" presName="linear" presStyleCnt="0">
        <dgm:presLayoutVars>
          <dgm:dir/>
          <dgm:animLvl val="lvl"/>
          <dgm:resizeHandles val="exact"/>
        </dgm:presLayoutVars>
      </dgm:prSet>
      <dgm:spPr/>
    </dgm:pt>
    <dgm:pt modelId="{25C8F37F-D91C-45A6-B2AE-0255A9E1C2F6}" type="pres">
      <dgm:prSet presAssocID="{7C1DF7D5-00FE-46B5-8919-A61E1BE7ADEC}" presName="parentLin" presStyleCnt="0"/>
      <dgm:spPr/>
    </dgm:pt>
    <dgm:pt modelId="{24B727C6-2897-44D1-9208-64F6ED785539}" type="pres">
      <dgm:prSet presAssocID="{7C1DF7D5-00FE-46B5-8919-A61E1BE7ADEC}" presName="parentLeftMargin" presStyleLbl="node1" presStyleIdx="0" presStyleCnt="3"/>
      <dgm:spPr/>
    </dgm:pt>
    <dgm:pt modelId="{12F36B9A-58A7-4851-B800-5818A6D35875}" type="pres">
      <dgm:prSet presAssocID="{7C1DF7D5-00FE-46B5-8919-A61E1BE7ADEC}" presName="parentText" presStyleLbl="node1" presStyleIdx="0" presStyleCnt="3">
        <dgm:presLayoutVars>
          <dgm:chMax val="0"/>
          <dgm:bulletEnabled val="1"/>
        </dgm:presLayoutVars>
      </dgm:prSet>
      <dgm:spPr/>
    </dgm:pt>
    <dgm:pt modelId="{90358E7E-669A-4FDA-8D58-D0C5B268ED7F}" type="pres">
      <dgm:prSet presAssocID="{7C1DF7D5-00FE-46B5-8919-A61E1BE7ADEC}" presName="negativeSpace" presStyleCnt="0"/>
      <dgm:spPr/>
    </dgm:pt>
    <dgm:pt modelId="{E80AFF10-66EF-4B86-9048-8B91FB7CB16F}" type="pres">
      <dgm:prSet presAssocID="{7C1DF7D5-00FE-46B5-8919-A61E1BE7ADEC}" presName="childText" presStyleLbl="conFgAcc1" presStyleIdx="0" presStyleCnt="3">
        <dgm:presLayoutVars>
          <dgm:bulletEnabled val="1"/>
        </dgm:presLayoutVars>
      </dgm:prSet>
      <dgm:spPr/>
    </dgm:pt>
    <dgm:pt modelId="{F83435A8-C356-40CA-BBA9-5947B3E47178}" type="pres">
      <dgm:prSet presAssocID="{DCC61466-9B0B-4869-A580-AF8FA57B526D}" presName="spaceBetweenRectangles" presStyleCnt="0"/>
      <dgm:spPr/>
    </dgm:pt>
    <dgm:pt modelId="{78812D11-AAD7-4078-9CB3-F752A7796E5B}" type="pres">
      <dgm:prSet presAssocID="{CDCE79F7-6ECF-42C5-995F-386814BC4424}" presName="parentLin" presStyleCnt="0"/>
      <dgm:spPr/>
    </dgm:pt>
    <dgm:pt modelId="{0D0CEF9D-8B18-4F7D-A0BF-42C585CB2A1C}" type="pres">
      <dgm:prSet presAssocID="{CDCE79F7-6ECF-42C5-995F-386814BC4424}" presName="parentLeftMargin" presStyleLbl="node1" presStyleIdx="0" presStyleCnt="3"/>
      <dgm:spPr/>
    </dgm:pt>
    <dgm:pt modelId="{D3E265D7-F272-4269-91B3-60694012FF0E}" type="pres">
      <dgm:prSet presAssocID="{CDCE79F7-6ECF-42C5-995F-386814BC4424}" presName="parentText" presStyleLbl="node1" presStyleIdx="1" presStyleCnt="3">
        <dgm:presLayoutVars>
          <dgm:chMax val="0"/>
          <dgm:bulletEnabled val="1"/>
        </dgm:presLayoutVars>
      </dgm:prSet>
      <dgm:spPr/>
    </dgm:pt>
    <dgm:pt modelId="{728A0108-923C-4A23-911B-A910B5BDE67C}" type="pres">
      <dgm:prSet presAssocID="{CDCE79F7-6ECF-42C5-995F-386814BC4424}" presName="negativeSpace" presStyleCnt="0"/>
      <dgm:spPr/>
    </dgm:pt>
    <dgm:pt modelId="{61D8A565-6C7F-47C7-A22E-EA7E5C47D641}" type="pres">
      <dgm:prSet presAssocID="{CDCE79F7-6ECF-42C5-995F-386814BC4424}" presName="childText" presStyleLbl="conFgAcc1" presStyleIdx="1" presStyleCnt="3">
        <dgm:presLayoutVars>
          <dgm:bulletEnabled val="1"/>
        </dgm:presLayoutVars>
      </dgm:prSet>
      <dgm:spPr/>
    </dgm:pt>
    <dgm:pt modelId="{E4775A78-4DE4-42DD-9C11-2EDBE32EFE70}" type="pres">
      <dgm:prSet presAssocID="{9190414F-96A3-482C-AD7B-0AB8A2C68D50}" presName="spaceBetweenRectangles" presStyleCnt="0"/>
      <dgm:spPr/>
    </dgm:pt>
    <dgm:pt modelId="{0797CC5D-A1B1-4F4E-B73E-2EA181D2A8EB}" type="pres">
      <dgm:prSet presAssocID="{F3FE3779-E77F-4C1D-AAC4-2681958473F5}" presName="parentLin" presStyleCnt="0"/>
      <dgm:spPr/>
    </dgm:pt>
    <dgm:pt modelId="{B1AE05F8-DDB8-473B-B51A-A048E81D2BB1}" type="pres">
      <dgm:prSet presAssocID="{F3FE3779-E77F-4C1D-AAC4-2681958473F5}" presName="parentLeftMargin" presStyleLbl="node1" presStyleIdx="1" presStyleCnt="3"/>
      <dgm:spPr/>
    </dgm:pt>
    <dgm:pt modelId="{88A44BD7-B76C-4FC6-A221-4B9F5D63535C}" type="pres">
      <dgm:prSet presAssocID="{F3FE3779-E77F-4C1D-AAC4-2681958473F5}" presName="parentText" presStyleLbl="node1" presStyleIdx="2" presStyleCnt="3">
        <dgm:presLayoutVars>
          <dgm:chMax val="0"/>
          <dgm:bulletEnabled val="1"/>
        </dgm:presLayoutVars>
      </dgm:prSet>
      <dgm:spPr/>
    </dgm:pt>
    <dgm:pt modelId="{0D19C92D-9FCF-4724-B1E5-5DCDB8680CC7}" type="pres">
      <dgm:prSet presAssocID="{F3FE3779-E77F-4C1D-AAC4-2681958473F5}" presName="negativeSpace" presStyleCnt="0"/>
      <dgm:spPr/>
    </dgm:pt>
    <dgm:pt modelId="{ECD48C11-274A-4DA6-A11A-BADCBDFDE070}" type="pres">
      <dgm:prSet presAssocID="{F3FE3779-E77F-4C1D-AAC4-2681958473F5}" presName="childText" presStyleLbl="conFgAcc1" presStyleIdx="2" presStyleCnt="3">
        <dgm:presLayoutVars>
          <dgm:bulletEnabled val="1"/>
        </dgm:presLayoutVars>
      </dgm:prSet>
      <dgm:spPr/>
    </dgm:pt>
  </dgm:ptLst>
  <dgm:cxnLst>
    <dgm:cxn modelId="{DA8EDB25-3083-4345-A254-11CC92C73273}" type="presOf" srcId="{CDCE79F7-6ECF-42C5-995F-386814BC4424}" destId="{0D0CEF9D-8B18-4F7D-A0BF-42C585CB2A1C}" srcOrd="0" destOrd="0" presId="urn:microsoft.com/office/officeart/2005/8/layout/list1"/>
    <dgm:cxn modelId="{80F2AA27-6093-434A-8DAD-1F9C6052AD97}" srcId="{997BBFA8-FA47-4699-98A6-6AF299BA7FC2}" destId="{CDCE79F7-6ECF-42C5-995F-386814BC4424}" srcOrd="1" destOrd="0" parTransId="{446F0C57-8C73-483E-978D-AC2D7BE37BED}" sibTransId="{9190414F-96A3-482C-AD7B-0AB8A2C68D50}"/>
    <dgm:cxn modelId="{8FA4C93E-BEE2-4B6B-B249-1D330BEC318C}" srcId="{997BBFA8-FA47-4699-98A6-6AF299BA7FC2}" destId="{F3FE3779-E77F-4C1D-AAC4-2681958473F5}" srcOrd="2" destOrd="0" parTransId="{AFB0F5D0-0A69-45BF-9670-A1DB47D969B6}" sibTransId="{3A87D7A2-B7D3-4BEE-A951-52892A089EAC}"/>
    <dgm:cxn modelId="{DB81DE6B-EAF8-4C48-9482-92B63F470BDB}" type="presOf" srcId="{F3FE3779-E77F-4C1D-AAC4-2681958473F5}" destId="{88A44BD7-B76C-4FC6-A221-4B9F5D63535C}" srcOrd="1" destOrd="0" presId="urn:microsoft.com/office/officeart/2005/8/layout/list1"/>
    <dgm:cxn modelId="{E48F9770-6467-403D-AE99-9DB26EB7F4B1}" type="presOf" srcId="{F3FE3779-E77F-4C1D-AAC4-2681958473F5}" destId="{B1AE05F8-DDB8-473B-B51A-A048E81D2BB1}" srcOrd="0" destOrd="0" presId="urn:microsoft.com/office/officeart/2005/8/layout/list1"/>
    <dgm:cxn modelId="{63FD0679-B54F-4518-BBA5-E312F1325ED2}" type="presOf" srcId="{997BBFA8-FA47-4699-98A6-6AF299BA7FC2}" destId="{4B6D3BBA-A153-4789-A5D0-473F0319ADBD}" srcOrd="0" destOrd="0" presId="urn:microsoft.com/office/officeart/2005/8/layout/list1"/>
    <dgm:cxn modelId="{337E10C5-9090-4D13-BEB2-8C22778F279C}" srcId="{997BBFA8-FA47-4699-98A6-6AF299BA7FC2}" destId="{7C1DF7D5-00FE-46B5-8919-A61E1BE7ADEC}" srcOrd="0" destOrd="0" parTransId="{F39A7BB2-CBB6-4942-B96A-2F713D3D0283}" sibTransId="{DCC61466-9B0B-4869-A580-AF8FA57B526D}"/>
    <dgm:cxn modelId="{DD0B5CD6-E8E3-49A6-B843-D16F2B780F0E}" type="presOf" srcId="{CDCE79F7-6ECF-42C5-995F-386814BC4424}" destId="{D3E265D7-F272-4269-91B3-60694012FF0E}" srcOrd="1" destOrd="0" presId="urn:microsoft.com/office/officeart/2005/8/layout/list1"/>
    <dgm:cxn modelId="{997559E8-6563-40B4-B8F7-33F6D75E5564}" type="presOf" srcId="{7C1DF7D5-00FE-46B5-8919-A61E1BE7ADEC}" destId="{24B727C6-2897-44D1-9208-64F6ED785539}" srcOrd="0" destOrd="0" presId="urn:microsoft.com/office/officeart/2005/8/layout/list1"/>
    <dgm:cxn modelId="{6B7CD2F7-328A-423E-A43E-B879E74567D7}" type="presOf" srcId="{7C1DF7D5-00FE-46B5-8919-A61E1BE7ADEC}" destId="{12F36B9A-58A7-4851-B800-5818A6D35875}" srcOrd="1" destOrd="0" presId="urn:microsoft.com/office/officeart/2005/8/layout/list1"/>
    <dgm:cxn modelId="{9B752641-0EAE-4C38-8A0E-F0D6C881EDBD}" type="presParOf" srcId="{4B6D3BBA-A153-4789-A5D0-473F0319ADBD}" destId="{25C8F37F-D91C-45A6-B2AE-0255A9E1C2F6}" srcOrd="0" destOrd="0" presId="urn:microsoft.com/office/officeart/2005/8/layout/list1"/>
    <dgm:cxn modelId="{A41EF206-77BC-4395-9FDA-520EDE86E985}" type="presParOf" srcId="{25C8F37F-D91C-45A6-B2AE-0255A9E1C2F6}" destId="{24B727C6-2897-44D1-9208-64F6ED785539}" srcOrd="0" destOrd="0" presId="urn:microsoft.com/office/officeart/2005/8/layout/list1"/>
    <dgm:cxn modelId="{78CF19B5-2AA8-41AE-854B-B6D35BF5D25D}" type="presParOf" srcId="{25C8F37F-D91C-45A6-B2AE-0255A9E1C2F6}" destId="{12F36B9A-58A7-4851-B800-5818A6D35875}" srcOrd="1" destOrd="0" presId="urn:microsoft.com/office/officeart/2005/8/layout/list1"/>
    <dgm:cxn modelId="{22C10C8D-E33B-4B6C-9CAC-9AB04A1D122B}" type="presParOf" srcId="{4B6D3BBA-A153-4789-A5D0-473F0319ADBD}" destId="{90358E7E-669A-4FDA-8D58-D0C5B268ED7F}" srcOrd="1" destOrd="0" presId="urn:microsoft.com/office/officeart/2005/8/layout/list1"/>
    <dgm:cxn modelId="{95A401DD-2A02-495E-BBBF-65777EE78C70}" type="presParOf" srcId="{4B6D3BBA-A153-4789-A5D0-473F0319ADBD}" destId="{E80AFF10-66EF-4B86-9048-8B91FB7CB16F}" srcOrd="2" destOrd="0" presId="urn:microsoft.com/office/officeart/2005/8/layout/list1"/>
    <dgm:cxn modelId="{C9775CD6-83D7-4387-9397-E21976A9A8B5}" type="presParOf" srcId="{4B6D3BBA-A153-4789-A5D0-473F0319ADBD}" destId="{F83435A8-C356-40CA-BBA9-5947B3E47178}" srcOrd="3" destOrd="0" presId="urn:microsoft.com/office/officeart/2005/8/layout/list1"/>
    <dgm:cxn modelId="{3384A27E-AD03-4D6A-942B-7ADC2B7CD413}" type="presParOf" srcId="{4B6D3BBA-A153-4789-A5D0-473F0319ADBD}" destId="{78812D11-AAD7-4078-9CB3-F752A7796E5B}" srcOrd="4" destOrd="0" presId="urn:microsoft.com/office/officeart/2005/8/layout/list1"/>
    <dgm:cxn modelId="{85967866-E9F4-4019-8141-556B87673549}" type="presParOf" srcId="{78812D11-AAD7-4078-9CB3-F752A7796E5B}" destId="{0D0CEF9D-8B18-4F7D-A0BF-42C585CB2A1C}" srcOrd="0" destOrd="0" presId="urn:microsoft.com/office/officeart/2005/8/layout/list1"/>
    <dgm:cxn modelId="{913177B6-333B-4584-9C8F-A32A132396E7}" type="presParOf" srcId="{78812D11-AAD7-4078-9CB3-F752A7796E5B}" destId="{D3E265D7-F272-4269-91B3-60694012FF0E}" srcOrd="1" destOrd="0" presId="urn:microsoft.com/office/officeart/2005/8/layout/list1"/>
    <dgm:cxn modelId="{3D4797EF-1494-40CD-BF3D-A76B58132816}" type="presParOf" srcId="{4B6D3BBA-A153-4789-A5D0-473F0319ADBD}" destId="{728A0108-923C-4A23-911B-A910B5BDE67C}" srcOrd="5" destOrd="0" presId="urn:microsoft.com/office/officeart/2005/8/layout/list1"/>
    <dgm:cxn modelId="{B3804C64-2CAB-43EF-8031-77D1A79D8BCB}" type="presParOf" srcId="{4B6D3BBA-A153-4789-A5D0-473F0319ADBD}" destId="{61D8A565-6C7F-47C7-A22E-EA7E5C47D641}" srcOrd="6" destOrd="0" presId="urn:microsoft.com/office/officeart/2005/8/layout/list1"/>
    <dgm:cxn modelId="{93AFEE93-6BEA-49D4-B685-16D7EA75C8EC}" type="presParOf" srcId="{4B6D3BBA-A153-4789-A5D0-473F0319ADBD}" destId="{E4775A78-4DE4-42DD-9C11-2EDBE32EFE70}" srcOrd="7" destOrd="0" presId="urn:microsoft.com/office/officeart/2005/8/layout/list1"/>
    <dgm:cxn modelId="{76D0FF12-DF18-4024-A0DA-46F333FF90EB}" type="presParOf" srcId="{4B6D3BBA-A153-4789-A5D0-473F0319ADBD}" destId="{0797CC5D-A1B1-4F4E-B73E-2EA181D2A8EB}" srcOrd="8" destOrd="0" presId="urn:microsoft.com/office/officeart/2005/8/layout/list1"/>
    <dgm:cxn modelId="{6D5D591F-BADF-4F6E-B0C2-7F06A5089376}" type="presParOf" srcId="{0797CC5D-A1B1-4F4E-B73E-2EA181D2A8EB}" destId="{B1AE05F8-DDB8-473B-B51A-A048E81D2BB1}" srcOrd="0" destOrd="0" presId="urn:microsoft.com/office/officeart/2005/8/layout/list1"/>
    <dgm:cxn modelId="{210E4D76-02E4-4A09-BC98-2D8E48D9AA67}" type="presParOf" srcId="{0797CC5D-A1B1-4F4E-B73E-2EA181D2A8EB}" destId="{88A44BD7-B76C-4FC6-A221-4B9F5D63535C}" srcOrd="1" destOrd="0" presId="urn:microsoft.com/office/officeart/2005/8/layout/list1"/>
    <dgm:cxn modelId="{8D87EC9F-9C28-4D2B-AD38-EB05E4AA0C9E}" type="presParOf" srcId="{4B6D3BBA-A153-4789-A5D0-473F0319ADBD}" destId="{0D19C92D-9FCF-4724-B1E5-5DCDB8680CC7}" srcOrd="9" destOrd="0" presId="urn:microsoft.com/office/officeart/2005/8/layout/list1"/>
    <dgm:cxn modelId="{E710BB6C-AAAB-4192-8AC8-0FB7F1CD7351}" type="presParOf" srcId="{4B6D3BBA-A153-4789-A5D0-473F0319ADBD}" destId="{ECD48C11-274A-4DA6-A11A-BADCBDFDE070}"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0D32EE-E84B-4A12-B295-BA86233BDA1D}">
      <dsp:nvSpPr>
        <dsp:cNvPr id="0" name=""/>
        <dsp:cNvSpPr/>
      </dsp:nvSpPr>
      <dsp:spPr>
        <a:xfrm>
          <a:off x="0" y="179806"/>
          <a:ext cx="9370141" cy="2007083"/>
        </a:xfrm>
        <a:prstGeom prst="roundRect">
          <a:avLst>
            <a:gd name="adj" fmla="val 10000"/>
          </a:avLst>
        </a:prstGeom>
        <a:solidFill>
          <a:schemeClr val="accent5">
            <a:lumMod val="20000"/>
            <a:lumOff val="80000"/>
          </a:schemeClr>
        </a:solidFill>
        <a:ln>
          <a:noFill/>
        </a:ln>
        <a:effectLst/>
      </dsp:spPr>
      <dsp:style>
        <a:lnRef idx="0">
          <a:scrgbClr r="0" g="0" b="0"/>
        </a:lnRef>
        <a:fillRef idx="1">
          <a:scrgbClr r="0" g="0" b="0"/>
        </a:fillRef>
        <a:effectRef idx="0">
          <a:scrgbClr r="0" g="0" b="0"/>
        </a:effectRef>
        <a:fontRef idx="minor"/>
      </dsp:style>
    </dsp:sp>
    <dsp:sp modelId="{1BB73F0B-FAEA-4240-ABC6-48BF583095CA}">
      <dsp:nvSpPr>
        <dsp:cNvPr id="0" name=""/>
        <dsp:cNvSpPr/>
      </dsp:nvSpPr>
      <dsp:spPr>
        <a:xfrm>
          <a:off x="528999" y="798743"/>
          <a:ext cx="1076873" cy="107521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C9E203C-6CA2-4BB1-B08F-C6E0014DA3C0}">
      <dsp:nvSpPr>
        <dsp:cNvPr id="0" name=""/>
        <dsp:cNvSpPr/>
      </dsp:nvSpPr>
      <dsp:spPr>
        <a:xfrm>
          <a:off x="1635116" y="307494"/>
          <a:ext cx="7433876" cy="18738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0025" tIns="200025" rIns="200025" bIns="200025" numCol="1" spcCol="1270" anchor="ctr" anchorCtr="0">
          <a:noAutofit/>
        </a:bodyPr>
        <a:lstStyle/>
        <a:p>
          <a:pPr marL="0" lvl="0" indent="0" algn="ctr" defTabSz="889000">
            <a:lnSpc>
              <a:spcPct val="100000"/>
            </a:lnSpc>
            <a:spcBef>
              <a:spcPct val="0"/>
            </a:spcBef>
            <a:spcAft>
              <a:spcPct val="35000"/>
            </a:spcAft>
            <a:buNone/>
          </a:pPr>
          <a:r>
            <a:rPr lang="es-ES" sz="2000" b="0" i="0" u="none" kern="1200" dirty="0">
              <a:latin typeface="Source Sans Pro" panose="020B0503030403020204" pitchFamily="34" charset="0"/>
              <a:ea typeface="Source Sans Pro" panose="020B0503030403020204" pitchFamily="34" charset="0"/>
            </a:rPr>
            <a:t>Proponemos analizar una </a:t>
          </a:r>
          <a:r>
            <a:rPr lang="es-ES" sz="2000" b="1" i="0" u="none" kern="1200" dirty="0">
              <a:latin typeface="Source Sans Pro" panose="020B0503030403020204" pitchFamily="34" charset="0"/>
              <a:ea typeface="Source Sans Pro" panose="020B0503030403020204" pitchFamily="34" charset="0"/>
            </a:rPr>
            <a:t>firma de genes </a:t>
          </a:r>
          <a:r>
            <a:rPr lang="es-ES" sz="2000" b="0" i="0" u="none" kern="1200" dirty="0">
              <a:latin typeface="Source Sans Pro" panose="020B0503030403020204" pitchFamily="34" charset="0"/>
              <a:ea typeface="Source Sans Pro" panose="020B0503030403020204" pitchFamily="34" charset="0"/>
            </a:rPr>
            <a:t>diferencialmente metilados entre individuos sanos y pacientes con CU de larga duración, que podría servir como </a:t>
          </a:r>
          <a:r>
            <a:rPr lang="es-ES" sz="2000" b="0" i="1" u="sng" kern="1200" dirty="0">
              <a:latin typeface="Source Sans Pro" panose="020B0503030403020204" pitchFamily="34" charset="0"/>
              <a:ea typeface="Source Sans Pro" panose="020B0503030403020204" pitchFamily="34" charset="0"/>
            </a:rPr>
            <a:t>biomarcadores</a:t>
          </a:r>
          <a:r>
            <a:rPr lang="es-ES" sz="2000" b="0" i="0" u="none" kern="1200" dirty="0">
              <a:latin typeface="Source Sans Pro" panose="020B0503030403020204" pitchFamily="34" charset="0"/>
              <a:ea typeface="Source Sans Pro" panose="020B0503030403020204" pitchFamily="34" charset="0"/>
            </a:rPr>
            <a:t> para identificar aquellos con mayor riesgo de progresar a CCR  y asociarlas con los niveles de producción de </a:t>
          </a:r>
          <a:r>
            <a:rPr lang="es-ES" sz="2000" b="0" i="0" u="none" kern="1200" dirty="0" err="1">
              <a:latin typeface="Source Sans Pro" panose="020B0503030403020204" pitchFamily="34" charset="0"/>
              <a:ea typeface="Source Sans Pro" panose="020B0503030403020204" pitchFamily="34" charset="0"/>
            </a:rPr>
            <a:t>SIgA</a:t>
          </a:r>
          <a:r>
            <a:rPr lang="es-ES" sz="2000" b="0" i="0" u="none" kern="1200" dirty="0">
              <a:latin typeface="Source Sans Pro" panose="020B0503030403020204" pitchFamily="34" charset="0"/>
              <a:ea typeface="Source Sans Pro" panose="020B0503030403020204" pitchFamily="34" charset="0"/>
            </a:rPr>
            <a:t>. </a:t>
          </a:r>
          <a:endParaRPr lang="en-US" sz="2000" kern="1200" dirty="0">
            <a:latin typeface="Source Sans Pro" panose="020B0503030403020204" pitchFamily="34" charset="0"/>
            <a:ea typeface="Source Sans Pro" panose="020B0503030403020204" pitchFamily="34" charset="0"/>
          </a:endParaRPr>
        </a:p>
      </dsp:txBody>
      <dsp:txXfrm>
        <a:off x="1635116" y="307494"/>
        <a:ext cx="7433876" cy="1873837"/>
      </dsp:txXfrm>
    </dsp:sp>
    <dsp:sp modelId="{97B52E15-D5EE-4943-91CB-7A218B2194B8}">
      <dsp:nvSpPr>
        <dsp:cNvPr id="0" name=""/>
        <dsp:cNvSpPr/>
      </dsp:nvSpPr>
      <dsp:spPr>
        <a:xfrm>
          <a:off x="-34630" y="2976338"/>
          <a:ext cx="9370141" cy="1916447"/>
        </a:xfrm>
        <a:prstGeom prst="roundRect">
          <a:avLst>
            <a:gd name="adj" fmla="val 10000"/>
          </a:avLst>
        </a:prstGeom>
        <a:solidFill>
          <a:schemeClr val="accent5">
            <a:lumMod val="20000"/>
            <a:lumOff val="80000"/>
          </a:schemeClr>
        </a:solidFill>
        <a:ln>
          <a:noFill/>
        </a:ln>
        <a:effectLst/>
      </dsp:spPr>
      <dsp:style>
        <a:lnRef idx="0">
          <a:scrgbClr r="0" g="0" b="0"/>
        </a:lnRef>
        <a:fillRef idx="1">
          <a:scrgbClr r="0" g="0" b="0"/>
        </a:fillRef>
        <a:effectRef idx="0">
          <a:scrgbClr r="0" g="0" b="0"/>
        </a:effectRef>
        <a:fontRef idx="minor"/>
      </dsp:style>
    </dsp:sp>
    <dsp:sp modelId="{7A14280E-1813-4FA3-90D1-BB829D46A947}">
      <dsp:nvSpPr>
        <dsp:cNvPr id="0" name=""/>
        <dsp:cNvSpPr/>
      </dsp:nvSpPr>
      <dsp:spPr>
        <a:xfrm>
          <a:off x="528999" y="3428928"/>
          <a:ext cx="1076873" cy="107521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B8B9632-312A-4E94-AB27-E7C6D4A2DF1C}">
      <dsp:nvSpPr>
        <dsp:cNvPr id="0" name=""/>
        <dsp:cNvSpPr/>
      </dsp:nvSpPr>
      <dsp:spPr>
        <a:xfrm>
          <a:off x="1673782" y="2942022"/>
          <a:ext cx="7036657" cy="19062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1750" tIns="201750" rIns="201750" bIns="201750" numCol="1" spcCol="1270" anchor="ctr" anchorCtr="0">
          <a:noAutofit/>
        </a:bodyPr>
        <a:lstStyle/>
        <a:p>
          <a:pPr marL="0" lvl="0" indent="0" algn="ctr" defTabSz="889000">
            <a:lnSpc>
              <a:spcPct val="100000"/>
            </a:lnSpc>
            <a:spcBef>
              <a:spcPct val="0"/>
            </a:spcBef>
            <a:spcAft>
              <a:spcPct val="35000"/>
            </a:spcAft>
            <a:buNone/>
          </a:pPr>
          <a:r>
            <a:rPr lang="es-ES" sz="2000" b="0" i="0" kern="1200" dirty="0">
              <a:latin typeface="Source Sans Pro" panose="020B0503030403020204" pitchFamily="34" charset="0"/>
              <a:ea typeface="Source Sans Pro" panose="020B0503030403020204" pitchFamily="34" charset="0"/>
            </a:rPr>
            <a:t>Al implementar la </a:t>
          </a:r>
          <a:r>
            <a:rPr lang="es-ES" sz="2000" b="1" i="1" kern="1200" dirty="0">
              <a:latin typeface="Source Sans Pro" panose="020B0503030403020204" pitchFamily="34" charset="0"/>
              <a:ea typeface="Source Sans Pro" panose="020B0503030403020204" pitchFamily="34" charset="0"/>
            </a:rPr>
            <a:t>biopsia líquida </a:t>
          </a:r>
          <a:r>
            <a:rPr lang="es-ES" sz="2000" b="0" i="0" kern="1200" dirty="0">
              <a:latin typeface="Source Sans Pro" panose="020B0503030403020204" pitchFamily="34" charset="0"/>
              <a:ea typeface="Source Sans Pro" panose="020B0503030403020204" pitchFamily="34" charset="0"/>
            </a:rPr>
            <a:t> como herramienta diagnostica y poco invasiva podremos contribuir  a la i</a:t>
          </a:r>
          <a:r>
            <a:rPr lang="es-ES" sz="2000" b="0" i="0" u="sng" kern="1200" dirty="0">
              <a:latin typeface="Source Sans Pro" panose="020B0503030403020204" pitchFamily="34" charset="0"/>
              <a:ea typeface="Source Sans Pro" panose="020B0503030403020204" pitchFamily="34" charset="0"/>
            </a:rPr>
            <a:t>dentificación temprana </a:t>
          </a:r>
          <a:r>
            <a:rPr lang="es-ES" sz="2000" b="0" i="0" kern="1200" dirty="0">
              <a:latin typeface="Source Sans Pro" panose="020B0503030403020204" pitchFamily="34" charset="0"/>
              <a:ea typeface="Source Sans Pro" panose="020B0503030403020204" pitchFamily="34" charset="0"/>
            </a:rPr>
            <a:t>de alteraciones epigenéticas asociadas a la enfermedad</a:t>
          </a:r>
          <a:endParaRPr lang="en-US" sz="2000" u="none" kern="1200" dirty="0">
            <a:latin typeface="Source Sans Pro" panose="020B0503030403020204" pitchFamily="34" charset="0"/>
            <a:ea typeface="Source Sans Pro" panose="020B0503030403020204" pitchFamily="34" charset="0"/>
          </a:endParaRPr>
        </a:p>
      </dsp:txBody>
      <dsp:txXfrm>
        <a:off x="1673782" y="2942022"/>
        <a:ext cx="7036657" cy="19062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0AFF10-66EF-4B86-9048-8B91FB7CB16F}">
      <dsp:nvSpPr>
        <dsp:cNvPr id="0" name=""/>
        <dsp:cNvSpPr/>
      </dsp:nvSpPr>
      <dsp:spPr>
        <a:xfrm>
          <a:off x="0" y="928039"/>
          <a:ext cx="10565550" cy="1562400"/>
        </a:xfrm>
        <a:prstGeom prst="rect">
          <a:avLst/>
        </a:prstGeom>
        <a:solidFill>
          <a:schemeClr val="dk1">
            <a:alpha val="90000"/>
            <a:tint val="40000"/>
            <a:hueOff val="0"/>
            <a:satOff val="0"/>
            <a:lumOff val="0"/>
            <a:alphaOff val="0"/>
          </a:schemeClr>
        </a:solidFill>
        <a:ln w="254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2F36B9A-58A7-4851-B800-5818A6D35875}">
      <dsp:nvSpPr>
        <dsp:cNvPr id="0" name=""/>
        <dsp:cNvSpPr/>
      </dsp:nvSpPr>
      <dsp:spPr>
        <a:xfrm>
          <a:off x="528277" y="12919"/>
          <a:ext cx="7395885" cy="1830240"/>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547" tIns="0" rIns="279547" bIns="0" numCol="1" spcCol="1270" anchor="ctr" anchorCtr="0">
          <a:noAutofit/>
        </a:bodyPr>
        <a:lstStyle/>
        <a:p>
          <a:pPr marL="0" lvl="0" indent="0" algn="ctr" defTabSz="1066800">
            <a:lnSpc>
              <a:spcPct val="90000"/>
            </a:lnSpc>
            <a:spcBef>
              <a:spcPct val="0"/>
            </a:spcBef>
            <a:spcAft>
              <a:spcPct val="35000"/>
            </a:spcAft>
            <a:buNone/>
          </a:pPr>
          <a:r>
            <a:rPr lang="en-US" sz="2400" b="0" kern="1200" dirty="0" err="1">
              <a:latin typeface="Source Sans Pro" panose="020B0503030403020204" pitchFamily="34" charset="0"/>
              <a:ea typeface="Source Sans Pro" panose="020B0503030403020204" pitchFamily="34" charset="0"/>
              <a:cs typeface="Arial"/>
              <a:sym typeface="Arial"/>
            </a:rPr>
            <a:t>Modelos</a:t>
          </a:r>
          <a:r>
            <a:rPr lang="en-US" sz="2400" b="0" kern="1200" dirty="0">
              <a:latin typeface="Source Sans Pro" panose="020B0503030403020204" pitchFamily="34" charset="0"/>
              <a:ea typeface="Source Sans Pro" panose="020B0503030403020204" pitchFamily="34" charset="0"/>
              <a:cs typeface="Arial"/>
              <a:sym typeface="Arial"/>
            </a:rPr>
            <a:t> de </a:t>
          </a:r>
          <a:r>
            <a:rPr lang="en-US" sz="2400" b="0" kern="1200" dirty="0" err="1">
              <a:latin typeface="Source Sans Pro" panose="020B0503030403020204" pitchFamily="34" charset="0"/>
              <a:ea typeface="Source Sans Pro" panose="020B0503030403020204" pitchFamily="34" charset="0"/>
              <a:cs typeface="Arial"/>
              <a:sym typeface="Arial"/>
            </a:rPr>
            <a:t>regresión</a:t>
          </a:r>
          <a:r>
            <a:rPr lang="en-US" sz="2400" b="0" kern="1200" dirty="0">
              <a:latin typeface="Source Sans Pro" panose="020B0503030403020204" pitchFamily="34" charset="0"/>
              <a:ea typeface="Source Sans Pro" panose="020B0503030403020204" pitchFamily="34" charset="0"/>
              <a:cs typeface="Arial"/>
              <a:sym typeface="Arial"/>
            </a:rPr>
            <a:t> para </a:t>
          </a:r>
          <a:r>
            <a:rPr lang="en-US" sz="2400" b="0" kern="1200" dirty="0" err="1">
              <a:latin typeface="Source Sans Pro" panose="020B0503030403020204" pitchFamily="34" charset="0"/>
              <a:ea typeface="Source Sans Pro" panose="020B0503030403020204" pitchFamily="34" charset="0"/>
              <a:cs typeface="Arial"/>
              <a:sym typeface="Arial"/>
            </a:rPr>
            <a:t>evaluar</a:t>
          </a:r>
          <a:r>
            <a:rPr lang="en-US" sz="2400" b="0" kern="1200" dirty="0">
              <a:latin typeface="Source Sans Pro" panose="020B0503030403020204" pitchFamily="34" charset="0"/>
              <a:ea typeface="Source Sans Pro" panose="020B0503030403020204" pitchFamily="34" charset="0"/>
              <a:cs typeface="Arial"/>
              <a:sym typeface="Arial"/>
            </a:rPr>
            <a:t> </a:t>
          </a:r>
          <a:r>
            <a:rPr lang="en-US" sz="2400" b="0" kern="1200" dirty="0" err="1">
              <a:latin typeface="Source Sans Pro" panose="020B0503030403020204" pitchFamily="34" charset="0"/>
              <a:ea typeface="Source Sans Pro" panose="020B0503030403020204" pitchFamily="34" charset="0"/>
              <a:cs typeface="Arial"/>
              <a:sym typeface="Arial"/>
            </a:rPr>
            <a:t>diferencias</a:t>
          </a:r>
          <a:r>
            <a:rPr lang="en-US" sz="2400" b="0" kern="1200" dirty="0">
              <a:latin typeface="Source Sans Pro" panose="020B0503030403020204" pitchFamily="34" charset="0"/>
              <a:ea typeface="Source Sans Pro" panose="020B0503030403020204" pitchFamily="34" charset="0"/>
              <a:cs typeface="Arial"/>
              <a:sym typeface="Arial"/>
            </a:rPr>
            <a:t> </a:t>
          </a:r>
          <a:r>
            <a:rPr lang="en-US" sz="2400" b="0" kern="1200" dirty="0" err="1">
              <a:latin typeface="Source Sans Pro" panose="020B0503030403020204" pitchFamily="34" charset="0"/>
              <a:ea typeface="Source Sans Pro" panose="020B0503030403020204" pitchFamily="34" charset="0"/>
              <a:cs typeface="Arial"/>
              <a:sym typeface="Arial"/>
            </a:rPr>
            <a:t>significativas</a:t>
          </a:r>
          <a:r>
            <a:rPr lang="en-US" sz="2400" b="0" kern="1200" dirty="0">
              <a:latin typeface="Source Sans Pro" panose="020B0503030403020204" pitchFamily="34" charset="0"/>
              <a:ea typeface="Source Sans Pro" panose="020B0503030403020204" pitchFamily="34" charset="0"/>
              <a:cs typeface="Arial"/>
              <a:sym typeface="Arial"/>
            </a:rPr>
            <a:t> entre </a:t>
          </a:r>
          <a:r>
            <a:rPr lang="en-US" sz="2400" b="0" kern="1200" dirty="0" err="1">
              <a:latin typeface="Source Sans Pro" panose="020B0503030403020204" pitchFamily="34" charset="0"/>
              <a:ea typeface="Source Sans Pro" panose="020B0503030403020204" pitchFamily="34" charset="0"/>
              <a:cs typeface="Arial"/>
              <a:sym typeface="Arial"/>
            </a:rPr>
            <a:t>grupos</a:t>
          </a:r>
          <a:r>
            <a:rPr lang="en-US" sz="2400" b="0" kern="1200" dirty="0">
              <a:latin typeface="Source Sans Pro" panose="020B0503030403020204" pitchFamily="34" charset="0"/>
              <a:ea typeface="Source Sans Pro" panose="020B0503030403020204" pitchFamily="34" charset="0"/>
              <a:cs typeface="Arial"/>
              <a:sym typeface="Arial"/>
            </a:rPr>
            <a:t>. Se </a:t>
          </a:r>
          <a:r>
            <a:rPr lang="en-US" sz="2400" b="0" kern="1200" dirty="0" err="1">
              <a:latin typeface="Source Sans Pro" panose="020B0503030403020204" pitchFamily="34" charset="0"/>
              <a:ea typeface="Source Sans Pro" panose="020B0503030403020204" pitchFamily="34" charset="0"/>
              <a:cs typeface="Arial"/>
              <a:sym typeface="Arial"/>
            </a:rPr>
            <a:t>realizará</a:t>
          </a:r>
          <a:r>
            <a:rPr lang="en-US" sz="2400" b="0" kern="1200" dirty="0">
              <a:latin typeface="Source Sans Pro" panose="020B0503030403020204" pitchFamily="34" charset="0"/>
              <a:ea typeface="Source Sans Pro" panose="020B0503030403020204" pitchFamily="34" charset="0"/>
              <a:cs typeface="Arial"/>
              <a:sym typeface="Arial"/>
            </a:rPr>
            <a:t> un </a:t>
          </a:r>
          <a:r>
            <a:rPr lang="en-US" sz="2400" b="0" kern="1200" dirty="0" err="1">
              <a:latin typeface="Source Sans Pro" panose="020B0503030403020204" pitchFamily="34" charset="0"/>
              <a:ea typeface="Source Sans Pro" panose="020B0503030403020204" pitchFamily="34" charset="0"/>
              <a:cs typeface="Arial"/>
              <a:sym typeface="Arial"/>
            </a:rPr>
            <a:t>análisis</a:t>
          </a:r>
          <a:r>
            <a:rPr lang="en-US" sz="2400" b="0" kern="1200" dirty="0">
              <a:latin typeface="Source Sans Pro" panose="020B0503030403020204" pitchFamily="34" charset="0"/>
              <a:ea typeface="Source Sans Pro" panose="020B0503030403020204" pitchFamily="34" charset="0"/>
              <a:cs typeface="Arial"/>
              <a:sym typeface="Arial"/>
            </a:rPr>
            <a:t> DSS (Dispersion Shrinkage for sequencing data) disponible en </a:t>
          </a:r>
          <a:r>
            <a:rPr lang="en-US" sz="2400" b="0" kern="1200" dirty="0" err="1">
              <a:latin typeface="Source Sans Pro" panose="020B0503030403020204" pitchFamily="34" charset="0"/>
              <a:ea typeface="Source Sans Pro" panose="020B0503030403020204" pitchFamily="34" charset="0"/>
              <a:cs typeface="Arial"/>
              <a:sym typeface="Arial"/>
            </a:rPr>
            <a:t>Rstudio</a:t>
          </a:r>
          <a:r>
            <a:rPr lang="en-US" sz="2400" b="0" kern="1200" dirty="0">
              <a:latin typeface="Source Sans Pro" panose="020B0503030403020204" pitchFamily="34" charset="0"/>
              <a:ea typeface="Source Sans Pro" panose="020B0503030403020204" pitchFamily="34" charset="0"/>
              <a:cs typeface="Arial"/>
              <a:sym typeface="Arial"/>
            </a:rPr>
            <a:t> para </a:t>
          </a:r>
          <a:r>
            <a:rPr lang="en-US" sz="2400" b="0" kern="1200" dirty="0" err="1">
              <a:latin typeface="Source Sans Pro" panose="020B0503030403020204" pitchFamily="34" charset="0"/>
              <a:ea typeface="Source Sans Pro" panose="020B0503030403020204" pitchFamily="34" charset="0"/>
              <a:cs typeface="Arial"/>
              <a:sym typeface="Arial"/>
            </a:rPr>
            <a:t>identificar</a:t>
          </a:r>
          <a:r>
            <a:rPr lang="en-US" sz="2400" b="0" kern="1200" dirty="0">
              <a:latin typeface="Source Sans Pro" panose="020B0503030403020204" pitchFamily="34" charset="0"/>
              <a:ea typeface="Source Sans Pro" panose="020B0503030403020204" pitchFamily="34" charset="0"/>
              <a:cs typeface="Arial"/>
              <a:sym typeface="Arial"/>
            </a:rPr>
            <a:t> regiones CpG entre plasma vs tejido </a:t>
          </a:r>
          <a:r>
            <a:rPr lang="en-US" sz="2400" b="0" kern="1200" dirty="0" err="1">
              <a:latin typeface="Source Sans Pro" panose="020B0503030403020204" pitchFamily="34" charset="0"/>
              <a:ea typeface="Source Sans Pro" panose="020B0503030403020204" pitchFamily="34" charset="0"/>
              <a:cs typeface="Arial"/>
              <a:sym typeface="Arial"/>
            </a:rPr>
            <a:t>colónico</a:t>
          </a:r>
          <a:endParaRPr lang="es-ES" sz="2400" b="0" kern="1200" dirty="0">
            <a:latin typeface="Source Sans Pro" panose="020B0503030403020204" pitchFamily="34" charset="0"/>
            <a:ea typeface="Source Sans Pro" panose="020B0503030403020204" pitchFamily="34" charset="0"/>
          </a:endParaRPr>
        </a:p>
      </dsp:txBody>
      <dsp:txXfrm>
        <a:off x="617622" y="102264"/>
        <a:ext cx="7217195" cy="1651550"/>
      </dsp:txXfrm>
    </dsp:sp>
    <dsp:sp modelId="{61D8A565-6C7F-47C7-A22E-EA7E5C47D641}">
      <dsp:nvSpPr>
        <dsp:cNvPr id="0" name=""/>
        <dsp:cNvSpPr/>
      </dsp:nvSpPr>
      <dsp:spPr>
        <a:xfrm>
          <a:off x="0" y="3740359"/>
          <a:ext cx="10565550" cy="1562400"/>
        </a:xfrm>
        <a:prstGeom prst="rect">
          <a:avLst/>
        </a:prstGeom>
        <a:solidFill>
          <a:schemeClr val="dk1">
            <a:alpha val="90000"/>
            <a:tint val="40000"/>
            <a:hueOff val="0"/>
            <a:satOff val="0"/>
            <a:lumOff val="0"/>
            <a:alphaOff val="0"/>
          </a:schemeClr>
        </a:solidFill>
        <a:ln w="254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3E265D7-F272-4269-91B3-60694012FF0E}">
      <dsp:nvSpPr>
        <dsp:cNvPr id="0" name=""/>
        <dsp:cNvSpPr/>
      </dsp:nvSpPr>
      <dsp:spPr>
        <a:xfrm>
          <a:off x="528277" y="2825239"/>
          <a:ext cx="7395885" cy="1830240"/>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547" tIns="0" rIns="279547" bIns="0" numCol="1" spcCol="1270" anchor="ctr" anchorCtr="0">
          <a:noAutofit/>
        </a:bodyPr>
        <a:lstStyle/>
        <a:p>
          <a:pPr marL="0" lvl="0" indent="0" algn="ctr" defTabSz="1066800">
            <a:lnSpc>
              <a:spcPct val="90000"/>
            </a:lnSpc>
            <a:spcBef>
              <a:spcPct val="0"/>
            </a:spcBef>
            <a:spcAft>
              <a:spcPct val="35000"/>
            </a:spcAft>
            <a:buNone/>
          </a:pPr>
          <a:r>
            <a:rPr lang="en-US" sz="2400" b="0" kern="1200" dirty="0">
              <a:latin typeface="Source Sans Pro" panose="020B0503030403020204" pitchFamily="34" charset="0"/>
              <a:ea typeface="Source Sans Pro" panose="020B0503030403020204" pitchFamily="34" charset="0"/>
              <a:cs typeface="Arial"/>
              <a:sym typeface="Arial"/>
            </a:rPr>
            <a:t>La </a:t>
          </a:r>
          <a:r>
            <a:rPr lang="en-US" sz="2400" b="0" kern="1200" dirty="0" err="1">
              <a:latin typeface="Source Sans Pro" panose="020B0503030403020204" pitchFamily="34" charset="0"/>
              <a:ea typeface="Source Sans Pro" panose="020B0503030403020204" pitchFamily="34" charset="0"/>
              <a:cs typeface="Arial"/>
              <a:sym typeface="Arial"/>
            </a:rPr>
            <a:t>proporción</a:t>
          </a:r>
          <a:r>
            <a:rPr lang="en-US" sz="2400" b="0" kern="1200" dirty="0">
              <a:latin typeface="Source Sans Pro" panose="020B0503030403020204" pitchFamily="34" charset="0"/>
              <a:ea typeface="Source Sans Pro" panose="020B0503030403020204" pitchFamily="34" charset="0"/>
              <a:cs typeface="Arial"/>
              <a:sym typeface="Arial"/>
            </a:rPr>
            <a:t> de 5mC se </a:t>
          </a:r>
          <a:r>
            <a:rPr lang="en-US" sz="2400" b="0" kern="1200" dirty="0" err="1">
              <a:latin typeface="Source Sans Pro" panose="020B0503030403020204" pitchFamily="34" charset="0"/>
              <a:ea typeface="Source Sans Pro" panose="020B0503030403020204" pitchFamily="34" charset="0"/>
              <a:cs typeface="Arial"/>
              <a:sym typeface="Arial"/>
            </a:rPr>
            <a:t>calculará</a:t>
          </a:r>
          <a:r>
            <a:rPr lang="en-US" sz="2400" b="0" kern="1200" dirty="0">
              <a:latin typeface="Source Sans Pro" panose="020B0503030403020204" pitchFamily="34" charset="0"/>
              <a:ea typeface="Source Sans Pro" panose="020B0503030403020204" pitchFamily="34" charset="0"/>
              <a:cs typeface="Arial"/>
              <a:sym typeface="Arial"/>
            </a:rPr>
            <a:t> con la </a:t>
          </a:r>
          <a:r>
            <a:rPr lang="en-US" sz="2400" b="0" kern="1200" dirty="0" err="1">
              <a:latin typeface="Source Sans Pro" panose="020B0503030403020204" pitchFamily="34" charset="0"/>
              <a:ea typeface="Source Sans Pro" panose="020B0503030403020204" pitchFamily="34" charset="0"/>
              <a:cs typeface="Arial"/>
              <a:sym typeface="Arial"/>
            </a:rPr>
            <a:t>siguiente</a:t>
          </a:r>
          <a:r>
            <a:rPr lang="en-US" sz="2400" b="0" kern="1200" dirty="0">
              <a:latin typeface="Source Sans Pro" panose="020B0503030403020204" pitchFamily="34" charset="0"/>
              <a:ea typeface="Source Sans Pro" panose="020B0503030403020204" pitchFamily="34" charset="0"/>
              <a:cs typeface="Arial"/>
              <a:sym typeface="Arial"/>
            </a:rPr>
            <a:t> formula: </a:t>
          </a:r>
        </a:p>
        <a:p>
          <a:pPr marL="0" lvl="0" indent="0" algn="ctr" defTabSz="1066800">
            <a:lnSpc>
              <a:spcPct val="90000"/>
            </a:lnSpc>
            <a:spcBef>
              <a:spcPct val="0"/>
            </a:spcBef>
            <a:spcAft>
              <a:spcPct val="35000"/>
            </a:spcAft>
            <a:buNone/>
          </a:pPr>
          <a:r>
            <a:rPr lang="pt-BR" sz="2400" b="1" kern="1200" dirty="0">
              <a:latin typeface="Source Sans Pro" panose="020B0503030403020204" pitchFamily="34" charset="0"/>
              <a:ea typeface="Source Sans Pro" panose="020B0503030403020204" pitchFamily="34" charset="0"/>
              <a:cs typeface="Arial"/>
              <a:sym typeface="Arial"/>
            </a:rPr>
            <a:t>% de </a:t>
          </a:r>
          <a:r>
            <a:rPr lang="pt-BR" sz="2400" b="1" kern="1200" dirty="0" err="1">
              <a:latin typeface="Source Sans Pro" panose="020B0503030403020204" pitchFamily="34" charset="0"/>
              <a:ea typeface="Source Sans Pro" panose="020B0503030403020204" pitchFamily="34" charset="0"/>
              <a:cs typeface="Arial"/>
              <a:sym typeface="Arial"/>
            </a:rPr>
            <a:t>metilacion</a:t>
          </a:r>
          <a:r>
            <a:rPr lang="pt-BR" sz="2400" b="1" kern="1200" dirty="0">
              <a:latin typeface="Source Sans Pro" panose="020B0503030403020204" pitchFamily="34" charset="0"/>
              <a:ea typeface="Source Sans Pro" panose="020B0503030403020204" pitchFamily="34" charset="0"/>
              <a:cs typeface="Arial"/>
              <a:sym typeface="Arial"/>
            </a:rPr>
            <a:t>=#citosinas </a:t>
          </a:r>
          <a:r>
            <a:rPr lang="pt-BR" sz="2400" b="1" kern="1200" dirty="0" err="1">
              <a:latin typeface="Source Sans Pro" panose="020B0503030403020204" pitchFamily="34" charset="0"/>
              <a:ea typeface="Source Sans Pro" panose="020B0503030403020204" pitchFamily="34" charset="0"/>
              <a:cs typeface="Arial"/>
              <a:sym typeface="Arial"/>
            </a:rPr>
            <a:t>metiladas</a:t>
          </a:r>
          <a:r>
            <a:rPr lang="pt-BR" sz="2400" b="1" kern="1200" dirty="0">
              <a:latin typeface="Source Sans Pro" panose="020B0503030403020204" pitchFamily="34" charset="0"/>
              <a:ea typeface="Source Sans Pro" panose="020B0503030403020204" pitchFamily="34" charset="0"/>
              <a:cs typeface="Arial"/>
              <a:sym typeface="Arial"/>
            </a:rPr>
            <a:t>/#citosinas metilas+ #citosinas no </a:t>
          </a:r>
          <a:r>
            <a:rPr lang="pt-BR" sz="2400" b="1" kern="1200" dirty="0" err="1">
              <a:latin typeface="Source Sans Pro" panose="020B0503030403020204" pitchFamily="34" charset="0"/>
              <a:ea typeface="Source Sans Pro" panose="020B0503030403020204" pitchFamily="34" charset="0"/>
              <a:cs typeface="Arial"/>
              <a:sym typeface="Arial"/>
            </a:rPr>
            <a:t>metiladas</a:t>
          </a:r>
          <a:r>
            <a:rPr lang="pt-BR" sz="2400" b="1" kern="1200" dirty="0">
              <a:latin typeface="Source Sans Pro" panose="020B0503030403020204" pitchFamily="34" charset="0"/>
              <a:ea typeface="Source Sans Pro" panose="020B0503030403020204" pitchFamily="34" charset="0"/>
              <a:cs typeface="Arial"/>
              <a:sym typeface="Arial"/>
            </a:rPr>
            <a:t> x 100</a:t>
          </a:r>
          <a:endParaRPr lang="es-ES" sz="2400" b="1" kern="1200" dirty="0">
            <a:latin typeface="Source Sans Pro" panose="020B0503030403020204" pitchFamily="34" charset="0"/>
            <a:ea typeface="Source Sans Pro" panose="020B0503030403020204" pitchFamily="34" charset="0"/>
          </a:endParaRPr>
        </a:p>
      </dsp:txBody>
      <dsp:txXfrm>
        <a:off x="617622" y="2914584"/>
        <a:ext cx="7217195" cy="1651550"/>
      </dsp:txXfrm>
    </dsp:sp>
    <dsp:sp modelId="{ECD48C11-274A-4DA6-A11A-BADCBDFDE070}">
      <dsp:nvSpPr>
        <dsp:cNvPr id="0" name=""/>
        <dsp:cNvSpPr/>
      </dsp:nvSpPr>
      <dsp:spPr>
        <a:xfrm>
          <a:off x="0" y="6552680"/>
          <a:ext cx="10565550" cy="1562400"/>
        </a:xfrm>
        <a:prstGeom prst="rect">
          <a:avLst/>
        </a:prstGeom>
        <a:solidFill>
          <a:schemeClr val="dk1">
            <a:alpha val="90000"/>
            <a:tint val="40000"/>
            <a:hueOff val="0"/>
            <a:satOff val="0"/>
            <a:lumOff val="0"/>
            <a:alphaOff val="0"/>
          </a:schemeClr>
        </a:solidFill>
        <a:ln w="25400" cap="flat" cmpd="sng" algn="ctr">
          <a:solidFill>
            <a:schemeClr val="dk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8A44BD7-B76C-4FC6-A221-4B9F5D63535C}">
      <dsp:nvSpPr>
        <dsp:cNvPr id="0" name=""/>
        <dsp:cNvSpPr/>
      </dsp:nvSpPr>
      <dsp:spPr>
        <a:xfrm>
          <a:off x="528277" y="5637560"/>
          <a:ext cx="7395885" cy="1830240"/>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9547" tIns="0" rIns="279547" bIns="0" numCol="1" spcCol="1270" anchor="ctr" anchorCtr="0">
          <a:noAutofit/>
        </a:bodyPr>
        <a:lstStyle/>
        <a:p>
          <a:pPr marL="0" lvl="0" indent="0" algn="ctr" defTabSz="1066800">
            <a:lnSpc>
              <a:spcPct val="90000"/>
            </a:lnSpc>
            <a:spcBef>
              <a:spcPct val="0"/>
            </a:spcBef>
            <a:spcAft>
              <a:spcPct val="35000"/>
            </a:spcAft>
            <a:buNone/>
          </a:pPr>
          <a:r>
            <a:rPr lang="en-US" sz="2400" b="0" kern="1200" dirty="0" err="1">
              <a:latin typeface="Source Sans Pro" panose="020B0503030403020204" pitchFamily="34" charset="0"/>
              <a:ea typeface="Source Sans Pro" panose="020B0503030403020204" pitchFamily="34" charset="0"/>
              <a:cs typeface="Arial"/>
              <a:sym typeface="Arial"/>
            </a:rPr>
            <a:t>Análisis</a:t>
          </a:r>
          <a:r>
            <a:rPr lang="en-US" sz="2400" b="0" kern="1200" dirty="0">
              <a:latin typeface="Source Sans Pro" panose="020B0503030403020204" pitchFamily="34" charset="0"/>
              <a:ea typeface="Source Sans Pro" panose="020B0503030403020204" pitchFamily="34" charset="0"/>
              <a:cs typeface="Arial"/>
              <a:sym typeface="Arial"/>
            </a:rPr>
            <a:t> de  </a:t>
          </a:r>
          <a:r>
            <a:rPr lang="en-US" sz="2400" b="0" kern="1200" dirty="0" err="1">
              <a:latin typeface="Source Sans Pro" panose="020B0503030403020204" pitchFamily="34" charset="0"/>
              <a:ea typeface="Source Sans Pro" panose="020B0503030403020204" pitchFamily="34" charset="0"/>
              <a:cs typeface="Arial"/>
              <a:sym typeface="Arial"/>
            </a:rPr>
            <a:t>enriquecimiento</a:t>
          </a:r>
          <a:r>
            <a:rPr lang="en-US" sz="2400" b="0" kern="1200" dirty="0">
              <a:latin typeface="Source Sans Pro" panose="020B0503030403020204" pitchFamily="34" charset="0"/>
              <a:ea typeface="Source Sans Pro" panose="020B0503030403020204" pitchFamily="34" charset="0"/>
              <a:cs typeface="Arial"/>
              <a:sym typeface="Arial"/>
            </a:rPr>
            <a:t> </a:t>
          </a:r>
          <a:r>
            <a:rPr lang="en-US" sz="2400" b="0" kern="1200" dirty="0" err="1">
              <a:latin typeface="Source Sans Pro" panose="020B0503030403020204" pitchFamily="34" charset="0"/>
              <a:ea typeface="Source Sans Pro" panose="020B0503030403020204" pitchFamily="34" charset="0"/>
              <a:cs typeface="Arial"/>
              <a:sym typeface="Arial"/>
            </a:rPr>
            <a:t>génico</a:t>
          </a:r>
          <a:r>
            <a:rPr lang="en-US" sz="2400" b="0" kern="1200" dirty="0">
              <a:latin typeface="Source Sans Pro" panose="020B0503030403020204" pitchFamily="34" charset="0"/>
              <a:ea typeface="Source Sans Pro" panose="020B0503030403020204" pitchFamily="34" charset="0"/>
              <a:cs typeface="Arial"/>
              <a:sym typeface="Arial"/>
            </a:rPr>
            <a:t> KEGG para </a:t>
          </a:r>
          <a:r>
            <a:rPr lang="en-US" sz="2400" b="0" kern="1200" dirty="0" err="1">
              <a:latin typeface="Source Sans Pro" panose="020B0503030403020204" pitchFamily="34" charset="0"/>
              <a:ea typeface="Source Sans Pro" panose="020B0503030403020204" pitchFamily="34" charset="0"/>
              <a:cs typeface="Arial"/>
              <a:sym typeface="Arial"/>
            </a:rPr>
            <a:t>identificar</a:t>
          </a:r>
          <a:r>
            <a:rPr lang="en-US" sz="2400" b="0" kern="1200" dirty="0">
              <a:latin typeface="Source Sans Pro" panose="020B0503030403020204" pitchFamily="34" charset="0"/>
              <a:ea typeface="Source Sans Pro" panose="020B0503030403020204" pitchFamily="34" charset="0"/>
              <a:cs typeface="Arial"/>
              <a:sym typeface="Arial"/>
            </a:rPr>
            <a:t> </a:t>
          </a:r>
          <a:r>
            <a:rPr lang="en-US" sz="2400" b="0" kern="1200" dirty="0" err="1">
              <a:latin typeface="Source Sans Pro" panose="020B0503030403020204" pitchFamily="34" charset="0"/>
              <a:ea typeface="Source Sans Pro" panose="020B0503030403020204" pitchFamily="34" charset="0"/>
              <a:cs typeface="Arial"/>
              <a:sym typeface="Arial"/>
            </a:rPr>
            <a:t>rutas</a:t>
          </a:r>
          <a:r>
            <a:rPr lang="en-US" sz="2400" b="0" kern="1200" dirty="0">
              <a:latin typeface="Source Sans Pro" panose="020B0503030403020204" pitchFamily="34" charset="0"/>
              <a:ea typeface="Source Sans Pro" panose="020B0503030403020204" pitchFamily="34" charset="0"/>
              <a:cs typeface="Arial"/>
              <a:sym typeface="Arial"/>
            </a:rPr>
            <a:t> </a:t>
          </a:r>
          <a:r>
            <a:rPr lang="en-US" sz="2400" b="0" kern="1200" dirty="0" err="1">
              <a:latin typeface="Source Sans Pro" panose="020B0503030403020204" pitchFamily="34" charset="0"/>
              <a:ea typeface="Source Sans Pro" panose="020B0503030403020204" pitchFamily="34" charset="0"/>
              <a:cs typeface="Arial"/>
              <a:sym typeface="Arial"/>
            </a:rPr>
            <a:t>biológicas</a:t>
          </a:r>
          <a:r>
            <a:rPr lang="en-US" sz="2400" b="0" kern="1200" dirty="0">
              <a:latin typeface="Source Sans Pro" panose="020B0503030403020204" pitchFamily="34" charset="0"/>
              <a:ea typeface="Source Sans Pro" panose="020B0503030403020204" pitchFamily="34" charset="0"/>
              <a:cs typeface="Arial"/>
              <a:sym typeface="Arial"/>
            </a:rPr>
            <a:t> </a:t>
          </a:r>
          <a:r>
            <a:rPr lang="en-US" sz="2400" b="0" kern="1200" dirty="0" err="1">
              <a:latin typeface="Source Sans Pro" panose="020B0503030403020204" pitchFamily="34" charset="0"/>
              <a:ea typeface="Source Sans Pro" panose="020B0503030403020204" pitchFamily="34" charset="0"/>
              <a:cs typeface="Arial"/>
              <a:sym typeface="Arial"/>
            </a:rPr>
            <a:t>impactadas</a:t>
          </a:r>
          <a:r>
            <a:rPr lang="en-US" sz="2400" b="0" kern="1200" dirty="0">
              <a:latin typeface="Source Sans Pro" panose="020B0503030403020204" pitchFamily="34" charset="0"/>
              <a:ea typeface="Source Sans Pro" panose="020B0503030403020204" pitchFamily="34" charset="0"/>
              <a:cs typeface="Arial"/>
              <a:sym typeface="Arial"/>
            </a:rPr>
            <a:t> </a:t>
          </a:r>
          <a:r>
            <a:rPr lang="en-US" sz="2400" b="0" kern="1200" dirty="0" err="1">
              <a:latin typeface="Source Sans Pro" panose="020B0503030403020204" pitchFamily="34" charset="0"/>
              <a:ea typeface="Source Sans Pro" panose="020B0503030403020204" pitchFamily="34" charset="0"/>
              <a:cs typeface="Arial"/>
              <a:sym typeface="Arial"/>
            </a:rPr>
            <a:t>por</a:t>
          </a:r>
          <a:r>
            <a:rPr lang="en-US" sz="2400" b="0" kern="1200" dirty="0">
              <a:latin typeface="Source Sans Pro" panose="020B0503030403020204" pitchFamily="34" charset="0"/>
              <a:ea typeface="Source Sans Pro" panose="020B0503030403020204" pitchFamily="34" charset="0"/>
              <a:cs typeface="Arial"/>
              <a:sym typeface="Arial"/>
            </a:rPr>
            <a:t> </a:t>
          </a:r>
          <a:r>
            <a:rPr lang="en-US" sz="2400" b="0" kern="1200" dirty="0" err="1">
              <a:latin typeface="Source Sans Pro" panose="020B0503030403020204" pitchFamily="34" charset="0"/>
              <a:ea typeface="Source Sans Pro" panose="020B0503030403020204" pitchFamily="34" charset="0"/>
              <a:cs typeface="Arial"/>
              <a:sym typeface="Arial"/>
            </a:rPr>
            <a:t>los</a:t>
          </a:r>
          <a:r>
            <a:rPr lang="en-US" sz="2400" b="0" kern="1200" dirty="0">
              <a:latin typeface="Source Sans Pro" panose="020B0503030403020204" pitchFamily="34" charset="0"/>
              <a:ea typeface="Source Sans Pro" panose="020B0503030403020204" pitchFamily="34" charset="0"/>
              <a:cs typeface="Arial"/>
              <a:sym typeface="Arial"/>
            </a:rPr>
            <a:t> </a:t>
          </a:r>
          <a:r>
            <a:rPr lang="en-US" sz="2400" b="0" kern="1200" dirty="0" err="1">
              <a:latin typeface="Source Sans Pro" panose="020B0503030403020204" pitchFamily="34" charset="0"/>
              <a:ea typeface="Source Sans Pro" panose="020B0503030403020204" pitchFamily="34" charset="0"/>
              <a:cs typeface="Arial"/>
              <a:sym typeface="Arial"/>
            </a:rPr>
            <a:t>cambios</a:t>
          </a:r>
          <a:r>
            <a:rPr lang="en-US" sz="2400" b="0" kern="1200" dirty="0">
              <a:latin typeface="Source Sans Pro" panose="020B0503030403020204" pitchFamily="34" charset="0"/>
              <a:ea typeface="Source Sans Pro" panose="020B0503030403020204" pitchFamily="34" charset="0"/>
              <a:cs typeface="Arial"/>
              <a:sym typeface="Arial"/>
            </a:rPr>
            <a:t> </a:t>
          </a:r>
          <a:r>
            <a:rPr lang="en-US" sz="2400" b="0" kern="1200" dirty="0" err="1">
              <a:latin typeface="Source Sans Pro" panose="020B0503030403020204" pitchFamily="34" charset="0"/>
              <a:ea typeface="Source Sans Pro" panose="020B0503030403020204" pitchFamily="34" charset="0"/>
              <a:cs typeface="Arial"/>
              <a:sym typeface="Arial"/>
            </a:rPr>
            <a:t>epigenéticos</a:t>
          </a:r>
          <a:r>
            <a:rPr lang="en-US" sz="2400" b="1" kern="1200" dirty="0">
              <a:latin typeface="Source Sans Pro" panose="020B0503030403020204" pitchFamily="34" charset="0"/>
              <a:ea typeface="Source Sans Pro" panose="020B0503030403020204" pitchFamily="34" charset="0"/>
              <a:cs typeface="Arial"/>
              <a:sym typeface="Arial"/>
            </a:rPr>
            <a:t>.</a:t>
          </a:r>
          <a:endParaRPr lang="es-ES" sz="2400" kern="1200" dirty="0">
            <a:latin typeface="Source Sans Pro" panose="020B0503030403020204" pitchFamily="34" charset="0"/>
            <a:ea typeface="Source Sans Pro" panose="020B0503030403020204" pitchFamily="34" charset="0"/>
          </a:endParaRPr>
        </a:p>
      </dsp:txBody>
      <dsp:txXfrm>
        <a:off x="617622" y="5726905"/>
        <a:ext cx="7217195" cy="165155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E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‹Nº›</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9" name="Google Shape;18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66511a41e0_3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g366511a41e0_3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66511a41e0_0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
        <p:nvSpPr>
          <p:cNvPr id="152" name="Google Shape;152;g366511a41e0_0_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g366511a41e0_0_1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9" name="Google Shape;229;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s-ES" sz="1200" b="1" i="0" u="none" strike="noStrike" cap="none" dirty="0">
                <a:solidFill>
                  <a:schemeClr val="dk1"/>
                </a:solidFill>
                <a:effectLst/>
                <a:latin typeface="Arial"/>
                <a:ea typeface="Arial"/>
                <a:cs typeface="Arial"/>
                <a:sym typeface="Arial"/>
              </a:rPr>
              <a:t>metilación de múltiples genes en la mucosa de tumores UC-CRC y colones no neoplásicos, e identificó los promotores metilados de </a:t>
            </a:r>
            <a:r>
              <a:rPr lang="es-ES" sz="1200" b="1" i="1" u="none" strike="noStrike" cap="none" dirty="0">
                <a:solidFill>
                  <a:schemeClr val="dk1"/>
                </a:solidFill>
                <a:effectLst/>
                <a:latin typeface="Arial"/>
                <a:ea typeface="Arial"/>
                <a:cs typeface="Arial"/>
                <a:sym typeface="Arial"/>
              </a:rPr>
              <a:t>MINT1</a:t>
            </a:r>
            <a:r>
              <a:rPr lang="es-ES" sz="1200" b="1" i="0" u="none" strike="noStrike" cap="none" dirty="0">
                <a:solidFill>
                  <a:schemeClr val="dk1"/>
                </a:solidFill>
                <a:effectLst/>
                <a:latin typeface="Arial"/>
                <a:ea typeface="Arial"/>
                <a:cs typeface="Arial"/>
                <a:sym typeface="Arial"/>
              </a:rPr>
              <a:t>, </a:t>
            </a:r>
            <a:r>
              <a:rPr lang="es-ES" sz="1200" b="1" i="1" u="none" strike="noStrike" cap="none" dirty="0">
                <a:solidFill>
                  <a:schemeClr val="dk1"/>
                </a:solidFill>
                <a:effectLst/>
                <a:latin typeface="Arial"/>
                <a:ea typeface="Arial"/>
                <a:cs typeface="Arial"/>
                <a:sym typeface="Arial"/>
              </a:rPr>
              <a:t>RUNX3</a:t>
            </a:r>
            <a:r>
              <a:rPr lang="es-ES" sz="1200" b="1" i="0" u="none" strike="noStrike" cap="none" dirty="0">
                <a:solidFill>
                  <a:schemeClr val="dk1"/>
                </a:solidFill>
                <a:effectLst/>
                <a:latin typeface="Arial"/>
                <a:ea typeface="Arial"/>
                <a:cs typeface="Arial"/>
                <a:sym typeface="Arial"/>
              </a:rPr>
              <a:t> y </a:t>
            </a:r>
            <a:r>
              <a:rPr lang="es-ES" sz="1200" b="1" i="1" u="none" strike="noStrike" cap="none" dirty="0">
                <a:solidFill>
                  <a:schemeClr val="dk1"/>
                </a:solidFill>
                <a:effectLst/>
                <a:latin typeface="Arial"/>
                <a:ea typeface="Arial"/>
                <a:cs typeface="Arial"/>
                <a:sym typeface="Arial"/>
              </a:rPr>
              <a:t>COX2</a:t>
            </a:r>
            <a:r>
              <a:rPr lang="es-ES" sz="1200" b="1" i="0" u="none" strike="noStrike" cap="none" dirty="0">
                <a:solidFill>
                  <a:schemeClr val="dk1"/>
                </a:solidFill>
                <a:effectLst/>
                <a:latin typeface="Arial"/>
                <a:ea typeface="Arial"/>
                <a:cs typeface="Arial"/>
                <a:sym typeface="Arial"/>
              </a:rPr>
              <a:t> como firmas potenciales de la aparición de CCR en pacientes con CU</a:t>
            </a:r>
            <a:r>
              <a:rPr lang="es-ES" sz="1200" b="0" i="0" u="none" strike="noStrike" cap="none" dirty="0">
                <a:solidFill>
                  <a:schemeClr val="dk1"/>
                </a:solidFill>
                <a:effectLst/>
                <a:latin typeface="Arial"/>
                <a:ea typeface="Arial"/>
                <a:cs typeface="Arial"/>
                <a:sym typeface="Arial"/>
              </a:rPr>
              <a:t>. Además, </a:t>
            </a:r>
            <a:r>
              <a:rPr lang="es-ES" sz="1200" b="1" i="0" u="none" strike="noStrike" cap="none" dirty="0">
                <a:solidFill>
                  <a:schemeClr val="dk1"/>
                </a:solidFill>
                <a:effectLst/>
                <a:latin typeface="Arial"/>
                <a:ea typeface="Arial"/>
                <a:cs typeface="Arial"/>
                <a:sym typeface="Arial"/>
              </a:rPr>
              <a:t>la sobreexpresión de la proteína quinasa asociada a la muerte </a:t>
            </a:r>
            <a:r>
              <a:rPr lang="es-ES" sz="1200" b="0" i="0" u="none" strike="noStrike" cap="none" dirty="0">
                <a:solidFill>
                  <a:schemeClr val="dk1"/>
                </a:solidFill>
                <a:effectLst/>
                <a:latin typeface="Arial"/>
                <a:ea typeface="Arial"/>
                <a:cs typeface="Arial"/>
                <a:sym typeface="Arial"/>
              </a:rPr>
              <a:t>(DAPK) y su inactivación mediada por la </a:t>
            </a:r>
            <a:r>
              <a:rPr lang="es-ES" sz="1200" b="0" i="0" u="none" strike="noStrike" cap="none" dirty="0" err="1">
                <a:solidFill>
                  <a:schemeClr val="dk1"/>
                </a:solidFill>
                <a:effectLst/>
                <a:latin typeface="Arial"/>
                <a:ea typeface="Arial"/>
                <a:cs typeface="Arial"/>
                <a:sym typeface="Arial"/>
              </a:rPr>
              <a:t>hipermetilación</a:t>
            </a:r>
            <a:r>
              <a:rPr lang="es-ES" sz="1200" b="0" i="0" u="none" strike="noStrike" cap="none" dirty="0">
                <a:solidFill>
                  <a:schemeClr val="dk1"/>
                </a:solidFill>
                <a:effectLst/>
                <a:latin typeface="Arial"/>
                <a:ea typeface="Arial"/>
                <a:cs typeface="Arial"/>
                <a:sym typeface="Arial"/>
              </a:rPr>
              <a:t> de la región promotora de </a:t>
            </a:r>
            <a:r>
              <a:rPr lang="es-ES" sz="1200" b="0" i="1" u="none" strike="noStrike" cap="none" dirty="0">
                <a:solidFill>
                  <a:schemeClr val="dk1"/>
                </a:solidFill>
                <a:effectLst/>
                <a:latin typeface="Arial"/>
                <a:ea typeface="Arial"/>
                <a:cs typeface="Arial"/>
                <a:sym typeface="Arial"/>
              </a:rPr>
              <a:t>DAPK</a:t>
            </a:r>
            <a:r>
              <a:rPr lang="es-ES" sz="1200" b="0" i="0" u="none" strike="noStrike" cap="none" dirty="0">
                <a:solidFill>
                  <a:schemeClr val="dk1"/>
                </a:solidFill>
                <a:effectLst/>
                <a:latin typeface="Arial"/>
                <a:ea typeface="Arial"/>
                <a:cs typeface="Arial"/>
                <a:sym typeface="Arial"/>
              </a:rPr>
              <a:t> dan </a:t>
            </a:r>
            <a:r>
              <a:rPr lang="es-ES" sz="1200" b="1" i="0" u="none" strike="noStrike" cap="none" dirty="0">
                <a:solidFill>
                  <a:schemeClr val="dk1"/>
                </a:solidFill>
                <a:effectLst/>
                <a:latin typeface="Arial"/>
                <a:ea typeface="Arial"/>
                <a:cs typeface="Arial"/>
                <a:sym typeface="Arial"/>
              </a:rPr>
              <a:t>como resultado la acumulación de células epiteliales dañadas genómicamente en el epitelio colónico inflamado en pacientes con CU,</a:t>
            </a:r>
            <a:r>
              <a:rPr lang="es-ES" sz="1200" b="0" i="0" u="none" strike="noStrike" cap="none" dirty="0">
                <a:solidFill>
                  <a:schemeClr val="dk1"/>
                </a:solidFill>
                <a:effectLst/>
                <a:latin typeface="Arial"/>
                <a:ea typeface="Arial"/>
                <a:cs typeface="Arial"/>
                <a:sym typeface="Arial"/>
              </a:rPr>
              <a:t> lo que puede iniciar el desarrollo de carcinoma relacionado con la CU</a:t>
            </a:r>
          </a:p>
          <a:p>
            <a:pPr marL="0" lvl="0" indent="0" algn="l" rtl="0">
              <a:spcBef>
                <a:spcPts val="0"/>
              </a:spcBef>
              <a:spcAft>
                <a:spcPts val="0"/>
              </a:spcAft>
              <a:buNone/>
            </a:pPr>
            <a:r>
              <a:rPr lang="es-ES" sz="1200" b="0" i="0" u="none" strike="noStrike" cap="none" dirty="0">
                <a:solidFill>
                  <a:schemeClr val="dk1"/>
                </a:solidFill>
                <a:effectLst/>
                <a:latin typeface="Arial"/>
                <a:ea typeface="Arial"/>
                <a:cs typeface="Arial"/>
                <a:sym typeface="Arial"/>
              </a:rPr>
              <a:t>secuenciación del bisulfito de ADN de todo el genoma de </a:t>
            </a:r>
            <a:r>
              <a:rPr lang="es-ES" sz="1200" b="1" i="0" u="none" strike="noStrike" cap="none" dirty="0">
                <a:solidFill>
                  <a:schemeClr val="dk1"/>
                </a:solidFill>
                <a:effectLst/>
                <a:latin typeface="Arial"/>
                <a:ea typeface="Arial"/>
                <a:cs typeface="Arial"/>
                <a:sym typeface="Arial"/>
              </a:rPr>
              <a:t>biopsias de mucosa de pacientes con CU grave y leve, y ha encontrado que la </a:t>
            </a:r>
            <a:r>
              <a:rPr lang="es-ES" sz="1200" b="1" i="0" u="none" strike="noStrike" cap="none" dirty="0" err="1">
                <a:solidFill>
                  <a:schemeClr val="dk1"/>
                </a:solidFill>
                <a:effectLst/>
                <a:latin typeface="Arial"/>
                <a:ea typeface="Arial"/>
                <a:cs typeface="Arial"/>
                <a:sym typeface="Arial"/>
              </a:rPr>
              <a:t>hipometilación</a:t>
            </a:r>
            <a:r>
              <a:rPr lang="es-ES" sz="1200" b="1" i="0" u="none" strike="noStrike" cap="none" dirty="0">
                <a:solidFill>
                  <a:schemeClr val="dk1"/>
                </a:solidFill>
                <a:effectLst/>
                <a:latin typeface="Arial"/>
                <a:ea typeface="Arial"/>
                <a:cs typeface="Arial"/>
                <a:sym typeface="Arial"/>
              </a:rPr>
              <a:t> del ADN de los genes antiinflamatorios es observable en la CU grave, incluidas </a:t>
            </a:r>
            <a:r>
              <a:rPr lang="es-ES" sz="1200" b="1" i="1" u="none" strike="noStrike" cap="none" dirty="0">
                <a:solidFill>
                  <a:schemeClr val="dk1"/>
                </a:solidFill>
                <a:effectLst/>
                <a:latin typeface="Arial"/>
                <a:ea typeface="Arial"/>
                <a:cs typeface="Arial"/>
                <a:sym typeface="Arial"/>
              </a:rPr>
              <a:t>la IL10</a:t>
            </a:r>
            <a:r>
              <a:rPr lang="es-ES" sz="1200" b="1" i="0" u="none" strike="noStrike" cap="none" dirty="0">
                <a:solidFill>
                  <a:schemeClr val="dk1"/>
                </a:solidFill>
                <a:effectLst/>
                <a:latin typeface="Arial"/>
                <a:ea typeface="Arial"/>
                <a:cs typeface="Arial"/>
                <a:sym typeface="Arial"/>
              </a:rPr>
              <a:t>, </a:t>
            </a:r>
            <a:r>
              <a:rPr lang="es-ES" sz="1200" b="1" i="1" u="none" strike="noStrike" cap="none" dirty="0">
                <a:solidFill>
                  <a:schemeClr val="dk1"/>
                </a:solidFill>
                <a:effectLst/>
                <a:latin typeface="Arial"/>
                <a:ea typeface="Arial"/>
                <a:cs typeface="Arial"/>
                <a:sym typeface="Arial"/>
              </a:rPr>
              <a:t>SIGLEC5</a:t>
            </a:r>
            <a:r>
              <a:rPr lang="es-ES" sz="1200" b="1" i="0" u="none" strike="noStrike" cap="none" dirty="0">
                <a:solidFill>
                  <a:schemeClr val="dk1"/>
                </a:solidFill>
                <a:effectLst/>
                <a:latin typeface="Arial"/>
                <a:ea typeface="Arial"/>
                <a:cs typeface="Arial"/>
                <a:sym typeface="Arial"/>
              </a:rPr>
              <a:t>, </a:t>
            </a:r>
            <a:r>
              <a:rPr lang="es-ES" sz="1200" b="1" i="1" u="none" strike="noStrike" cap="none" dirty="0">
                <a:solidFill>
                  <a:schemeClr val="dk1"/>
                </a:solidFill>
                <a:effectLst/>
                <a:latin typeface="Arial"/>
                <a:ea typeface="Arial"/>
                <a:cs typeface="Arial"/>
                <a:sym typeface="Arial"/>
              </a:rPr>
              <a:t>CD86</a:t>
            </a:r>
            <a:r>
              <a:rPr lang="es-ES" sz="1200" b="1" i="0" u="none" strike="noStrike" cap="none" dirty="0">
                <a:solidFill>
                  <a:schemeClr val="dk1"/>
                </a:solidFill>
                <a:effectLst/>
                <a:latin typeface="Arial"/>
                <a:ea typeface="Arial"/>
                <a:cs typeface="Arial"/>
                <a:sym typeface="Arial"/>
              </a:rPr>
              <a:t>, </a:t>
            </a:r>
            <a:r>
              <a:rPr lang="es-ES" sz="1200" b="1" i="1" u="none" strike="noStrike" cap="none" dirty="0">
                <a:solidFill>
                  <a:schemeClr val="dk1"/>
                </a:solidFill>
                <a:effectLst/>
                <a:latin typeface="Arial"/>
                <a:ea typeface="Arial"/>
                <a:cs typeface="Arial"/>
                <a:sym typeface="Arial"/>
              </a:rPr>
              <a:t>CLMP,</a:t>
            </a:r>
            <a:r>
              <a:rPr lang="es-ES" sz="1200" b="1" i="0" u="none" strike="noStrike" cap="none" dirty="0">
                <a:solidFill>
                  <a:schemeClr val="dk1"/>
                </a:solidFill>
                <a:effectLst/>
                <a:latin typeface="Arial"/>
                <a:ea typeface="Arial"/>
                <a:cs typeface="Arial"/>
                <a:sym typeface="Arial"/>
              </a:rPr>
              <a:t> </a:t>
            </a:r>
            <a:r>
              <a:rPr lang="es-ES" sz="1200" b="1" i="1" u="none" strike="noStrike" cap="none" dirty="0">
                <a:solidFill>
                  <a:schemeClr val="dk1"/>
                </a:solidFill>
                <a:effectLst/>
                <a:latin typeface="Arial"/>
                <a:ea typeface="Arial"/>
                <a:cs typeface="Arial"/>
                <a:sym typeface="Arial"/>
              </a:rPr>
              <a:t>NLRP3</a:t>
            </a:r>
            <a:r>
              <a:rPr lang="es-ES" sz="1200" b="1" i="0" u="none" strike="noStrike" cap="none" dirty="0">
                <a:solidFill>
                  <a:schemeClr val="dk1"/>
                </a:solidFill>
                <a:effectLst/>
                <a:latin typeface="Arial"/>
                <a:ea typeface="Arial"/>
                <a:cs typeface="Arial"/>
                <a:sym typeface="Arial"/>
              </a:rPr>
              <a:t> y </a:t>
            </a:r>
            <a:r>
              <a:rPr lang="es-ES" sz="1200" b="1" i="1" u="none" strike="noStrike" cap="none" dirty="0">
                <a:solidFill>
                  <a:schemeClr val="dk1"/>
                </a:solidFill>
                <a:effectLst/>
                <a:latin typeface="Arial"/>
                <a:ea typeface="Arial"/>
                <a:cs typeface="Arial"/>
                <a:sym typeface="Arial"/>
              </a:rPr>
              <a:t>NLRC4</a:t>
            </a:r>
          </a:p>
          <a:p>
            <a:pPr marL="0" lvl="0" indent="0" algn="l" rtl="0">
              <a:spcBef>
                <a:spcPts val="0"/>
              </a:spcBef>
              <a:spcAft>
                <a:spcPts val="0"/>
              </a:spcAft>
              <a:buNone/>
            </a:pPr>
            <a:r>
              <a:rPr lang="es-ES" sz="1200" b="0" i="0" u="none" strike="noStrike" cap="none" dirty="0">
                <a:solidFill>
                  <a:schemeClr val="dk1"/>
                </a:solidFill>
                <a:effectLst/>
                <a:latin typeface="Arial"/>
                <a:ea typeface="Arial"/>
                <a:cs typeface="Arial"/>
                <a:sym typeface="Arial"/>
              </a:rPr>
              <a:t>Un estudio reciente ha analizado muestras de tejido de colon de pacientes con CU y CCR, así como de contrapartes sanas, y corroboró que la expresión de los niveles de TET2 y 5hmC disminuye en aquellas muestras de pacientes con CU o CCR</a:t>
            </a:r>
          </a:p>
          <a:p>
            <a:r>
              <a:rPr lang="es-ES" dirty="0"/>
              <a:t>La </a:t>
            </a:r>
            <a:r>
              <a:rPr lang="es-ES" b="1" dirty="0" err="1"/>
              <a:t>hipermetilación</a:t>
            </a:r>
            <a:r>
              <a:rPr lang="es-ES" dirty="0"/>
              <a:t> afecta genes supresores de tumores y de defensa (ej. RUNX3, COX2, DAPK), asociándose con progresión a cáncer colorrectal.</a:t>
            </a:r>
          </a:p>
          <a:p>
            <a:r>
              <a:rPr lang="es-ES" dirty="0"/>
              <a:t>La </a:t>
            </a:r>
            <a:r>
              <a:rPr lang="es-ES" b="1" dirty="0" err="1"/>
              <a:t>hipometilación</a:t>
            </a:r>
            <a:r>
              <a:rPr lang="es-ES" dirty="0"/>
              <a:t> activa genes inflamatorios (ej. IL10, NLRP3), potenciando inflamación crónica.</a:t>
            </a:r>
          </a:p>
          <a:p>
            <a:r>
              <a:rPr lang="es-ES" dirty="0"/>
              <a:t>Estos perfiles de metilación pueden servir como </a:t>
            </a:r>
            <a:r>
              <a:rPr lang="es-ES" b="1" dirty="0"/>
              <a:t>biomarcadores diagnósticos</a:t>
            </a:r>
            <a:r>
              <a:rPr lang="es-ES" dirty="0"/>
              <a:t> y </a:t>
            </a:r>
            <a:r>
              <a:rPr lang="es-ES" b="1" dirty="0"/>
              <a:t>blancos terapéuticos</a:t>
            </a:r>
            <a:r>
              <a:rPr lang="es-ES" dirty="0"/>
              <a:t> en UC</a:t>
            </a:r>
          </a:p>
          <a:p>
            <a:r>
              <a:rPr lang="es-ES" dirty="0"/>
              <a:t>En UC ocurre un </a:t>
            </a:r>
            <a:r>
              <a:rPr lang="es-ES" b="1" dirty="0"/>
              <a:t>desequilibrio epigenético</a:t>
            </a:r>
            <a:r>
              <a:rPr lang="es-ES" dirty="0"/>
              <a:t>:</a:t>
            </a:r>
          </a:p>
          <a:p>
            <a:r>
              <a:rPr lang="es-ES" dirty="0"/>
              <a:t>↑ DNMT → exceso de metilación.</a:t>
            </a:r>
          </a:p>
          <a:p>
            <a:r>
              <a:rPr lang="es-ES" dirty="0"/>
              <a:t>↓ TET2 → menos desmetilación.</a:t>
            </a:r>
          </a:p>
          <a:p>
            <a:r>
              <a:rPr lang="es-ES" dirty="0"/>
              <a:t>↓ 5hmC → se pierde esta marca reguladora.</a:t>
            </a:r>
          </a:p>
          <a:p>
            <a:pPr marL="0" lvl="0" indent="0" algn="l" rtl="0">
              <a:spcBef>
                <a:spcPts val="0"/>
              </a:spcBef>
              <a:spcAft>
                <a:spcPts val="0"/>
              </a:spcAft>
              <a:buNone/>
            </a:pPr>
            <a:endParaRPr dirty="0"/>
          </a:p>
        </p:txBody>
      </p:sp>
      <p:sp>
        <p:nvSpPr>
          <p:cNvPr id="165" name="Google Shape;16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55" name="Google Shape;25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9" name="Google Shape;26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8" name="Google Shape;20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s-ES" sz="1200" dirty="0">
                <a:solidFill>
                  <a:schemeClr val="dk1"/>
                </a:solidFill>
                <a:latin typeface="Calibri"/>
                <a:ea typeface="Calibri"/>
                <a:cs typeface="Calibri"/>
                <a:sym typeface="Calibri"/>
              </a:rPr>
              <a:t>La CU está asociada a una inflamación crónica del tracto gastrointestinal y a un mayor riesgo CCR. Aunque existen diversos métodos de diagnóstico, muchos son invasivos y carecen de precisión para predecir la progresión hacia el CCR. Los biomarcadores serológicos y de metilación del ADN a partir de biopsia líquida  ofrecen una alternativa prometedora, dado que son menos invasivos y pueden reflejar mejor los mecanismos biológicos subyacentes, como los cambios epigenéticos que puedan contribuir a la inflamación y la carcinogénesis en la CU. </a:t>
            </a:r>
            <a:endParaRPr lang="es-ES" dirty="0"/>
          </a:p>
          <a:p>
            <a:pPr marL="0" lvl="0" indent="0" algn="l" rtl="0">
              <a:spcBef>
                <a:spcPts val="0"/>
              </a:spcBef>
              <a:spcAft>
                <a:spcPts val="0"/>
              </a:spcAft>
              <a:buNone/>
            </a:pPr>
            <a:endParaRPr dirty="0"/>
          </a:p>
        </p:txBody>
      </p:sp>
      <p:sp>
        <p:nvSpPr>
          <p:cNvPr id="202" name="Google Shape;20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0" name="Google Shape;300;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rPr lang="es-ES" b="1" dirty="0"/>
              <a:t>Paso a paso del flujo de trabajo (Figura 2B)</a:t>
            </a:r>
          </a:p>
          <a:p>
            <a:r>
              <a:rPr lang="es-ES" b="1" dirty="0"/>
              <a:t>Preparación de la librería</a:t>
            </a:r>
            <a:r>
              <a:rPr lang="es-ES" dirty="0"/>
              <a:t>: el ADN se </a:t>
            </a:r>
            <a:r>
              <a:rPr lang="es-ES" b="1" dirty="0"/>
              <a:t>fragmenta a ~300 </a:t>
            </a:r>
            <a:r>
              <a:rPr lang="es-ES" b="1" dirty="0" err="1"/>
              <a:t>bp</a:t>
            </a:r>
            <a:r>
              <a:rPr lang="es-ES" dirty="0"/>
              <a:t>, se </a:t>
            </a:r>
            <a:r>
              <a:rPr lang="es-ES" b="1" dirty="0"/>
              <a:t>reparan extremos</a:t>
            </a:r>
            <a:r>
              <a:rPr lang="es-ES" dirty="0"/>
              <a:t>, se hace </a:t>
            </a:r>
            <a:r>
              <a:rPr lang="es-ES" b="1" dirty="0"/>
              <a:t>A-</a:t>
            </a:r>
            <a:r>
              <a:rPr lang="es-ES" b="1" dirty="0" err="1"/>
              <a:t>tailing</a:t>
            </a:r>
            <a:r>
              <a:rPr lang="es-ES" b="1" dirty="0"/>
              <a:t> 3′</a:t>
            </a:r>
            <a:r>
              <a:rPr lang="es-ES" dirty="0"/>
              <a:t> y se </a:t>
            </a:r>
            <a:r>
              <a:rPr lang="es-ES" b="1" dirty="0"/>
              <a:t>ligan adaptadores</a:t>
            </a:r>
            <a:r>
              <a:rPr lang="es-ES" dirty="0"/>
              <a:t>. </a:t>
            </a:r>
          </a:p>
          <a:p>
            <a:r>
              <a:rPr lang="es-ES" dirty="0"/>
              <a:t>1280</a:t>
            </a:r>
          </a:p>
          <a:p>
            <a:r>
              <a:rPr lang="es-ES" b="1" dirty="0"/>
              <a:t>Protección de 5mC/5hmC</a:t>
            </a:r>
            <a:r>
              <a:rPr lang="es-ES" dirty="0"/>
              <a:t>: tratamiento con </a:t>
            </a:r>
            <a:r>
              <a:rPr lang="es-ES" b="1" dirty="0"/>
              <a:t>TET2</a:t>
            </a:r>
            <a:r>
              <a:rPr lang="es-ES" dirty="0"/>
              <a:t> (convierte 5mC → 5caC vía 5hmC/5fC) y con </a:t>
            </a:r>
            <a:r>
              <a:rPr lang="es-ES" b="1" dirty="0"/>
              <a:t>T4-BGT</a:t>
            </a:r>
            <a:r>
              <a:rPr lang="es-ES" dirty="0"/>
              <a:t> (convierte 5hmC → 5gmC). Estas formas </a:t>
            </a:r>
            <a:r>
              <a:rPr lang="es-ES" b="1" dirty="0"/>
              <a:t>no son sustrato</a:t>
            </a:r>
            <a:r>
              <a:rPr lang="es-ES" dirty="0"/>
              <a:t> para APOBEC3A (5gmC/5caC quedan “protegidas”). </a:t>
            </a:r>
          </a:p>
          <a:p>
            <a:r>
              <a:rPr lang="es-ES" dirty="0"/>
              <a:t>1280</a:t>
            </a:r>
          </a:p>
          <a:p>
            <a:r>
              <a:rPr lang="es-ES" b="1" dirty="0"/>
              <a:t>Desaminación selectiva</a:t>
            </a:r>
            <a:r>
              <a:rPr lang="es-ES" dirty="0"/>
              <a:t>: </a:t>
            </a:r>
            <a:r>
              <a:rPr lang="es-ES" b="1" dirty="0"/>
              <a:t>APOBEC3A</a:t>
            </a:r>
            <a:r>
              <a:rPr lang="es-ES" dirty="0"/>
              <a:t> desamina las </a:t>
            </a:r>
            <a:r>
              <a:rPr lang="es-ES" b="1" dirty="0"/>
              <a:t>citosinas no modificadas</a:t>
            </a:r>
            <a:r>
              <a:rPr lang="es-ES" dirty="0"/>
              <a:t> (C→U). Apenas actúa sobre 5fC y </a:t>
            </a:r>
            <a:r>
              <a:rPr lang="es-ES" b="1" dirty="0"/>
              <a:t>no</a:t>
            </a:r>
            <a:r>
              <a:rPr lang="es-ES" dirty="0"/>
              <a:t> actúa sobre 5gmC o 5caC. </a:t>
            </a:r>
          </a:p>
          <a:p>
            <a:r>
              <a:rPr lang="es-ES" dirty="0"/>
              <a:t>1280</a:t>
            </a:r>
          </a:p>
          <a:p>
            <a:r>
              <a:rPr lang="es-ES" b="1" dirty="0"/>
              <a:t>PCR y lectura</a:t>
            </a:r>
            <a:r>
              <a:rPr lang="es-ES" dirty="0"/>
              <a:t>: durante PCR, el </a:t>
            </a:r>
            <a:r>
              <a:rPr lang="es-ES" b="1" dirty="0"/>
              <a:t>U se reemplaza por T</a:t>
            </a:r>
            <a:r>
              <a:rPr lang="es-ES" dirty="0"/>
              <a:t> y, en la secuenciación </a:t>
            </a:r>
            <a:r>
              <a:rPr lang="es-ES" dirty="0" err="1"/>
              <a:t>Illumina</a:t>
            </a:r>
            <a:r>
              <a:rPr lang="es-ES" dirty="0"/>
              <a:t>, esas posiciones se </a:t>
            </a:r>
            <a:r>
              <a:rPr lang="es-ES" b="1" dirty="0"/>
              <a:t>leen como T</a:t>
            </a:r>
            <a:r>
              <a:rPr lang="es-ES" dirty="0"/>
              <a:t>; las bases protegidas (derivadas de </a:t>
            </a:r>
            <a:r>
              <a:rPr lang="es-ES" b="1" dirty="0"/>
              <a:t>5mC/5hmC</a:t>
            </a:r>
            <a:r>
              <a:rPr lang="es-ES" dirty="0"/>
              <a:t>) </a:t>
            </a:r>
            <a:r>
              <a:rPr lang="es-ES" b="1" dirty="0"/>
              <a:t>se leen como C</a:t>
            </a:r>
            <a:r>
              <a:rPr lang="es-ES" dirty="0"/>
              <a:t>. </a:t>
            </a:r>
          </a:p>
          <a:p>
            <a:r>
              <a:rPr lang="es-ES" dirty="0"/>
              <a:t>1280</a:t>
            </a:r>
          </a:p>
          <a:p>
            <a:r>
              <a:rPr lang="es-ES" b="1" dirty="0"/>
              <a:t>Secuenciación</a:t>
            </a:r>
            <a:r>
              <a:rPr lang="es-ES" dirty="0"/>
              <a:t>: la librería se </a:t>
            </a:r>
            <a:r>
              <a:rPr lang="es-ES" b="1" dirty="0"/>
              <a:t>amplifica por PCR</a:t>
            </a:r>
            <a:r>
              <a:rPr lang="es-ES" dirty="0"/>
              <a:t> con cebadores de EM-</a:t>
            </a:r>
            <a:r>
              <a:rPr lang="es-ES" dirty="0" err="1"/>
              <a:t>seq</a:t>
            </a:r>
            <a:r>
              <a:rPr lang="es-ES" dirty="0"/>
              <a:t> y se </a:t>
            </a:r>
            <a:r>
              <a:rPr lang="es-ES" b="1" dirty="0" err="1"/>
              <a:t>secuencía</a:t>
            </a:r>
            <a:r>
              <a:rPr lang="es-ES" b="1" dirty="0"/>
              <a:t> en cualquier plataforma </a:t>
            </a:r>
            <a:r>
              <a:rPr lang="es-ES" b="1" dirty="0" err="1"/>
              <a:t>Illumina</a:t>
            </a:r>
            <a:r>
              <a:rPr lang="es-ES" dirty="0"/>
              <a:t>. </a:t>
            </a:r>
          </a:p>
          <a:p>
            <a:r>
              <a:rPr lang="es-ES" dirty="0"/>
              <a:t>1280</a:t>
            </a:r>
          </a:p>
          <a:p>
            <a:r>
              <a:rPr lang="es-ES" b="1" dirty="0"/>
              <a:t>Cómo interpretar las lecturas</a:t>
            </a:r>
          </a:p>
          <a:p>
            <a:r>
              <a:rPr lang="es-ES" b="1" dirty="0"/>
              <a:t>C original (no metilada)</a:t>
            </a:r>
            <a:r>
              <a:rPr lang="es-ES" dirty="0"/>
              <a:t> → C desaminada a </a:t>
            </a:r>
            <a:r>
              <a:rPr lang="es-ES" b="1" dirty="0"/>
              <a:t>U</a:t>
            </a:r>
            <a:r>
              <a:rPr lang="es-ES" dirty="0"/>
              <a:t> → se lee </a:t>
            </a:r>
            <a:r>
              <a:rPr lang="es-ES" b="1" dirty="0"/>
              <a:t>T</a:t>
            </a:r>
            <a:r>
              <a:rPr lang="es-ES" dirty="0"/>
              <a:t>. </a:t>
            </a:r>
          </a:p>
          <a:p>
            <a:r>
              <a:rPr lang="es-ES" dirty="0"/>
              <a:t>1280</a:t>
            </a:r>
          </a:p>
          <a:p>
            <a:r>
              <a:rPr lang="es-ES" b="1" dirty="0"/>
              <a:t>5mC / 5hmC</a:t>
            </a:r>
            <a:r>
              <a:rPr lang="es-ES" dirty="0"/>
              <a:t> → convertidas a </a:t>
            </a:r>
            <a:r>
              <a:rPr lang="es-ES" b="1" dirty="0"/>
              <a:t>5caC</a:t>
            </a:r>
            <a:r>
              <a:rPr lang="es-ES" dirty="0"/>
              <a:t> o </a:t>
            </a:r>
            <a:r>
              <a:rPr lang="es-ES" b="1" dirty="0"/>
              <a:t>5gmC</a:t>
            </a:r>
            <a:r>
              <a:rPr lang="es-ES" dirty="0"/>
              <a:t> → </a:t>
            </a:r>
            <a:r>
              <a:rPr lang="es-ES" b="1" dirty="0"/>
              <a:t>no</a:t>
            </a:r>
            <a:r>
              <a:rPr lang="es-ES" dirty="0"/>
              <a:t> se desaminan → se leen </a:t>
            </a:r>
            <a:r>
              <a:rPr lang="es-ES" b="1" dirty="0"/>
              <a:t>C</a:t>
            </a:r>
            <a:r>
              <a:rPr lang="es-ES" dirty="0"/>
              <a:t>. </a:t>
            </a:r>
          </a:p>
          <a:p>
            <a:r>
              <a:rPr lang="es-ES" dirty="0"/>
              <a:t>1280</a:t>
            </a:r>
          </a:p>
          <a:p>
            <a:r>
              <a:rPr lang="es-ES" dirty="0"/>
              <a:t>Con eso, EM-</a:t>
            </a:r>
            <a:r>
              <a:rPr lang="es-ES" dirty="0" err="1"/>
              <a:t>seq</a:t>
            </a:r>
            <a:r>
              <a:rPr lang="es-ES" dirty="0"/>
              <a:t> distingue posiciones </a:t>
            </a:r>
            <a:r>
              <a:rPr lang="es-ES" b="1" dirty="0"/>
              <a:t>metiladas (C)</a:t>
            </a:r>
            <a:r>
              <a:rPr lang="es-ES" dirty="0"/>
              <a:t> de </a:t>
            </a:r>
            <a:r>
              <a:rPr lang="es-ES" b="1" dirty="0"/>
              <a:t>no metiladas (T)</a:t>
            </a:r>
            <a:r>
              <a:rPr lang="es-ES" dirty="0"/>
              <a:t> sin usar bisulfito y con mejor integridad de ADN. </a:t>
            </a:r>
          </a:p>
          <a:p>
            <a:r>
              <a:rPr lang="es-ES" dirty="0"/>
              <a:t>1280</a:t>
            </a:r>
          </a:p>
          <a:p>
            <a:r>
              <a:rPr lang="es-ES" b="1" dirty="0"/>
              <a:t>1. Momento en que se ligan</a:t>
            </a:r>
          </a:p>
          <a:p>
            <a:r>
              <a:rPr lang="es-ES" dirty="0"/>
              <a:t>El ADN primero se </a:t>
            </a:r>
            <a:r>
              <a:rPr lang="es-ES" b="1" dirty="0"/>
              <a:t>fragmenta (~300 pb)</a:t>
            </a:r>
            <a:r>
              <a:rPr lang="es-ES" dirty="0"/>
              <a:t>, se </a:t>
            </a:r>
            <a:r>
              <a:rPr lang="es-ES" b="1" dirty="0"/>
              <a:t>reparan los extremos</a:t>
            </a:r>
            <a:r>
              <a:rPr lang="es-ES" dirty="0"/>
              <a:t> y se hace un </a:t>
            </a:r>
            <a:r>
              <a:rPr lang="es-ES" b="1" dirty="0"/>
              <a:t>A-</a:t>
            </a:r>
            <a:r>
              <a:rPr lang="es-ES" b="1" dirty="0" err="1"/>
              <a:t>tailing</a:t>
            </a:r>
            <a:r>
              <a:rPr lang="es-ES" b="1" dirty="0"/>
              <a:t> en 3′</a:t>
            </a:r>
            <a:r>
              <a:rPr lang="es-ES" dirty="0"/>
              <a:t>.</a:t>
            </a:r>
          </a:p>
          <a:p>
            <a:r>
              <a:rPr lang="es-ES" dirty="0"/>
              <a:t>En ese punto, se </a:t>
            </a:r>
            <a:r>
              <a:rPr lang="es-ES" b="1" dirty="0"/>
              <a:t>ligan adaptadores específicos de EM-</a:t>
            </a:r>
            <a:r>
              <a:rPr lang="es-ES" b="1" dirty="0" err="1"/>
              <a:t>seq</a:t>
            </a:r>
            <a:r>
              <a:rPr lang="es-ES" dirty="0"/>
              <a:t> al ADN antes de las conversiones enzimáticas.</a:t>
            </a:r>
          </a:p>
          <a:p>
            <a:r>
              <a:rPr lang="es-ES" b="1" dirty="0"/>
              <a:t>2. Funciones principales</a:t>
            </a:r>
          </a:p>
          <a:p>
            <a:r>
              <a:rPr lang="es-ES" b="1" dirty="0"/>
              <a:t>Proveen sitios de unión para </a:t>
            </a:r>
            <a:r>
              <a:rPr lang="es-ES" b="1" dirty="0" err="1"/>
              <a:t>primers</a:t>
            </a:r>
            <a:r>
              <a:rPr lang="es-ES" b="1" dirty="0"/>
              <a:t> de PCR</a:t>
            </a:r>
            <a:r>
              <a:rPr lang="es-ES" dirty="0"/>
              <a:t> durante la amplificación posterior de la librería.</a:t>
            </a:r>
          </a:p>
          <a:p>
            <a:r>
              <a:rPr lang="es-ES" b="1" dirty="0"/>
              <a:t>Incorporan secuencias necesarias para los </a:t>
            </a:r>
            <a:r>
              <a:rPr lang="es-ES" b="1" dirty="0" err="1"/>
              <a:t>flow-cells</a:t>
            </a:r>
            <a:r>
              <a:rPr lang="es-ES" b="1" dirty="0"/>
              <a:t> </a:t>
            </a:r>
            <a:r>
              <a:rPr lang="es-ES" b="1" dirty="0" err="1"/>
              <a:t>Illumina</a:t>
            </a:r>
            <a:r>
              <a:rPr lang="es-ES" dirty="0"/>
              <a:t>, de manera que los fragmentos de ADN se anclen y se amplifiquen en la plataforma de secuenciación.</a:t>
            </a:r>
          </a:p>
          <a:p>
            <a:r>
              <a:rPr lang="es-ES" b="1" dirty="0"/>
              <a:t>Permiten la indexación (</a:t>
            </a:r>
            <a:r>
              <a:rPr lang="es-ES" b="1" dirty="0" err="1"/>
              <a:t>barcoding</a:t>
            </a:r>
            <a:r>
              <a:rPr lang="es-ES" b="1" dirty="0"/>
              <a:t>)</a:t>
            </a:r>
            <a:r>
              <a:rPr lang="es-ES" dirty="0"/>
              <a:t>, es decir, agregar códigos únicos a cada muestra para mezclar varias en una sola corrida de secuenciación.</a:t>
            </a:r>
          </a:p>
          <a:p>
            <a:r>
              <a:rPr lang="es-ES" dirty="0"/>
              <a:t>Protegen los extremos del ADN frente a posibles pérdidas o degradación durante los pasos enzimáticos.</a:t>
            </a:r>
          </a:p>
          <a:p>
            <a:r>
              <a:rPr lang="es-ES" b="1" dirty="0"/>
              <a:t>3. Especificidad en EM-</a:t>
            </a:r>
            <a:r>
              <a:rPr lang="es-ES" b="1" dirty="0" err="1"/>
              <a:t>seq</a:t>
            </a:r>
            <a:endParaRPr lang="es-ES" b="1" dirty="0"/>
          </a:p>
          <a:p>
            <a:r>
              <a:rPr lang="es-ES" dirty="0"/>
              <a:t>Se usan adaptadores optimizados para que la </a:t>
            </a:r>
            <a:r>
              <a:rPr lang="es-ES" b="1" dirty="0"/>
              <a:t>desaminación enzimática</a:t>
            </a:r>
            <a:r>
              <a:rPr lang="es-ES" dirty="0"/>
              <a:t> (con APOBEC3A) y la </a:t>
            </a:r>
            <a:r>
              <a:rPr lang="es-ES" b="1" dirty="0"/>
              <a:t>oxidación</a:t>
            </a:r>
            <a:r>
              <a:rPr lang="es-ES" dirty="0"/>
              <a:t> (con TET2/T4-BGT) se realicen sin afectar las regiones necesarias para la amplificación.</a:t>
            </a:r>
          </a:p>
          <a:p>
            <a:r>
              <a:rPr lang="es-ES" dirty="0"/>
              <a:t>Al final, la librería se </a:t>
            </a:r>
            <a:r>
              <a:rPr lang="es-ES" b="1" dirty="0"/>
              <a:t>amplifica con </a:t>
            </a:r>
            <a:r>
              <a:rPr lang="es-ES" b="1" dirty="0" err="1"/>
              <a:t>primers</a:t>
            </a:r>
            <a:r>
              <a:rPr lang="es-ES" b="1" dirty="0"/>
              <a:t> que reconocen esas secuencias adaptadoras</a:t>
            </a:r>
            <a:r>
              <a:rPr lang="es-ES" dirty="0"/>
              <a:t> y puede ser secuenciada en cualquier secuenciador </a:t>
            </a:r>
            <a:r>
              <a:rPr lang="es-ES" dirty="0" err="1"/>
              <a:t>Illumina</a:t>
            </a:r>
            <a:r>
              <a:rPr lang="es-ES" dirty="0"/>
              <a:t>.</a:t>
            </a:r>
          </a:p>
          <a:p>
            <a:r>
              <a:rPr lang="es-ES" b="1" dirty="0"/>
              <a:t>¿Qué hace la preparación de extremos?</a:t>
            </a:r>
          </a:p>
          <a:p>
            <a:r>
              <a:rPr lang="es-ES" b="1" dirty="0"/>
              <a:t>Relleno de </a:t>
            </a:r>
            <a:r>
              <a:rPr lang="es-ES" b="1" dirty="0" err="1"/>
              <a:t>protusiones</a:t>
            </a:r>
            <a:r>
              <a:rPr lang="es-ES" b="1" dirty="0"/>
              <a:t> 5′</a:t>
            </a:r>
            <a:r>
              <a:rPr lang="es-ES" dirty="0"/>
              <a:t> → la ADN polimerasa rellena bases faltantes.</a:t>
            </a:r>
          </a:p>
          <a:p>
            <a:r>
              <a:rPr lang="es-ES" b="1" dirty="0"/>
              <a:t>Eliminación de </a:t>
            </a:r>
            <a:r>
              <a:rPr lang="es-ES" b="1" dirty="0" err="1"/>
              <a:t>protusiones</a:t>
            </a:r>
            <a:r>
              <a:rPr lang="es-ES" b="1" dirty="0"/>
              <a:t> 3′</a:t>
            </a:r>
            <a:r>
              <a:rPr lang="es-ES" dirty="0"/>
              <a:t> → la exonucleasa corta bases extra.</a:t>
            </a:r>
          </a:p>
          <a:p>
            <a:r>
              <a:rPr lang="es-ES" dirty="0"/>
              <a:t>Resultado: todos los fragmentos terminan en </a:t>
            </a:r>
            <a:r>
              <a:rPr lang="es-ES" b="1" dirty="0"/>
              <a:t>extremos romos</a:t>
            </a:r>
            <a:r>
              <a:rPr lang="es-ES" dirty="0"/>
              <a:t> (</a:t>
            </a:r>
            <a:r>
              <a:rPr lang="es-ES" dirty="0" err="1"/>
              <a:t>blunt</a:t>
            </a:r>
            <a:r>
              <a:rPr lang="es-ES" dirty="0"/>
              <a:t> </a:t>
            </a:r>
            <a:r>
              <a:rPr lang="es-ES" dirty="0" err="1"/>
              <a:t>ends</a:t>
            </a:r>
            <a:r>
              <a:rPr lang="es-ES" dirty="0"/>
              <a:t>).</a:t>
            </a:r>
          </a:p>
          <a:p>
            <a:r>
              <a:rPr lang="es-ES" dirty="0"/>
              <a:t>Luego se hace el </a:t>
            </a:r>
            <a:r>
              <a:rPr lang="es-ES" b="1" dirty="0"/>
              <a:t>A-</a:t>
            </a:r>
            <a:r>
              <a:rPr lang="es-ES" b="1" dirty="0" err="1"/>
              <a:t>tailing</a:t>
            </a:r>
            <a:r>
              <a:rPr lang="es-ES" b="1" dirty="0"/>
              <a:t> (</a:t>
            </a:r>
            <a:r>
              <a:rPr lang="es-ES" b="1" dirty="0" err="1"/>
              <a:t>adenilación</a:t>
            </a:r>
            <a:r>
              <a:rPr lang="es-ES" b="1" dirty="0"/>
              <a:t> en 3′)</a:t>
            </a:r>
            <a:r>
              <a:rPr lang="es-ES" dirty="0"/>
              <a:t>:</a:t>
            </a:r>
          </a:p>
          <a:p>
            <a:r>
              <a:rPr lang="es-ES" dirty="0"/>
              <a:t>Se agrega una adenina (A) extra en el extremo 3′ de cada fragmento.</a:t>
            </a:r>
          </a:p>
          <a:p>
            <a:r>
              <a:rPr lang="es-ES" dirty="0"/>
              <a:t>Esto prepara al fragmento para ligarse con los </a:t>
            </a:r>
            <a:r>
              <a:rPr lang="es-ES" b="1" dirty="0"/>
              <a:t>adaptadores que tienen una T complementaria en el extremo 5′</a:t>
            </a:r>
            <a:r>
              <a:rPr lang="es-ES" dirty="0"/>
              <a:t>.</a:t>
            </a:r>
          </a:p>
          <a:p>
            <a:pPr marL="0" lvl="0" indent="0" algn="l" rtl="0">
              <a:spcBef>
                <a:spcPts val="0"/>
              </a:spcBef>
              <a:spcAft>
                <a:spcPts val="0"/>
              </a:spcAft>
              <a:buNone/>
            </a:pPr>
            <a:endParaRPr lang="es-ES" dirty="0"/>
          </a:p>
          <a:p>
            <a:pPr marL="0" lvl="0" indent="0" algn="l" rtl="0">
              <a:spcBef>
                <a:spcPts val="0"/>
              </a:spcBef>
              <a:spcAft>
                <a:spcPts val="0"/>
              </a:spcAft>
              <a:buNone/>
            </a:pPr>
            <a:endParaRPr dirty="0"/>
          </a:p>
        </p:txBody>
      </p:sp>
      <p:sp>
        <p:nvSpPr>
          <p:cNvPr id="326" name="Google Shape;326;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0" name="Google Shape;360;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9" name="Google Shape;369;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2" name="Google Shape;412;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3" name="Google Shape;423;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4" name="Google Shape;434;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E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 name="Google Shape;22;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
        <p:cNvGrpSpPr/>
        <p:nvPr/>
      </p:nvGrpSpPr>
      <p:grpSpPr>
        <a:xfrm>
          <a:off x="0" y="0"/>
          <a:ext cx="0" cy="0"/>
          <a:chOff x="0" y="0"/>
          <a:chExt cx="0" cy="0"/>
        </a:xfrm>
      </p:grpSpPr>
      <p:sp>
        <p:nvSpPr>
          <p:cNvPr id="26" name="Google Shape;26;p35"/>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3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8" name="Google Shape;28;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3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3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3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3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3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3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3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3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4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4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4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4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41"/>
          <p:cNvSpPr>
            <a:spLocks noGrp="1"/>
          </p:cNvSpPr>
          <p:nvPr>
            <p:ph type="pic" idx="2"/>
          </p:nvPr>
        </p:nvSpPr>
        <p:spPr>
          <a:xfrm>
            <a:off x="1792288" y="612775"/>
            <a:ext cx="5486400" cy="4114800"/>
          </a:xfrm>
          <a:prstGeom prst="rect">
            <a:avLst/>
          </a:prstGeom>
          <a:noFill/>
          <a:ln>
            <a:noFill/>
          </a:ln>
        </p:spPr>
        <p:txBody>
          <a:bodyPr/>
          <a:lstStyle/>
          <a:p>
            <a:endParaRPr lang="es-ES"/>
          </a:p>
        </p:txBody>
      </p:sp>
      <p:sp>
        <p:nvSpPr>
          <p:cNvPr id="68" name="Google Shape;68;p4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42"/>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hyperlink" Target="http://dx.doi.org/10.3390/jcm9051273"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8.jpe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image" Target="../media/image9.png"/><Relationship Id="rId4" Type="http://schemas.openxmlformats.org/officeDocument/2006/relationships/hyperlink" Target="http://dx.doi.org/10.1146/annurev-immunol-030409-101225"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encyclopedia.pub/entry/44048"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png"/><Relationship Id="rId4" Type="http://schemas.openxmlformats.org/officeDocument/2006/relationships/image" Target="../media/image1.jp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2.png"/><Relationship Id="rId4" Type="http://schemas.openxmlformats.org/officeDocument/2006/relationships/image" Target="../media/image1.jp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2.png"/><Relationship Id="rId4" Type="http://schemas.openxmlformats.org/officeDocument/2006/relationships/image" Target="../media/image1.jp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png"/><Relationship Id="rId4" Type="http://schemas.openxmlformats.org/officeDocument/2006/relationships/image" Target="../media/image1.jpg"/></Relationships>
</file>

<file path=ppt/slides/_rels/slide1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22.png"/><Relationship Id="rId7"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g"/></Relationships>
</file>

<file path=ppt/slides/_rels/slide1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28.png"/><Relationship Id="rId7"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34.jpeg"/><Relationship Id="rId7" Type="http://schemas.openxmlformats.org/officeDocument/2006/relationships/diagramLayout" Target="../diagrams/layout1.xm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diagramData" Target="../diagrams/data1.xml"/><Relationship Id="rId5" Type="http://schemas.openxmlformats.org/officeDocument/2006/relationships/image" Target="../media/image2.png"/><Relationship Id="rId10" Type="http://schemas.microsoft.com/office/2007/relationships/diagramDrawing" Target="../diagrams/drawing1.xml"/><Relationship Id="rId4" Type="http://schemas.openxmlformats.org/officeDocument/2006/relationships/image" Target="../media/image1.jpg"/><Relationship Id="rId9" Type="http://schemas.openxmlformats.org/officeDocument/2006/relationships/diagramColors" Target="../diagrams/colors1.xml"/></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g"/></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1.jp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jpe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5.png"/><Relationship Id="rId11" Type="http://schemas.openxmlformats.org/officeDocument/2006/relationships/image" Target="../media/image50.jpe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 Id="rId14" Type="http://schemas.openxmlformats.org/officeDocument/2006/relationships/image" Target="../media/image2.png"/></Relationships>
</file>

<file path=ppt/slides/_rels/slide21.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18" Type="http://schemas.openxmlformats.org/officeDocument/2006/relationships/image" Target="../media/image67.png"/><Relationship Id="rId3" Type="http://schemas.openxmlformats.org/officeDocument/2006/relationships/image" Target="../media/image52.png"/><Relationship Id="rId21" Type="http://schemas.openxmlformats.org/officeDocument/2006/relationships/image" Target="../media/image1.jpg"/><Relationship Id="rId7" Type="http://schemas.openxmlformats.org/officeDocument/2006/relationships/image" Target="../media/image56.png"/><Relationship Id="rId12" Type="http://schemas.openxmlformats.org/officeDocument/2006/relationships/image" Target="../media/image61.png"/><Relationship Id="rId17" Type="http://schemas.openxmlformats.org/officeDocument/2006/relationships/image" Target="../media/image66.png"/><Relationship Id="rId2" Type="http://schemas.openxmlformats.org/officeDocument/2006/relationships/notesSlide" Target="../notesSlides/notesSlide19.xml"/><Relationship Id="rId16" Type="http://schemas.openxmlformats.org/officeDocument/2006/relationships/image" Target="../media/image65.png"/><Relationship Id="rId20" Type="http://schemas.openxmlformats.org/officeDocument/2006/relationships/image" Target="../media/image69.png"/><Relationship Id="rId1" Type="http://schemas.openxmlformats.org/officeDocument/2006/relationships/slideLayout" Target="../slideLayouts/slideLayout1.xml"/><Relationship Id="rId6" Type="http://schemas.openxmlformats.org/officeDocument/2006/relationships/image" Target="../media/image55.png"/><Relationship Id="rId11" Type="http://schemas.openxmlformats.org/officeDocument/2006/relationships/image" Target="../media/image60.png"/><Relationship Id="rId5" Type="http://schemas.openxmlformats.org/officeDocument/2006/relationships/image" Target="../media/image54.png"/><Relationship Id="rId15" Type="http://schemas.openxmlformats.org/officeDocument/2006/relationships/image" Target="../media/image64.png"/><Relationship Id="rId10" Type="http://schemas.openxmlformats.org/officeDocument/2006/relationships/image" Target="../media/image59.png"/><Relationship Id="rId19" Type="http://schemas.openxmlformats.org/officeDocument/2006/relationships/image" Target="../media/image68.png"/><Relationship Id="rId4" Type="http://schemas.openxmlformats.org/officeDocument/2006/relationships/image" Target="../media/image53.png"/><Relationship Id="rId9" Type="http://schemas.openxmlformats.org/officeDocument/2006/relationships/image" Target="../media/image58.png"/><Relationship Id="rId14" Type="http://schemas.openxmlformats.org/officeDocument/2006/relationships/image" Target="../media/image63.png"/><Relationship Id="rId22"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image" Target="../media/image71.png"/></Relationships>
</file>

<file path=ppt/slides/_rels/slide23.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10" Type="http://schemas.openxmlformats.org/officeDocument/2006/relationships/image" Target="../media/image2.png"/><Relationship Id="rId4" Type="http://schemas.openxmlformats.org/officeDocument/2006/relationships/diagramLayout" Target="../diagrams/layout2.xml"/><Relationship Id="rId9" Type="http://schemas.openxmlformats.org/officeDocument/2006/relationships/image" Target="../media/image1.jpg"/></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73.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chart" Target="../charts/chart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g"/></Relationships>
</file>

<file path=ppt/slides/_rels/slide26.xml.rels><?xml version="1.0" encoding="UTF-8" standalone="yes"?>
<Relationships xmlns="http://schemas.openxmlformats.org/package/2006/relationships"><Relationship Id="rId3" Type="http://schemas.openxmlformats.org/officeDocument/2006/relationships/image" Target="../media/image75.png"/><Relationship Id="rId7"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image" Target="../media/image77.png"/><Relationship Id="rId4" Type="http://schemas.openxmlformats.org/officeDocument/2006/relationships/image" Target="../media/image76.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78.png"/><Relationship Id="rId7"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g"/></Relationships>
</file>

<file path=ppt/slides/_rels/slide3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
        <p:cNvGrpSpPr/>
        <p:nvPr/>
      </p:nvGrpSpPr>
      <p:grpSpPr>
        <a:xfrm>
          <a:off x="0" y="0"/>
          <a:ext cx="0" cy="0"/>
          <a:chOff x="0" y="0"/>
          <a:chExt cx="0" cy="0"/>
        </a:xfrm>
      </p:grpSpPr>
      <p:sp>
        <p:nvSpPr>
          <p:cNvPr id="90" name="Google Shape;90;p1"/>
          <p:cNvSpPr txBox="1"/>
          <p:nvPr/>
        </p:nvSpPr>
        <p:spPr>
          <a:xfrm>
            <a:off x="1039174" y="2765770"/>
            <a:ext cx="16209652" cy="3376486"/>
          </a:xfrm>
          <a:prstGeom prst="rect">
            <a:avLst/>
          </a:prstGeom>
          <a:noFill/>
          <a:ln>
            <a:noFill/>
          </a:ln>
        </p:spPr>
        <p:txBody>
          <a:bodyPr spcFirstLastPara="1" wrap="square" lIns="91425" tIns="45700" rIns="91425" bIns="45700" anchor="ctr" anchorCtr="0">
            <a:normAutofit/>
          </a:bodyPr>
          <a:lstStyle/>
          <a:p>
            <a:pPr marL="0" marR="0" lvl="0" indent="0" algn="ctr" rtl="0">
              <a:spcBef>
                <a:spcPts val="0"/>
              </a:spcBef>
              <a:spcAft>
                <a:spcPts val="0"/>
              </a:spcAft>
              <a:buNone/>
            </a:pPr>
            <a:r>
              <a:rPr lang="en-US" sz="4400" b="1" i="0" u="none" strike="noStrike" cap="none" dirty="0">
                <a:solidFill>
                  <a:schemeClr val="tx1">
                    <a:lumMod val="75000"/>
                    <a:lumOff val="25000"/>
                  </a:schemeClr>
                </a:solidFill>
                <a:latin typeface="Source Sans Pro" panose="020B0503030403020204" pitchFamily="34" charset="0"/>
                <a:ea typeface="Source Sans Pro" panose="020B0503030403020204" pitchFamily="34" charset="0"/>
                <a:cs typeface="Open Sans" panose="020B0606030504020204" pitchFamily="34" charset="0"/>
                <a:sym typeface="Calibri"/>
              </a:rPr>
              <a:t>PATRONES DE METILACIÓN DEL ADN Y NIVELES DE INMUNOGLOBULINA A SECRETORA (</a:t>
            </a:r>
            <a:r>
              <a:rPr lang="en-US" sz="4400" b="1" i="0" u="none" strike="noStrike" cap="none" dirty="0" err="1">
                <a:solidFill>
                  <a:schemeClr val="tx1">
                    <a:lumMod val="75000"/>
                    <a:lumOff val="25000"/>
                  </a:schemeClr>
                </a:solidFill>
                <a:latin typeface="Source Sans Pro" panose="020B0503030403020204" pitchFamily="34" charset="0"/>
                <a:ea typeface="Source Sans Pro" panose="020B0503030403020204" pitchFamily="34" charset="0"/>
                <a:cs typeface="Open Sans" panose="020B0606030504020204" pitchFamily="34" charset="0"/>
                <a:sym typeface="Calibri"/>
              </a:rPr>
              <a:t>SIgA</a:t>
            </a:r>
            <a:r>
              <a:rPr lang="en-US" sz="4400" b="1" i="0" u="none" strike="noStrike" cap="none" dirty="0">
                <a:solidFill>
                  <a:schemeClr val="tx1">
                    <a:lumMod val="75000"/>
                    <a:lumOff val="25000"/>
                  </a:schemeClr>
                </a:solidFill>
                <a:latin typeface="Source Sans Pro" panose="020B0503030403020204" pitchFamily="34" charset="0"/>
                <a:ea typeface="Source Sans Pro" panose="020B0503030403020204" pitchFamily="34" charset="0"/>
                <a:cs typeface="Open Sans" panose="020B0606030504020204" pitchFamily="34" charset="0"/>
                <a:sym typeface="Calibri"/>
              </a:rPr>
              <a:t>) EN LA PROGRESIÓN DE CÁNCER COLORRECTAL: UN ENFOQUE EPIGENÉTICO DESDE LA COLITIS ULCERATIVA</a:t>
            </a:r>
            <a:endParaRPr sz="4400" b="1" dirty="0">
              <a:solidFill>
                <a:schemeClr val="tx1">
                  <a:lumMod val="75000"/>
                  <a:lumOff val="25000"/>
                </a:schemeClr>
              </a:solidFill>
              <a:latin typeface="Source Sans Pro" panose="020B0503030403020204" pitchFamily="34" charset="0"/>
              <a:ea typeface="Source Sans Pro" panose="020B0503030403020204" pitchFamily="34" charset="0"/>
              <a:cs typeface="Open Sans" panose="020B0606030504020204" pitchFamily="34" charset="0"/>
              <a:sym typeface="Calibri"/>
            </a:endParaRPr>
          </a:p>
        </p:txBody>
      </p:sp>
      <p:sp>
        <p:nvSpPr>
          <p:cNvPr id="91" name="Google Shape;91;p1"/>
          <p:cNvSpPr txBox="1"/>
          <p:nvPr/>
        </p:nvSpPr>
        <p:spPr>
          <a:xfrm>
            <a:off x="4357950" y="6860748"/>
            <a:ext cx="9572100" cy="2769949"/>
          </a:xfrm>
          <a:prstGeom prst="rect">
            <a:avLst/>
          </a:prstGeom>
          <a:noFill/>
          <a:ln>
            <a:noFill/>
          </a:ln>
        </p:spPr>
        <p:txBody>
          <a:bodyPr spcFirstLastPara="1" wrap="square" lIns="91425" tIns="45700" rIns="91425" bIns="45700" anchor="t" anchorCtr="0">
            <a:spAutoFit/>
          </a:bodyPr>
          <a:lstStyle/>
          <a:p>
            <a:pPr marL="0" marR="0" lvl="0" indent="0" algn="ctr" rtl="0">
              <a:spcBef>
                <a:spcPts val="100"/>
              </a:spcBef>
              <a:spcAft>
                <a:spcPts val="100"/>
              </a:spcAft>
              <a:buNone/>
            </a:pPr>
            <a:r>
              <a:rPr lang="en-US" sz="2400" b="1" i="0" u="none" strike="noStrike" cap="none" dirty="0">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rPr>
              <a:t>Angie Alejandra Benavides Rojas</a:t>
            </a:r>
            <a:endParaRPr sz="800" b="1" i="0" u="none" strike="noStrike" cap="none" dirty="0">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endParaRPr>
          </a:p>
          <a:p>
            <a:pPr marL="0" lvl="0" indent="0" algn="ctr" rtl="0">
              <a:spcBef>
                <a:spcPts val="100"/>
              </a:spcBef>
              <a:spcAft>
                <a:spcPts val="100"/>
              </a:spcAft>
              <a:buClr>
                <a:schemeClr val="dk1"/>
              </a:buClr>
              <a:buFont typeface="Arial"/>
              <a:buNone/>
            </a:pPr>
            <a:r>
              <a:rPr lang="en-US" sz="2000" dirty="0">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rPr>
              <a:t>Est. </a:t>
            </a:r>
            <a:r>
              <a:rPr lang="en-US" sz="2000" dirty="0" err="1">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rPr>
              <a:t>Maestría</a:t>
            </a:r>
            <a:r>
              <a:rPr lang="en-US" sz="2000" dirty="0">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rPr>
              <a:t> en </a:t>
            </a:r>
            <a:r>
              <a:rPr lang="en-US" sz="2000" dirty="0" err="1">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rPr>
              <a:t>Ciencias</a:t>
            </a:r>
            <a:r>
              <a:rPr lang="en-US" sz="2000" dirty="0">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rPr>
              <a:t> </a:t>
            </a:r>
            <a:r>
              <a:rPr lang="en-US" sz="2000" dirty="0" err="1">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rPr>
              <a:t>Básicas</a:t>
            </a:r>
            <a:r>
              <a:rPr lang="en-US" sz="2000" dirty="0">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rPr>
              <a:t> </a:t>
            </a:r>
            <a:r>
              <a:rPr lang="en-US" sz="2000" dirty="0" err="1">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rPr>
              <a:t>Biomédicas</a:t>
            </a:r>
            <a:endParaRPr lang="en-US" sz="2000" dirty="0">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endParaRPr>
          </a:p>
          <a:p>
            <a:pPr marL="0" lvl="0" indent="0" algn="ctr" rtl="0">
              <a:spcBef>
                <a:spcPts val="100"/>
              </a:spcBef>
              <a:spcAft>
                <a:spcPts val="100"/>
              </a:spcAft>
              <a:buClr>
                <a:schemeClr val="dk1"/>
              </a:buClr>
              <a:buFont typeface="Arial"/>
              <a:buNone/>
            </a:pPr>
            <a:endParaRPr sz="500" dirty="0">
              <a:solidFill>
                <a:schemeClr val="dk1"/>
              </a:solidFill>
              <a:latin typeface="Source Sans Pro" panose="020B0503030403020204" pitchFamily="34" charset="0"/>
              <a:ea typeface="Source Sans Pro" panose="020B0503030403020204" pitchFamily="34" charset="0"/>
              <a:cs typeface="Calibri"/>
              <a:sym typeface="Calibri"/>
            </a:endParaRPr>
          </a:p>
          <a:p>
            <a:pPr marL="0" marR="0" lvl="0" indent="0" algn="ctr" rtl="0">
              <a:spcBef>
                <a:spcPts val="100"/>
              </a:spcBef>
              <a:spcAft>
                <a:spcPts val="100"/>
              </a:spcAft>
              <a:buNone/>
            </a:pPr>
            <a:r>
              <a:rPr lang="en-US" sz="2400" i="0" u="none" strike="noStrike" cap="none" dirty="0">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rPr>
              <a:t>Director - Dra Sandra Perdomo</a:t>
            </a:r>
          </a:p>
          <a:p>
            <a:pPr marL="0" marR="0" lvl="0" indent="0" algn="ctr" rtl="0">
              <a:spcBef>
                <a:spcPts val="100"/>
              </a:spcBef>
              <a:spcAft>
                <a:spcPts val="100"/>
              </a:spcAft>
              <a:buNone/>
            </a:pPr>
            <a:endParaRPr sz="500" dirty="0">
              <a:solidFill>
                <a:schemeClr val="tx1">
                  <a:lumMod val="75000"/>
                  <a:lumOff val="25000"/>
                </a:schemeClr>
              </a:solidFill>
              <a:latin typeface="Source Sans Pro" panose="020B0503030403020204" pitchFamily="34" charset="0"/>
              <a:ea typeface="Source Sans Pro" panose="020B0503030403020204" pitchFamily="34" charset="0"/>
            </a:endParaRPr>
          </a:p>
          <a:p>
            <a:pPr marL="0" marR="0" lvl="0" indent="0" algn="ctr" rtl="0">
              <a:spcBef>
                <a:spcPts val="100"/>
              </a:spcBef>
              <a:spcAft>
                <a:spcPts val="100"/>
              </a:spcAft>
              <a:buNone/>
            </a:pPr>
            <a:r>
              <a:rPr lang="en-US" sz="2400" dirty="0">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rPr>
              <a:t>Co Director -</a:t>
            </a:r>
            <a:r>
              <a:rPr lang="en-US" sz="2400" i="0" u="none" strike="noStrike" cap="none" dirty="0">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rPr>
              <a:t> Dr</a:t>
            </a:r>
            <a:r>
              <a:rPr lang="en-US" sz="2400" dirty="0">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rPr>
              <a:t>a. María</a:t>
            </a:r>
            <a:r>
              <a:rPr lang="en-US" sz="2400" i="0" u="none" strike="noStrike" cap="none" dirty="0">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rPr>
              <a:t> Consuelo Rome</a:t>
            </a:r>
            <a:r>
              <a:rPr lang="en-US" sz="2400" dirty="0">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rPr>
              <a:t>ro</a:t>
            </a:r>
          </a:p>
          <a:p>
            <a:pPr marL="0" marR="0" lvl="0" indent="0" algn="ctr" rtl="0">
              <a:spcBef>
                <a:spcPts val="100"/>
              </a:spcBef>
              <a:spcAft>
                <a:spcPts val="100"/>
              </a:spcAft>
              <a:buNone/>
            </a:pPr>
            <a:endParaRPr sz="500" dirty="0">
              <a:latin typeface="Source Sans Pro" panose="020B0503030403020204" pitchFamily="34" charset="0"/>
              <a:ea typeface="Source Sans Pro" panose="020B0503030403020204" pitchFamily="34" charset="0"/>
            </a:endParaRPr>
          </a:p>
          <a:p>
            <a:pPr marL="0" marR="0" lvl="0" indent="0" algn="ctr" rtl="0">
              <a:spcBef>
                <a:spcPts val="100"/>
              </a:spcBef>
              <a:spcAft>
                <a:spcPts val="100"/>
              </a:spcAft>
              <a:buNone/>
            </a:pPr>
            <a:r>
              <a:rPr lang="en-US" sz="2400" i="0" u="none" strike="noStrike" cap="none" dirty="0">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rPr>
              <a:t>Universidad El Bosque – </a:t>
            </a:r>
            <a:r>
              <a:rPr lang="en-US" sz="2400" i="0" u="none" strike="noStrike" cap="none" dirty="0" err="1">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rPr>
              <a:t>InmuBo</a:t>
            </a:r>
            <a:r>
              <a:rPr lang="en-US" sz="2400" dirty="0">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rPr>
              <a:t> -</a:t>
            </a:r>
            <a:r>
              <a:rPr lang="en-US" sz="2400" i="0" u="none" strike="noStrike" cap="none" dirty="0">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rPr>
              <a:t> Línea de Cancer</a:t>
            </a:r>
            <a:endParaRPr sz="2400" i="0" u="none" strike="noStrike" cap="none" dirty="0">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endParaRPr>
          </a:p>
          <a:p>
            <a:pPr marL="0" marR="0" lvl="0" indent="0" algn="ctr" rtl="0">
              <a:spcBef>
                <a:spcPts val="100"/>
              </a:spcBef>
              <a:spcAft>
                <a:spcPts val="100"/>
              </a:spcAft>
              <a:buNone/>
            </a:pPr>
            <a:r>
              <a:rPr lang="en-US" sz="2400" i="0" u="none" strike="noStrike" cap="none" dirty="0">
                <a:solidFill>
                  <a:schemeClr val="dk1"/>
                </a:solidFill>
                <a:latin typeface="Source Sans Pro" panose="020B0503030403020204" pitchFamily="34" charset="0"/>
                <a:ea typeface="Source Sans Pro" panose="020B0503030403020204" pitchFamily="34" charset="0"/>
                <a:cs typeface="Calibri"/>
                <a:sym typeface="Calibri"/>
              </a:rPr>
              <a:t>2025</a:t>
            </a:r>
            <a:endParaRPr sz="2400" dirty="0">
              <a:latin typeface="Source Sans Pro" panose="020B0503030403020204" pitchFamily="34" charset="0"/>
              <a:ea typeface="Source Sans Pro" panose="020B0503030403020204" pitchFamily="34" charset="0"/>
            </a:endParaRPr>
          </a:p>
        </p:txBody>
      </p:sp>
      <p:pic>
        <p:nvPicPr>
          <p:cNvPr id="93" name="Google Shape;93;p1" descr="No hay ninguna descripción de la foto disponible."/>
          <p:cNvPicPr preferRelativeResize="0"/>
          <p:nvPr/>
        </p:nvPicPr>
        <p:blipFill rotWithShape="1">
          <a:blip r:embed="rId3">
            <a:alphaModFix/>
          </a:blip>
          <a:srcRect l="26238" t="22935" r="26586" b="20031"/>
          <a:stretch>
            <a:fillRect/>
          </a:stretch>
        </p:blipFill>
        <p:spPr>
          <a:xfrm>
            <a:off x="7062812" y="1706240"/>
            <a:ext cx="2166599" cy="910753"/>
          </a:xfrm>
          <a:prstGeom prst="rect">
            <a:avLst/>
          </a:prstGeom>
          <a:noFill/>
          <a:ln>
            <a:noFill/>
          </a:ln>
        </p:spPr>
      </p:pic>
      <p:pic>
        <p:nvPicPr>
          <p:cNvPr id="94" name="Google Shape;94;p1" descr="Universidad El Bosque in Colombia : Reviews &amp; Rankings | Student ..."/>
          <p:cNvPicPr preferRelativeResize="0"/>
          <p:nvPr/>
        </p:nvPicPr>
        <p:blipFill rotWithShape="1">
          <a:blip r:embed="rId4">
            <a:alphaModFix/>
          </a:blip>
          <a:srcRect l="14020" t="34765" r="17993" b="25071"/>
          <a:stretch>
            <a:fillRect/>
          </a:stretch>
        </p:blipFill>
        <p:spPr>
          <a:xfrm>
            <a:off x="6532162" y="730919"/>
            <a:ext cx="3227900" cy="1117070"/>
          </a:xfrm>
          <a:prstGeom prst="rect">
            <a:avLst/>
          </a:prstGeom>
          <a:noFill/>
          <a:ln>
            <a:noFill/>
          </a:ln>
        </p:spPr>
      </p:pic>
      <p:pic>
        <p:nvPicPr>
          <p:cNvPr id="1026" name="Picture 2" descr="DNA Structure PNG Image HD | PNG All">
            <a:extLst>
              <a:ext uri="{FF2B5EF4-FFF2-40B4-BE49-F238E27FC236}">
                <a16:creationId xmlns:a16="http://schemas.microsoft.com/office/drawing/2014/main" id="{C01A07D3-0AB1-F5BF-AB9A-77BF7EE49D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0800000">
            <a:off x="1" y="6769510"/>
            <a:ext cx="6532160" cy="5722374"/>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n 2">
            <a:extLst>
              <a:ext uri="{FF2B5EF4-FFF2-40B4-BE49-F238E27FC236}">
                <a16:creationId xmlns:a16="http://schemas.microsoft.com/office/drawing/2014/main" id="{0118A687-31D8-C106-6531-530DD4E35871}"/>
              </a:ext>
            </a:extLst>
          </p:cNvPr>
          <p:cNvPicPr>
            <a:picLocks noChangeAspect="1"/>
          </p:cNvPicPr>
          <p:nvPr/>
        </p:nvPicPr>
        <p:blipFill>
          <a:blip r:embed="rId6"/>
          <a:srcRect l="9915" r="5763" b="13479"/>
          <a:stretch>
            <a:fillRect/>
          </a:stretch>
        </p:blipFill>
        <p:spPr>
          <a:xfrm>
            <a:off x="872837" y="441972"/>
            <a:ext cx="3485114" cy="2010171"/>
          </a:xfrm>
          <a:prstGeom prst="rect">
            <a:avLst/>
          </a:prstGeom>
        </p:spPr>
      </p:pic>
      <p:pic>
        <p:nvPicPr>
          <p:cNvPr id="5" name="Imagen 4">
            <a:extLst>
              <a:ext uri="{FF2B5EF4-FFF2-40B4-BE49-F238E27FC236}">
                <a16:creationId xmlns:a16="http://schemas.microsoft.com/office/drawing/2014/main" id="{66CFD247-A5D8-FBDB-8496-6E665DDB69B2}"/>
              </a:ext>
            </a:extLst>
          </p:cNvPr>
          <p:cNvPicPr>
            <a:picLocks noChangeAspect="1"/>
          </p:cNvPicPr>
          <p:nvPr/>
        </p:nvPicPr>
        <p:blipFill>
          <a:blip r:embed="rId7"/>
          <a:srcRect l="-1770" t="29291" r="1770" b="18511"/>
          <a:stretch>
            <a:fillRect/>
          </a:stretch>
        </p:blipFill>
        <p:spPr>
          <a:xfrm>
            <a:off x="13650322" y="686143"/>
            <a:ext cx="3485114" cy="1994022"/>
          </a:xfrm>
          <a:prstGeom prst="rect">
            <a:avLst/>
          </a:prstGeom>
        </p:spPr>
      </p:pic>
      <p:sp>
        <p:nvSpPr>
          <p:cNvPr id="7" name="CuadroTexto 6">
            <a:extLst>
              <a:ext uri="{FF2B5EF4-FFF2-40B4-BE49-F238E27FC236}">
                <a16:creationId xmlns:a16="http://schemas.microsoft.com/office/drawing/2014/main" id="{C4874D42-D623-1F00-C53D-CD4F295FE32B}"/>
              </a:ext>
            </a:extLst>
          </p:cNvPr>
          <p:cNvSpPr txBox="1"/>
          <p:nvPr/>
        </p:nvSpPr>
        <p:spPr>
          <a:xfrm>
            <a:off x="13650322" y="9103062"/>
            <a:ext cx="2650115" cy="341632"/>
          </a:xfrm>
          <a:prstGeom prst="rect">
            <a:avLst/>
          </a:prstGeom>
          <a:noFill/>
        </p:spPr>
        <p:txBody>
          <a:bodyPr wrap="square">
            <a:spAutoFit/>
          </a:bodyPr>
          <a:lstStyle/>
          <a:p>
            <a:pPr algn="ctr">
              <a:lnSpc>
                <a:spcPct val="90000"/>
              </a:lnSpc>
            </a:pPr>
            <a:r>
              <a:rPr lang="en-US" sz="1800" b="1" kern="1200" dirty="0">
                <a:solidFill>
                  <a:schemeClr val="tx1"/>
                </a:solidFill>
                <a:latin typeface="+mn-lt"/>
                <a:ea typeface="+mn-ea"/>
                <a:cs typeface="+mn-cs"/>
              </a:rPr>
              <a:t>PCI-2024-0016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7" name="Rectángulo 6">
            <a:extLst>
              <a:ext uri="{FF2B5EF4-FFF2-40B4-BE49-F238E27FC236}">
                <a16:creationId xmlns:a16="http://schemas.microsoft.com/office/drawing/2014/main" id="{9388EBEA-DD99-A8DA-A883-2DD88EBD2DF8}"/>
              </a:ext>
            </a:extLst>
          </p:cNvPr>
          <p:cNvSpPr/>
          <p:nvPr/>
        </p:nvSpPr>
        <p:spPr>
          <a:xfrm>
            <a:off x="4063178" y="7079226"/>
            <a:ext cx="10364433" cy="12955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5" name="Google Shape;145;p2"/>
          <p:cNvSpPr/>
          <p:nvPr/>
        </p:nvSpPr>
        <p:spPr>
          <a:xfrm>
            <a:off x="3860389" y="3056098"/>
            <a:ext cx="10567222" cy="4927806"/>
          </a:xfrm>
          <a:custGeom>
            <a:avLst/>
            <a:gdLst/>
            <a:ahLst/>
            <a:cxnLst/>
            <a:rect l="l" t="t" r="r" b="b"/>
            <a:pathLst>
              <a:path w="11694251" h="4518233" extrusionOk="0">
                <a:moveTo>
                  <a:pt x="0" y="0"/>
                </a:moveTo>
                <a:lnTo>
                  <a:pt x="11694251" y="0"/>
                </a:lnTo>
                <a:lnTo>
                  <a:pt x="11694251" y="4518233"/>
                </a:lnTo>
                <a:lnTo>
                  <a:pt x="0" y="4518233"/>
                </a:lnTo>
                <a:lnTo>
                  <a:pt x="0" y="0"/>
                </a:lnTo>
                <a:close/>
              </a:path>
            </a:pathLst>
          </a:custGeom>
          <a:blipFill rotWithShape="1">
            <a:blip r:embed="rId3">
              <a:alphaModFix/>
            </a:blip>
            <a:stretch>
              <a:fillRect l="-1263" t="-5449" r="-1601" b="1984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46" name="Google Shape;146;p2"/>
          <p:cNvSpPr txBox="1"/>
          <p:nvPr/>
        </p:nvSpPr>
        <p:spPr>
          <a:xfrm>
            <a:off x="384350" y="9198092"/>
            <a:ext cx="12999900" cy="473976"/>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100" i="0" strike="noStrike" cap="none" dirty="0">
                <a:solidFill>
                  <a:srgbClr val="000000"/>
                </a:solidFill>
              </a:rPr>
              <a:t>Y</a:t>
            </a:r>
            <a:r>
              <a:rPr lang="en-US" sz="1100" i="0" strike="noStrike" cap="none" dirty="0">
                <a:solidFill>
                  <a:schemeClr val="dk1"/>
                </a:solidFill>
              </a:rPr>
              <a:t>eshi K, Ruscher R, Hunter L, Daly NL, Loukas A, Wangchuk P. Revisiting inflammatory bowel disease: Pathology, treatments, challenges and emerging therapeutics including drug leads from natural products. J Clin Med. 2020;9(5):1273. Disponible en: </a:t>
            </a:r>
            <a:r>
              <a:rPr lang="en-US" sz="1100" i="0" strike="noStrike" cap="none" dirty="0">
                <a:solidFill>
                  <a:schemeClr val="dk1"/>
                </a:solidFill>
                <a:uFill>
                  <a:noFill/>
                </a:uFill>
                <a:hlinkClick r:id="rId4">
                  <a:extLst>
                    <a:ext uri="{A12FA001-AC4F-418D-AE19-62706E023703}">
                      <ahyp:hlinkClr xmlns:ahyp="http://schemas.microsoft.com/office/drawing/2018/hyperlinkcolor" val="tx"/>
                    </a:ext>
                  </a:extLst>
                </a:hlinkClick>
              </a:rPr>
              <a:t>http://dx.doi.org/10.3390/jcm9051273</a:t>
            </a:r>
            <a:endParaRPr lang="en-US" sz="1100" i="0" strike="noStrike" cap="none" dirty="0">
              <a:solidFill>
                <a:schemeClr val="dk1"/>
              </a:solidFill>
              <a:uFill>
                <a:noFill/>
              </a:uFill>
            </a:endParaRPr>
          </a:p>
        </p:txBody>
      </p:sp>
      <p:sp>
        <p:nvSpPr>
          <p:cNvPr id="2" name="CuadroTexto 1">
            <a:extLst>
              <a:ext uri="{FF2B5EF4-FFF2-40B4-BE49-F238E27FC236}">
                <a16:creationId xmlns:a16="http://schemas.microsoft.com/office/drawing/2014/main" id="{BD86CF90-43DD-7663-2729-9E5330462B5B}"/>
              </a:ext>
            </a:extLst>
          </p:cNvPr>
          <p:cNvSpPr txBox="1"/>
          <p:nvPr/>
        </p:nvSpPr>
        <p:spPr>
          <a:xfrm>
            <a:off x="4063178" y="850156"/>
            <a:ext cx="10161644" cy="593111"/>
          </a:xfrm>
          <a:prstGeom prst="rect">
            <a:avLst/>
          </a:prstGeom>
          <a:noFill/>
        </p:spPr>
        <p:txBody>
          <a:bodyPr wrap="square">
            <a:spAutoFit/>
          </a:bodyPr>
          <a:lstStyle/>
          <a:p>
            <a:pPr marL="0" marR="0" lvl="0" indent="0" algn="ctr" rtl="0">
              <a:lnSpc>
                <a:spcPct val="80357"/>
              </a:lnSpc>
              <a:spcBef>
                <a:spcPts val="0"/>
              </a:spcBef>
              <a:spcAft>
                <a:spcPts val="0"/>
              </a:spcAft>
              <a:buClr>
                <a:srgbClr val="1B1B1B"/>
              </a:buClr>
              <a:buSzPts val="2800"/>
              <a:buFont typeface="Calibri"/>
              <a:buNone/>
            </a:pPr>
            <a:r>
              <a:rPr lang="es-ES" sz="4000" b="1" dirty="0">
                <a:solidFill>
                  <a:schemeClr val="tx1">
                    <a:lumMod val="75000"/>
                    <a:lumOff val="25000"/>
                  </a:schemeClr>
                </a:solidFill>
                <a:latin typeface="Calibri"/>
                <a:ea typeface="Calibri"/>
                <a:cs typeface="Calibri"/>
                <a:sym typeface="Calibri"/>
              </a:rPr>
              <a:t>Colitis Ulcerativa</a:t>
            </a:r>
            <a:endParaRPr lang="es-ES" sz="4000" dirty="0">
              <a:solidFill>
                <a:schemeClr val="tx1">
                  <a:lumMod val="75000"/>
                  <a:lumOff val="25000"/>
                </a:schemeClr>
              </a:solidFill>
            </a:endParaRPr>
          </a:p>
        </p:txBody>
      </p:sp>
      <p:sp>
        <p:nvSpPr>
          <p:cNvPr id="4" name="CuadroTexto 3">
            <a:extLst>
              <a:ext uri="{FF2B5EF4-FFF2-40B4-BE49-F238E27FC236}">
                <a16:creationId xmlns:a16="http://schemas.microsoft.com/office/drawing/2014/main" id="{D8646BC8-914B-2CF5-FC82-F2FB89EF0AB5}"/>
              </a:ext>
            </a:extLst>
          </p:cNvPr>
          <p:cNvSpPr txBox="1"/>
          <p:nvPr/>
        </p:nvSpPr>
        <p:spPr>
          <a:xfrm>
            <a:off x="4981267" y="1834184"/>
            <a:ext cx="8325465" cy="830997"/>
          </a:xfrm>
          <a:prstGeom prst="rect">
            <a:avLst/>
          </a:prstGeom>
          <a:noFill/>
        </p:spPr>
        <p:txBody>
          <a:bodyPr wrap="square">
            <a:spAutoFit/>
          </a:bodyPr>
          <a:lstStyle/>
          <a:p>
            <a:pPr marL="0" marR="0" lvl="0" indent="0" algn="ctr" rtl="0">
              <a:spcBef>
                <a:spcPts val="0"/>
              </a:spcBef>
              <a:spcAft>
                <a:spcPts val="0"/>
              </a:spcAft>
              <a:buNone/>
            </a:pPr>
            <a:r>
              <a:rPr lang="en-US" sz="2400" dirty="0" err="1">
                <a:latin typeface="Source Sans Pro" panose="020B0503030403020204" pitchFamily="34" charset="0"/>
                <a:ea typeface="Source Sans Pro" panose="020B0503030403020204" pitchFamily="34" charset="0"/>
              </a:rPr>
              <a:t>Inflamación</a:t>
            </a:r>
            <a:r>
              <a:rPr lang="en-US" sz="2400" dirty="0">
                <a:latin typeface="Source Sans Pro" panose="020B0503030403020204" pitchFamily="34" charset="0"/>
                <a:ea typeface="Source Sans Pro" panose="020B0503030403020204" pitchFamily="34" charset="0"/>
              </a:rPr>
              <a:t> continua de la mucosa</a:t>
            </a:r>
          </a:p>
          <a:p>
            <a:pPr marL="0" marR="0" lvl="0" indent="0" algn="ctr" rtl="0">
              <a:spcBef>
                <a:spcPts val="0"/>
              </a:spcBef>
              <a:spcAft>
                <a:spcPts val="0"/>
              </a:spcAft>
              <a:buNone/>
            </a:pPr>
            <a:r>
              <a:rPr lang="en-US" sz="2400" dirty="0" err="1">
                <a:latin typeface="Source Sans Pro" panose="020B0503030403020204" pitchFamily="34" charset="0"/>
                <a:ea typeface="Source Sans Pro" panose="020B0503030403020204" pitchFamily="34" charset="0"/>
              </a:rPr>
              <a:t>Inicia</a:t>
            </a:r>
            <a:r>
              <a:rPr lang="en-US" sz="2400" dirty="0">
                <a:latin typeface="Source Sans Pro" panose="020B0503030403020204" pitchFamily="34" charset="0"/>
                <a:ea typeface="Source Sans Pro" panose="020B0503030403020204" pitchFamily="34" charset="0"/>
              </a:rPr>
              <a:t> en </a:t>
            </a:r>
            <a:r>
              <a:rPr lang="en-US" sz="2400" dirty="0" err="1">
                <a:latin typeface="Source Sans Pro" panose="020B0503030403020204" pitchFamily="34" charset="0"/>
                <a:ea typeface="Source Sans Pro" panose="020B0503030403020204" pitchFamily="34" charset="0"/>
              </a:rPr>
              <a:t>el</a:t>
            </a:r>
            <a:r>
              <a:rPr lang="en-US" sz="2400" dirty="0">
                <a:latin typeface="Source Sans Pro" panose="020B0503030403020204" pitchFamily="34" charset="0"/>
                <a:ea typeface="Source Sans Pro" panose="020B0503030403020204" pitchFamily="34" charset="0"/>
              </a:rPr>
              <a:t> recto – se </a:t>
            </a:r>
            <a:r>
              <a:rPr lang="en-US" sz="2400" dirty="0" err="1">
                <a:latin typeface="Source Sans Pro" panose="020B0503030403020204" pitchFamily="34" charset="0"/>
                <a:ea typeface="Source Sans Pro" panose="020B0503030403020204" pitchFamily="34" charset="0"/>
              </a:rPr>
              <a:t>extiende</a:t>
            </a:r>
            <a:r>
              <a:rPr lang="en-US" sz="2400" dirty="0">
                <a:latin typeface="Source Sans Pro" panose="020B0503030403020204" pitchFamily="34" charset="0"/>
                <a:ea typeface="Source Sans Pro" panose="020B0503030403020204" pitchFamily="34" charset="0"/>
              </a:rPr>
              <a:t> </a:t>
            </a:r>
            <a:r>
              <a:rPr lang="en-US" sz="2400" dirty="0" err="1">
                <a:latin typeface="Source Sans Pro" panose="020B0503030403020204" pitchFamily="34" charset="0"/>
                <a:ea typeface="Source Sans Pro" panose="020B0503030403020204" pitchFamily="34" charset="0"/>
              </a:rPr>
              <a:t>por</a:t>
            </a:r>
            <a:r>
              <a:rPr lang="en-US" sz="2400" dirty="0">
                <a:latin typeface="Source Sans Pro" panose="020B0503030403020204" pitchFamily="34" charset="0"/>
                <a:ea typeface="Source Sans Pro" panose="020B0503030403020204" pitchFamily="34" charset="0"/>
              </a:rPr>
              <a:t> </a:t>
            </a:r>
            <a:r>
              <a:rPr lang="en-US" sz="2400" dirty="0" err="1">
                <a:latin typeface="Source Sans Pro" panose="020B0503030403020204" pitchFamily="34" charset="0"/>
                <a:ea typeface="Source Sans Pro" panose="020B0503030403020204" pitchFamily="34" charset="0"/>
              </a:rPr>
              <a:t>el</a:t>
            </a:r>
            <a:r>
              <a:rPr lang="en-US" sz="2400" dirty="0">
                <a:latin typeface="Source Sans Pro" panose="020B0503030403020204" pitchFamily="34" charset="0"/>
                <a:ea typeface="Source Sans Pro" panose="020B0503030403020204" pitchFamily="34" charset="0"/>
              </a:rPr>
              <a:t> colon</a:t>
            </a:r>
          </a:p>
        </p:txBody>
      </p:sp>
      <p:sp>
        <p:nvSpPr>
          <p:cNvPr id="6" name="CuadroTexto 5">
            <a:extLst>
              <a:ext uri="{FF2B5EF4-FFF2-40B4-BE49-F238E27FC236}">
                <a16:creationId xmlns:a16="http://schemas.microsoft.com/office/drawing/2014/main" id="{92971B1A-AE41-9913-712D-CB4A94493A26}"/>
              </a:ext>
            </a:extLst>
          </p:cNvPr>
          <p:cNvSpPr txBox="1"/>
          <p:nvPr/>
        </p:nvSpPr>
        <p:spPr>
          <a:xfrm>
            <a:off x="3961782" y="7463782"/>
            <a:ext cx="10364433" cy="477054"/>
          </a:xfrm>
          <a:prstGeom prst="rect">
            <a:avLst/>
          </a:prstGeom>
          <a:noFill/>
        </p:spPr>
        <p:txBody>
          <a:bodyPr wrap="square" rtlCol="0">
            <a:spAutoFit/>
          </a:bodyPr>
          <a:lstStyle/>
          <a:p>
            <a:pPr algn="ctr"/>
            <a:r>
              <a:rPr lang="es-ES" sz="2500" dirty="0">
                <a:latin typeface="Source Sans Pro" panose="020B0503030403020204" pitchFamily="34" charset="0"/>
                <a:ea typeface="Source Sans Pro" panose="020B0503030403020204" pitchFamily="34" charset="0"/>
              </a:rPr>
              <a:t>Hiperactividad tanto de la respuesta inmunitaria innata, como adaptativa</a:t>
            </a:r>
          </a:p>
        </p:txBody>
      </p:sp>
      <p:pic>
        <p:nvPicPr>
          <p:cNvPr id="8" name="Google Shape;93;p1" descr="No hay ninguna descripción de la foto disponible.">
            <a:extLst>
              <a:ext uri="{FF2B5EF4-FFF2-40B4-BE49-F238E27FC236}">
                <a16:creationId xmlns:a16="http://schemas.microsoft.com/office/drawing/2014/main" id="{25D61616-21D1-005A-C545-9CACABCEF354}"/>
              </a:ext>
            </a:extLst>
          </p:cNvPr>
          <p:cNvPicPr preferRelativeResize="0"/>
          <p:nvPr/>
        </p:nvPicPr>
        <p:blipFill rotWithShape="1">
          <a:blip r:embed="rId5">
            <a:alphaModFix/>
          </a:blip>
          <a:srcRect l="26238" t="22935" r="26586" b="20031"/>
          <a:stretch>
            <a:fillRect/>
          </a:stretch>
        </p:blipFill>
        <p:spPr>
          <a:xfrm>
            <a:off x="16103502" y="8990111"/>
            <a:ext cx="1808501" cy="893465"/>
          </a:xfrm>
          <a:prstGeom prst="rect">
            <a:avLst/>
          </a:prstGeom>
          <a:noFill/>
          <a:ln>
            <a:noFill/>
          </a:ln>
        </p:spPr>
      </p:pic>
      <p:pic>
        <p:nvPicPr>
          <p:cNvPr id="9" name="Google Shape;94;p1" descr="Universidad El Bosque in Colombia : Reviews &amp; Rankings | Student ...">
            <a:extLst>
              <a:ext uri="{FF2B5EF4-FFF2-40B4-BE49-F238E27FC236}">
                <a16:creationId xmlns:a16="http://schemas.microsoft.com/office/drawing/2014/main" id="{FDA31C95-8A4A-1382-9789-AD3959B59326}"/>
              </a:ext>
            </a:extLst>
          </p:cNvPr>
          <p:cNvPicPr preferRelativeResize="0"/>
          <p:nvPr/>
        </p:nvPicPr>
        <p:blipFill rotWithShape="1">
          <a:blip r:embed="rId6">
            <a:alphaModFix/>
          </a:blip>
          <a:srcRect l="14020" t="34765" r="17993" b="25071"/>
          <a:stretch>
            <a:fillRect/>
          </a:stretch>
        </p:blipFill>
        <p:spPr>
          <a:xfrm>
            <a:off x="13384250" y="9124991"/>
            <a:ext cx="2497479" cy="76982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DD336501-D36F-61D8-DE0F-F53EB8B15F55}"/>
              </a:ext>
            </a:extLst>
          </p:cNvPr>
          <p:cNvSpPr txBox="1"/>
          <p:nvPr/>
        </p:nvSpPr>
        <p:spPr>
          <a:xfrm>
            <a:off x="2760851" y="392522"/>
            <a:ext cx="10161644" cy="593111"/>
          </a:xfrm>
          <a:prstGeom prst="rect">
            <a:avLst/>
          </a:prstGeom>
          <a:noFill/>
        </p:spPr>
        <p:txBody>
          <a:bodyPr wrap="square">
            <a:spAutoFit/>
          </a:bodyPr>
          <a:lstStyle/>
          <a:p>
            <a:pPr marL="0" marR="0" lvl="0" indent="0" algn="ctr" rtl="0">
              <a:lnSpc>
                <a:spcPct val="80357"/>
              </a:lnSpc>
              <a:spcBef>
                <a:spcPts val="0"/>
              </a:spcBef>
              <a:spcAft>
                <a:spcPts val="0"/>
              </a:spcAft>
              <a:buClr>
                <a:srgbClr val="1B1B1B"/>
              </a:buClr>
              <a:buSzPts val="2800"/>
              <a:buFont typeface="Calibri"/>
              <a:buNone/>
            </a:pPr>
            <a:r>
              <a:rPr lang="es-ES" sz="4000" b="1" dirty="0">
                <a:solidFill>
                  <a:schemeClr val="tx1">
                    <a:lumMod val="75000"/>
                    <a:lumOff val="25000"/>
                  </a:schemeClr>
                </a:solidFill>
                <a:latin typeface="Calibri"/>
                <a:ea typeface="Calibri"/>
                <a:cs typeface="Calibri"/>
                <a:sym typeface="Calibri"/>
              </a:rPr>
              <a:t>Fisiopatología</a:t>
            </a:r>
            <a:endParaRPr lang="es-ES" sz="4000" dirty="0">
              <a:solidFill>
                <a:schemeClr val="tx1">
                  <a:lumMod val="75000"/>
                  <a:lumOff val="25000"/>
                </a:schemeClr>
              </a:solidFill>
            </a:endParaRPr>
          </a:p>
        </p:txBody>
      </p:sp>
      <p:sp>
        <p:nvSpPr>
          <p:cNvPr id="6" name="CuadroTexto 5">
            <a:extLst>
              <a:ext uri="{FF2B5EF4-FFF2-40B4-BE49-F238E27FC236}">
                <a16:creationId xmlns:a16="http://schemas.microsoft.com/office/drawing/2014/main" id="{EA372F0A-4D42-3D14-566F-5A0CB573CB06}"/>
              </a:ext>
            </a:extLst>
          </p:cNvPr>
          <p:cNvSpPr txBox="1"/>
          <p:nvPr/>
        </p:nvSpPr>
        <p:spPr>
          <a:xfrm>
            <a:off x="125361" y="9571977"/>
            <a:ext cx="18037277" cy="609975"/>
          </a:xfrm>
          <a:prstGeom prst="rect">
            <a:avLst/>
          </a:prstGeom>
          <a:noFill/>
        </p:spPr>
        <p:txBody>
          <a:bodyPr wrap="square">
            <a:spAutoFit/>
          </a:bodyPr>
          <a:lstStyle/>
          <a:p>
            <a:r>
              <a:rPr lang="es-ES" sz="1000" dirty="0" err="1"/>
              <a:t>Kałużna</a:t>
            </a:r>
            <a:r>
              <a:rPr lang="es-ES" sz="1000" dirty="0"/>
              <a:t> A, </a:t>
            </a:r>
            <a:r>
              <a:rPr lang="es-ES" sz="1000" dirty="0" err="1"/>
              <a:t>Olczyk</a:t>
            </a:r>
            <a:r>
              <a:rPr lang="es-ES" sz="1000" dirty="0"/>
              <a:t> P, </a:t>
            </a:r>
            <a:r>
              <a:rPr lang="es-ES" sz="1000" dirty="0" err="1"/>
              <a:t>Komosińska-Vassev</a:t>
            </a:r>
            <a:r>
              <a:rPr lang="es-ES" sz="1000" dirty="0"/>
              <a:t> K. </a:t>
            </a:r>
            <a:r>
              <a:rPr lang="es-ES" sz="1000" dirty="0" err="1"/>
              <a:t>The</a:t>
            </a:r>
            <a:r>
              <a:rPr lang="es-ES" sz="1000" dirty="0"/>
              <a:t> Role </a:t>
            </a:r>
            <a:r>
              <a:rPr lang="es-ES" sz="1000" dirty="0" err="1"/>
              <a:t>of</a:t>
            </a:r>
            <a:r>
              <a:rPr lang="es-ES" sz="1000" dirty="0"/>
              <a:t> Innate and Adaptive </a:t>
            </a:r>
            <a:r>
              <a:rPr lang="es-ES" sz="1000" dirty="0" err="1"/>
              <a:t>Immune</a:t>
            </a:r>
            <a:r>
              <a:rPr lang="es-ES" sz="1000" dirty="0"/>
              <a:t> </a:t>
            </a:r>
            <a:r>
              <a:rPr lang="es-ES" sz="1000" dirty="0" err="1"/>
              <a:t>Cells</a:t>
            </a:r>
            <a:r>
              <a:rPr lang="es-ES" sz="1000" dirty="0"/>
              <a:t> in </a:t>
            </a:r>
            <a:r>
              <a:rPr lang="es-ES" sz="1000" dirty="0" err="1"/>
              <a:t>the</a:t>
            </a:r>
            <a:r>
              <a:rPr lang="es-ES" sz="1000" dirty="0"/>
              <a:t> </a:t>
            </a:r>
            <a:r>
              <a:rPr lang="es-ES" sz="1000" dirty="0" err="1"/>
              <a:t>Pathogenesis</a:t>
            </a:r>
            <a:r>
              <a:rPr lang="es-ES" sz="1000" dirty="0"/>
              <a:t> and </a:t>
            </a:r>
            <a:r>
              <a:rPr lang="es-ES" sz="1000" dirty="0" err="1"/>
              <a:t>Development</a:t>
            </a:r>
            <a:r>
              <a:rPr lang="es-ES" sz="1000" dirty="0"/>
              <a:t> </a:t>
            </a:r>
            <a:r>
              <a:rPr lang="es-ES" sz="1000" dirty="0" err="1"/>
              <a:t>of</a:t>
            </a:r>
            <a:r>
              <a:rPr lang="es-ES" sz="1000" dirty="0"/>
              <a:t> </a:t>
            </a:r>
            <a:r>
              <a:rPr lang="es-ES" sz="1000" dirty="0" err="1"/>
              <a:t>the</a:t>
            </a:r>
            <a:r>
              <a:rPr lang="es-ES" sz="1000" dirty="0"/>
              <a:t> </a:t>
            </a:r>
            <a:r>
              <a:rPr lang="es-ES" sz="1000" dirty="0" err="1"/>
              <a:t>Inflammatory</a:t>
            </a:r>
            <a:r>
              <a:rPr lang="es-ES" sz="1000" dirty="0"/>
              <a:t> Response in Ulcerative Colitis. </a:t>
            </a:r>
            <a:r>
              <a:rPr lang="es-ES" sz="1000" dirty="0" err="1"/>
              <a:t>Journal</a:t>
            </a:r>
            <a:r>
              <a:rPr lang="es-ES" sz="1000" dirty="0"/>
              <a:t> </a:t>
            </a:r>
            <a:r>
              <a:rPr lang="es-ES" sz="1000" dirty="0" err="1"/>
              <a:t>of</a:t>
            </a:r>
            <a:r>
              <a:rPr lang="es-ES" sz="1000" dirty="0"/>
              <a:t> </a:t>
            </a:r>
            <a:r>
              <a:rPr lang="es-ES" sz="1000" dirty="0" err="1"/>
              <a:t>Clinical</a:t>
            </a:r>
            <a:r>
              <a:rPr lang="es-ES" sz="1000" dirty="0"/>
              <a:t> Medicine [Internet]. 2022 Jan 13;11(2):400. </a:t>
            </a:r>
            <a:r>
              <a:rPr lang="es-ES" sz="1000" dirty="0" err="1"/>
              <a:t>Available</a:t>
            </a:r>
            <a:r>
              <a:rPr lang="es-ES" sz="1000" dirty="0"/>
              <a:t> </a:t>
            </a:r>
            <a:r>
              <a:rPr lang="es-ES" sz="1000" dirty="0" err="1"/>
              <a:t>from</a:t>
            </a:r>
            <a:r>
              <a:rPr lang="es-ES" sz="1000" dirty="0"/>
              <a:t>: https://www.ncbi.nlm.nih.gov/pmc/articles/PMC8780689/</a:t>
            </a:r>
          </a:p>
          <a:p>
            <a:r>
              <a:rPr lang="es-ES" sz="1000" dirty="0"/>
              <a:t>‌</a:t>
            </a:r>
          </a:p>
          <a:p>
            <a:pPr marL="0" marR="0" lvl="0" indent="0" algn="l" rtl="0">
              <a:lnSpc>
                <a:spcPct val="140000"/>
              </a:lnSpc>
              <a:spcBef>
                <a:spcPts val="0"/>
              </a:spcBef>
              <a:spcAft>
                <a:spcPts val="0"/>
              </a:spcAft>
              <a:buNone/>
            </a:pPr>
            <a:endParaRPr lang="en-US" sz="1100" dirty="0">
              <a:solidFill>
                <a:schemeClr val="dk1"/>
              </a:solidFill>
            </a:endParaRPr>
          </a:p>
        </p:txBody>
      </p:sp>
      <p:sp>
        <p:nvSpPr>
          <p:cNvPr id="7" name="CuadroTexto 6">
            <a:extLst>
              <a:ext uri="{FF2B5EF4-FFF2-40B4-BE49-F238E27FC236}">
                <a16:creationId xmlns:a16="http://schemas.microsoft.com/office/drawing/2014/main" id="{996BD344-A4C0-9E0D-29E9-55D3039BBAEA}"/>
              </a:ext>
            </a:extLst>
          </p:cNvPr>
          <p:cNvSpPr txBox="1"/>
          <p:nvPr/>
        </p:nvSpPr>
        <p:spPr>
          <a:xfrm>
            <a:off x="2774705" y="8900429"/>
            <a:ext cx="11345198" cy="461665"/>
          </a:xfrm>
          <a:prstGeom prst="rect">
            <a:avLst/>
          </a:prstGeom>
          <a:noFill/>
        </p:spPr>
        <p:txBody>
          <a:bodyPr wrap="square">
            <a:spAutoFit/>
          </a:bodyPr>
          <a:lstStyle/>
          <a:p>
            <a:pPr marL="0" marR="0" lvl="0" indent="0" algn="ctr" rtl="0">
              <a:spcBef>
                <a:spcPts val="0"/>
              </a:spcBef>
              <a:spcAft>
                <a:spcPts val="0"/>
              </a:spcAft>
              <a:buNone/>
            </a:pPr>
            <a:r>
              <a:rPr lang="en-US" sz="2400" i="1" dirty="0" err="1">
                <a:latin typeface="Source Sans Pro" panose="020B0503030403020204" pitchFamily="34" charset="0"/>
                <a:ea typeface="Source Sans Pro" panose="020B0503030403020204" pitchFamily="34" charset="0"/>
              </a:rPr>
              <a:t>Proliferación</a:t>
            </a:r>
            <a:r>
              <a:rPr lang="en-US" sz="2400" i="1" dirty="0">
                <a:latin typeface="Source Sans Pro" panose="020B0503030403020204" pitchFamily="34" charset="0"/>
                <a:ea typeface="Source Sans Pro" panose="020B0503030403020204" pitchFamily="34" charset="0"/>
              </a:rPr>
              <a:t> </a:t>
            </a:r>
            <a:r>
              <a:rPr lang="en-US" sz="2400" i="1" dirty="0" err="1">
                <a:latin typeface="Source Sans Pro" panose="020B0503030403020204" pitchFamily="34" charset="0"/>
                <a:ea typeface="Source Sans Pro" panose="020B0503030403020204" pitchFamily="34" charset="0"/>
              </a:rPr>
              <a:t>celular</a:t>
            </a:r>
            <a:r>
              <a:rPr lang="en-US" sz="2400" i="1" dirty="0">
                <a:latin typeface="Source Sans Pro" panose="020B0503030403020204" pitchFamily="34" charset="0"/>
                <a:ea typeface="Source Sans Pro" panose="020B0503030403020204" pitchFamily="34" charset="0"/>
              </a:rPr>
              <a:t> </a:t>
            </a:r>
            <a:r>
              <a:rPr lang="en-US" sz="2400" i="1" dirty="0" err="1">
                <a:latin typeface="Source Sans Pro" panose="020B0503030403020204" pitchFamily="34" charset="0"/>
                <a:ea typeface="Source Sans Pro" panose="020B0503030403020204" pitchFamily="34" charset="0"/>
              </a:rPr>
              <a:t>descontrolada</a:t>
            </a:r>
            <a:r>
              <a:rPr lang="en-US" sz="2400" i="1" dirty="0">
                <a:latin typeface="Source Sans Pro" panose="020B0503030403020204" pitchFamily="34" charset="0"/>
                <a:ea typeface="Source Sans Pro" panose="020B0503030403020204" pitchFamily="34" charset="0"/>
              </a:rPr>
              <a:t> </a:t>
            </a:r>
            <a:r>
              <a:rPr lang="en-US" sz="2400" i="1" dirty="0" err="1">
                <a:latin typeface="Source Sans Pro" panose="020B0503030403020204" pitchFamily="34" charset="0"/>
                <a:ea typeface="Source Sans Pro" panose="020B0503030403020204" pitchFamily="34" charset="0"/>
              </a:rPr>
              <a:t>favorece</a:t>
            </a:r>
            <a:r>
              <a:rPr lang="en-US" sz="2400" i="1" dirty="0">
                <a:latin typeface="Source Sans Pro" panose="020B0503030403020204" pitchFamily="34" charset="0"/>
                <a:ea typeface="Source Sans Pro" panose="020B0503030403020204" pitchFamily="34" charset="0"/>
              </a:rPr>
              <a:t> </a:t>
            </a:r>
            <a:r>
              <a:rPr lang="en-US" sz="2400" i="1" dirty="0" err="1">
                <a:latin typeface="Source Sans Pro" panose="020B0503030403020204" pitchFamily="34" charset="0"/>
                <a:ea typeface="Source Sans Pro" panose="020B0503030403020204" pitchFamily="34" charset="0"/>
              </a:rPr>
              <a:t>formación</a:t>
            </a:r>
            <a:r>
              <a:rPr lang="en-US" sz="2400" i="1" dirty="0">
                <a:latin typeface="Source Sans Pro" panose="020B0503030403020204" pitchFamily="34" charset="0"/>
                <a:ea typeface="Source Sans Pro" panose="020B0503030403020204" pitchFamily="34" charset="0"/>
              </a:rPr>
              <a:t> de </a:t>
            </a:r>
            <a:r>
              <a:rPr lang="en-US" sz="2400" i="1" dirty="0" err="1">
                <a:latin typeface="Source Sans Pro" panose="020B0503030403020204" pitchFamily="34" charset="0"/>
                <a:ea typeface="Source Sans Pro" panose="020B0503030403020204" pitchFamily="34" charset="0"/>
              </a:rPr>
              <a:t>tumores</a:t>
            </a:r>
            <a:endParaRPr lang="en-US" sz="2400" i="1" dirty="0">
              <a:latin typeface="Source Sans Pro" panose="020B0503030403020204" pitchFamily="34" charset="0"/>
              <a:ea typeface="Source Sans Pro" panose="020B0503030403020204" pitchFamily="34" charset="0"/>
            </a:endParaRPr>
          </a:p>
        </p:txBody>
      </p:sp>
      <p:pic>
        <p:nvPicPr>
          <p:cNvPr id="8" name="Google Shape;93;p1" descr="No hay ninguna descripción de la foto disponible.">
            <a:extLst>
              <a:ext uri="{FF2B5EF4-FFF2-40B4-BE49-F238E27FC236}">
                <a16:creationId xmlns:a16="http://schemas.microsoft.com/office/drawing/2014/main" id="{60D598D2-F7DA-D474-EA16-A4369D5C684C}"/>
              </a:ext>
            </a:extLst>
          </p:cNvPr>
          <p:cNvPicPr preferRelativeResize="0"/>
          <p:nvPr/>
        </p:nvPicPr>
        <p:blipFill rotWithShape="1">
          <a:blip r:embed="rId2">
            <a:alphaModFix/>
          </a:blip>
          <a:srcRect l="26238" t="22935" r="26586" b="20031"/>
          <a:stretch>
            <a:fillRect/>
          </a:stretch>
        </p:blipFill>
        <p:spPr>
          <a:xfrm>
            <a:off x="2225023" y="98151"/>
            <a:ext cx="1432577" cy="744819"/>
          </a:xfrm>
          <a:prstGeom prst="rect">
            <a:avLst/>
          </a:prstGeom>
          <a:noFill/>
          <a:ln>
            <a:noFill/>
          </a:ln>
        </p:spPr>
      </p:pic>
      <p:pic>
        <p:nvPicPr>
          <p:cNvPr id="9" name="Google Shape;94;p1" descr="Universidad El Bosque in Colombia : Reviews &amp; Rankings | Student ...">
            <a:extLst>
              <a:ext uri="{FF2B5EF4-FFF2-40B4-BE49-F238E27FC236}">
                <a16:creationId xmlns:a16="http://schemas.microsoft.com/office/drawing/2014/main" id="{B611AE57-7D90-0EE9-E90A-8043B9712E97}"/>
              </a:ext>
            </a:extLst>
          </p:cNvPr>
          <p:cNvPicPr preferRelativeResize="0"/>
          <p:nvPr/>
        </p:nvPicPr>
        <p:blipFill rotWithShape="1">
          <a:blip r:embed="rId3">
            <a:alphaModFix/>
          </a:blip>
          <a:srcRect l="14020" t="34765" r="17993" b="25071"/>
          <a:stretch>
            <a:fillRect/>
          </a:stretch>
        </p:blipFill>
        <p:spPr>
          <a:xfrm>
            <a:off x="125203" y="201224"/>
            <a:ext cx="1978341" cy="641746"/>
          </a:xfrm>
          <a:prstGeom prst="rect">
            <a:avLst/>
          </a:prstGeom>
          <a:noFill/>
          <a:ln>
            <a:noFill/>
          </a:ln>
        </p:spPr>
      </p:pic>
      <p:pic>
        <p:nvPicPr>
          <p:cNvPr id="3" name="Imagen 2" descr="Diagrama&#10;&#10;El contenido generado por IA puede ser incorrecto.">
            <a:extLst>
              <a:ext uri="{FF2B5EF4-FFF2-40B4-BE49-F238E27FC236}">
                <a16:creationId xmlns:a16="http://schemas.microsoft.com/office/drawing/2014/main" id="{A023A184-3265-FCD3-AD3F-26E89A05BE84}"/>
              </a:ext>
            </a:extLst>
          </p:cNvPr>
          <p:cNvPicPr>
            <a:picLocks noChangeAspect="1"/>
          </p:cNvPicPr>
          <p:nvPr/>
        </p:nvPicPr>
        <p:blipFill>
          <a:blip r:embed="rId4"/>
          <a:stretch>
            <a:fillRect/>
          </a:stretch>
        </p:blipFill>
        <p:spPr>
          <a:xfrm>
            <a:off x="2225023" y="1079189"/>
            <a:ext cx="13176780" cy="7611357"/>
          </a:xfrm>
          <a:prstGeom prst="rect">
            <a:avLst/>
          </a:prstGeom>
        </p:spPr>
      </p:pic>
    </p:spTree>
    <p:extLst>
      <p:ext uri="{BB962C8B-B14F-4D97-AF65-F5344CB8AC3E}">
        <p14:creationId xmlns:p14="http://schemas.microsoft.com/office/powerpoint/2010/main" val="1083165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3" name="Rectángulo 2">
            <a:extLst>
              <a:ext uri="{FF2B5EF4-FFF2-40B4-BE49-F238E27FC236}">
                <a16:creationId xmlns:a16="http://schemas.microsoft.com/office/drawing/2014/main" id="{7195D377-B42C-6C75-B73A-7341F8F76731}"/>
              </a:ext>
            </a:extLst>
          </p:cNvPr>
          <p:cNvSpPr/>
          <p:nvPr/>
        </p:nvSpPr>
        <p:spPr>
          <a:xfrm>
            <a:off x="8274623" y="49452"/>
            <a:ext cx="10013377" cy="10287000"/>
          </a:xfrm>
          <a:prstGeom prst="rect">
            <a:avLst/>
          </a:prstGeom>
          <a:blipFill>
            <a:blip r:embed="rId3"/>
            <a:tile tx="0" ty="0" sx="100000" sy="100000" flip="none" algn="tl"/>
          </a:bli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2" name="Google Shape;132;p3"/>
          <p:cNvSpPr txBox="1"/>
          <p:nvPr/>
        </p:nvSpPr>
        <p:spPr>
          <a:xfrm>
            <a:off x="307800" y="9028875"/>
            <a:ext cx="7869414" cy="1077300"/>
          </a:xfrm>
          <a:prstGeom prst="rect">
            <a:avLst/>
          </a:prstGeom>
          <a:noFill/>
          <a:ln>
            <a:noFill/>
          </a:ln>
        </p:spPr>
        <p:txBody>
          <a:bodyPr spcFirstLastPara="1" wrap="square" lIns="0" tIns="0" rIns="0" bIns="0" anchor="ctr" anchorCtr="0">
            <a:noAutofit/>
          </a:bodyPr>
          <a:lstStyle/>
          <a:p>
            <a:pPr marL="0" marR="0" lvl="0" indent="0" algn="l" rtl="0">
              <a:lnSpc>
                <a:spcPct val="140000"/>
              </a:lnSpc>
              <a:spcBef>
                <a:spcPts val="0"/>
              </a:spcBef>
              <a:spcAft>
                <a:spcPts val="0"/>
              </a:spcAft>
              <a:buNone/>
            </a:pPr>
            <a:r>
              <a:rPr lang="en-US" sz="600" dirty="0">
                <a:solidFill>
                  <a:schemeClr val="dk1"/>
                </a:solidFill>
                <a:latin typeface="Arial"/>
                <a:ea typeface="Arial"/>
                <a:cs typeface="Arial"/>
                <a:sym typeface="Arial"/>
              </a:rPr>
              <a:t>Kaser A, Zeissig S, Blumberg RS. Inflammatory bowel disease. Annu Rev Immunol. 2010;28(1):573–621. Available from: </a:t>
            </a:r>
            <a:r>
              <a:rPr lang="en-US" sz="600" dirty="0">
                <a:solidFill>
                  <a:schemeClr val="dk1"/>
                </a:solidFill>
                <a:uFill>
                  <a:noFill/>
                </a:uFill>
                <a:latin typeface="Arial"/>
                <a:ea typeface="Arial"/>
                <a:cs typeface="Arial"/>
                <a:sym typeface="Arial"/>
                <a:hlinkClick r:id="rId4">
                  <a:extLst>
                    <a:ext uri="{A12FA001-AC4F-418D-AE19-62706E023703}">
                      <ahyp:hlinkClr xmlns:ahyp="http://schemas.microsoft.com/office/drawing/2018/hyperlinkcolor" val="tx"/>
                    </a:ext>
                  </a:extLst>
                </a:hlinkClick>
              </a:rPr>
              <a:t>http://dx.doi.org/10.1146/annurev-immunol-030409-101225</a:t>
            </a:r>
            <a:r>
              <a:rPr lang="en-US" sz="600" dirty="0">
                <a:solidFill>
                  <a:schemeClr val="dk1"/>
                </a:solidFill>
                <a:uFill>
                  <a:noFill/>
                </a:uFill>
              </a:rPr>
              <a:t>1. </a:t>
            </a:r>
          </a:p>
          <a:p>
            <a:pPr marL="0" marR="0" lvl="0" indent="0" algn="l" rtl="0">
              <a:lnSpc>
                <a:spcPct val="140000"/>
              </a:lnSpc>
              <a:spcBef>
                <a:spcPts val="0"/>
              </a:spcBef>
              <a:spcAft>
                <a:spcPts val="0"/>
              </a:spcAft>
              <a:buNone/>
            </a:pPr>
            <a:r>
              <a:rPr lang="en-US" sz="600" dirty="0">
                <a:solidFill>
                  <a:schemeClr val="dk1"/>
                </a:solidFill>
                <a:uFill>
                  <a:noFill/>
                </a:uFill>
              </a:rPr>
              <a:t>1.Huang C, Hao W, Wang X, Zhou R, Lin Q. Probiotics for the treatment of ulcerative colitis: a review of experimental research from 2018 to 2022. Frontiers in Microbiology [Internet]. 2023 Jul 6;14. Available from: https://www.ncbi.nlm.nih.gov/pmc/articles/PMC10358780/</a:t>
            </a:r>
          </a:p>
          <a:p>
            <a:pPr marL="0" marR="0" lvl="0" indent="0" algn="l" rtl="0">
              <a:lnSpc>
                <a:spcPct val="140000"/>
              </a:lnSpc>
              <a:spcBef>
                <a:spcPts val="0"/>
              </a:spcBef>
              <a:spcAft>
                <a:spcPts val="0"/>
              </a:spcAft>
              <a:buNone/>
            </a:pPr>
            <a:r>
              <a:rPr lang="en-US" sz="600" dirty="0">
                <a:solidFill>
                  <a:schemeClr val="dk1"/>
                </a:solidFill>
                <a:uFill>
                  <a:noFill/>
                </a:uFill>
              </a:rPr>
              <a:t>‌</a:t>
            </a:r>
          </a:p>
          <a:p>
            <a:pPr marL="0" marR="0" lvl="0" indent="0" algn="l" rtl="0">
              <a:lnSpc>
                <a:spcPct val="140000"/>
              </a:lnSpc>
              <a:spcBef>
                <a:spcPts val="0"/>
              </a:spcBef>
              <a:spcAft>
                <a:spcPts val="0"/>
              </a:spcAft>
              <a:buNone/>
            </a:pPr>
            <a:r>
              <a:rPr lang="en-US" sz="600" dirty="0">
                <a:solidFill>
                  <a:schemeClr val="dk1"/>
                </a:solidFill>
                <a:uFill>
                  <a:noFill/>
                </a:uFill>
                <a:latin typeface="Arial"/>
                <a:ea typeface="Arial"/>
                <a:cs typeface="Arial"/>
                <a:sym typeface="Arial"/>
              </a:rPr>
              <a:t> </a:t>
            </a:r>
            <a:r>
              <a:rPr lang="en-US" sz="600" dirty="0">
                <a:solidFill>
                  <a:schemeClr val="dk1"/>
                </a:solidFill>
                <a:latin typeface="Arial"/>
                <a:ea typeface="Arial"/>
                <a:cs typeface="Arial"/>
                <a:sym typeface="Arial"/>
              </a:rPr>
              <a:t>Yeshi K, Ruscher R, Hunter L, Daly NL, Loukas A, Wangchuk P. Revisiting inflammatory bowel disease: Pathology, treatments, challenges and emerging therapeutics including drug leads from natural products. J Clin Med . 2020;9(5):1273. Disponible en: http://dx.doi.org/10.3390/jcm9051273</a:t>
            </a:r>
            <a:endParaRPr sz="600" dirty="0">
              <a:solidFill>
                <a:schemeClr val="dk1"/>
              </a:solidFill>
              <a:latin typeface="Arial"/>
              <a:ea typeface="Arial"/>
              <a:cs typeface="Arial"/>
              <a:sym typeface="Arial"/>
            </a:endParaRPr>
          </a:p>
        </p:txBody>
      </p:sp>
      <p:sp>
        <p:nvSpPr>
          <p:cNvPr id="136" name="Google Shape;136;p3"/>
          <p:cNvSpPr txBox="1"/>
          <p:nvPr/>
        </p:nvSpPr>
        <p:spPr>
          <a:xfrm>
            <a:off x="9194761" y="5518988"/>
            <a:ext cx="8246060" cy="2858499"/>
          </a:xfrm>
          <a:prstGeom prst="rect">
            <a:avLst/>
          </a:prstGeom>
          <a:solidFill>
            <a:schemeClr val="accent5">
              <a:lumMod val="20000"/>
              <a:lumOff val="80000"/>
            </a:schemeClr>
          </a:solidFill>
          <a:ln w="25400" cap="flat" cmpd="sng">
            <a:solidFill>
              <a:schemeClr val="bg1">
                <a:lumMod val="65000"/>
              </a:schemeClr>
            </a:solidFill>
            <a:prstDash val="sysDot"/>
            <a:round/>
            <a:headEnd type="none" w="sm" len="sm"/>
            <a:tailEnd type="none" w="sm" len="sm"/>
          </a:ln>
        </p:spPr>
        <p:txBody>
          <a:bodyPr spcFirstLastPara="1" wrap="square" lIns="91425" tIns="45700" rIns="91425" bIns="45700" anchor="t" anchorCtr="0">
            <a:spAutoFit/>
          </a:bodyPr>
          <a:lstStyle/>
          <a:p>
            <a:pPr marL="0" marR="0" lvl="0" indent="0" algn="ctr" rtl="0">
              <a:lnSpc>
                <a:spcPct val="107000"/>
              </a:lnSpc>
              <a:spcBef>
                <a:spcPts val="0"/>
              </a:spcBef>
              <a:spcAft>
                <a:spcPts val="0"/>
              </a:spcAft>
              <a:buClr>
                <a:schemeClr val="dk1"/>
              </a:buClr>
              <a:buSzPts val="1800"/>
              <a:buFont typeface="Arial"/>
              <a:buNone/>
            </a:pPr>
            <a:endParaRPr lang="en-US" sz="2400" b="1" dirty="0">
              <a:solidFill>
                <a:schemeClr val="tx1">
                  <a:lumMod val="75000"/>
                  <a:lumOff val="25000"/>
                </a:schemeClr>
              </a:solidFill>
              <a:latin typeface="Source Sans Pro" panose="020B0503030403020204" pitchFamily="34" charset="0"/>
              <a:ea typeface="Source Sans Pro" panose="020B0503030403020204" pitchFamily="34" charset="0"/>
            </a:endParaRPr>
          </a:p>
          <a:p>
            <a:pPr marL="0" marR="0" lvl="0" indent="0" algn="ctr" rtl="0">
              <a:lnSpc>
                <a:spcPct val="107000"/>
              </a:lnSpc>
              <a:spcBef>
                <a:spcPts val="0"/>
              </a:spcBef>
              <a:spcAft>
                <a:spcPts val="0"/>
              </a:spcAft>
              <a:buClr>
                <a:schemeClr val="dk1"/>
              </a:buClr>
              <a:buSzPts val="1800"/>
              <a:buFont typeface="Arial"/>
              <a:buNone/>
            </a:pPr>
            <a:r>
              <a:rPr lang="en-US" sz="2400" b="1" dirty="0" err="1">
                <a:solidFill>
                  <a:schemeClr val="tx1">
                    <a:lumMod val="75000"/>
                    <a:lumOff val="25000"/>
                  </a:schemeClr>
                </a:solidFill>
                <a:latin typeface="Source Sans Pro" panose="020B0503030403020204" pitchFamily="34" charset="0"/>
                <a:ea typeface="Source Sans Pro" panose="020B0503030403020204" pitchFamily="34" charset="0"/>
              </a:rPr>
              <a:t>Estrategia</a:t>
            </a:r>
            <a:r>
              <a:rPr lang="en-US" sz="2400" b="1" dirty="0">
                <a:solidFill>
                  <a:schemeClr val="tx1">
                    <a:lumMod val="75000"/>
                    <a:lumOff val="25000"/>
                  </a:schemeClr>
                </a:solidFill>
                <a:latin typeface="Source Sans Pro" panose="020B0503030403020204" pitchFamily="34" charset="0"/>
                <a:ea typeface="Source Sans Pro" panose="020B0503030403020204" pitchFamily="34" charset="0"/>
              </a:rPr>
              <a:t> </a:t>
            </a:r>
            <a:r>
              <a:rPr lang="en-US" sz="2400" b="1" dirty="0">
                <a:solidFill>
                  <a:schemeClr val="tx1">
                    <a:lumMod val="75000"/>
                    <a:lumOff val="25000"/>
                  </a:schemeClr>
                </a:solidFill>
                <a:latin typeface="Source Sans Pro" panose="020B0503030403020204" pitchFamily="34" charset="0"/>
                <a:ea typeface="Source Sans Pro" panose="020B0503030403020204" pitchFamily="34" charset="0"/>
                <a:sym typeface="Arial"/>
              </a:rPr>
              <a:t>de </a:t>
            </a:r>
            <a:r>
              <a:rPr lang="en-US" sz="2400" b="1" dirty="0" err="1">
                <a:solidFill>
                  <a:schemeClr val="tx1">
                    <a:lumMod val="75000"/>
                    <a:lumOff val="25000"/>
                  </a:schemeClr>
                </a:solidFill>
                <a:latin typeface="Source Sans Pro" panose="020B0503030403020204" pitchFamily="34" charset="0"/>
                <a:ea typeface="Source Sans Pro" panose="020B0503030403020204" pitchFamily="34" charset="0"/>
                <a:sym typeface="Arial"/>
              </a:rPr>
              <a:t>seguimiento</a:t>
            </a:r>
            <a:r>
              <a:rPr lang="en-US" sz="2400" b="1" dirty="0">
                <a:solidFill>
                  <a:schemeClr val="tx1">
                    <a:lumMod val="75000"/>
                    <a:lumOff val="25000"/>
                  </a:schemeClr>
                </a:solidFill>
                <a:latin typeface="Source Sans Pro" panose="020B0503030403020204" pitchFamily="34" charset="0"/>
                <a:ea typeface="Source Sans Pro" panose="020B0503030403020204" pitchFamily="34" charset="0"/>
                <a:sym typeface="Arial"/>
              </a:rPr>
              <a:t> </a:t>
            </a:r>
            <a:r>
              <a:rPr lang="en-US" sz="2400" b="1" dirty="0" err="1">
                <a:solidFill>
                  <a:schemeClr val="tx1">
                    <a:lumMod val="75000"/>
                    <a:lumOff val="25000"/>
                  </a:schemeClr>
                </a:solidFill>
                <a:latin typeface="Source Sans Pro" panose="020B0503030403020204" pitchFamily="34" charset="0"/>
                <a:ea typeface="Source Sans Pro" panose="020B0503030403020204" pitchFamily="34" charset="0"/>
                <a:sym typeface="Arial"/>
              </a:rPr>
              <a:t>personalizada</a:t>
            </a:r>
            <a:endParaRPr lang="en-US" sz="2400" b="1" dirty="0">
              <a:solidFill>
                <a:schemeClr val="tx1">
                  <a:lumMod val="75000"/>
                  <a:lumOff val="25000"/>
                </a:schemeClr>
              </a:solidFill>
              <a:latin typeface="Source Sans Pro" panose="020B0503030403020204" pitchFamily="34" charset="0"/>
              <a:ea typeface="Source Sans Pro" panose="020B0503030403020204" pitchFamily="34" charset="0"/>
              <a:sym typeface="Arial"/>
            </a:endParaRPr>
          </a:p>
          <a:p>
            <a:pPr marL="0" marR="0" lvl="0" indent="0" algn="ctr" rtl="0">
              <a:lnSpc>
                <a:spcPct val="107000"/>
              </a:lnSpc>
              <a:spcBef>
                <a:spcPts val="0"/>
              </a:spcBef>
              <a:spcAft>
                <a:spcPts val="0"/>
              </a:spcAft>
              <a:buClr>
                <a:schemeClr val="dk1"/>
              </a:buClr>
              <a:buSzPts val="1800"/>
              <a:buFont typeface="Arial"/>
              <a:buNone/>
            </a:pPr>
            <a:r>
              <a:rPr lang="en-US" sz="2400" dirty="0">
                <a:solidFill>
                  <a:schemeClr val="tx1">
                    <a:lumMod val="75000"/>
                    <a:lumOff val="25000"/>
                  </a:schemeClr>
                </a:solidFill>
                <a:latin typeface="Source Sans Pro" panose="020B0503030403020204" pitchFamily="34" charset="0"/>
                <a:ea typeface="Source Sans Pro" panose="020B0503030403020204" pitchFamily="34" charset="0"/>
              </a:rPr>
              <a:t> </a:t>
            </a:r>
          </a:p>
          <a:p>
            <a:pPr marL="0" marR="0" lvl="0" indent="0" algn="ctr" rtl="0">
              <a:lnSpc>
                <a:spcPct val="107000"/>
              </a:lnSpc>
              <a:spcBef>
                <a:spcPts val="0"/>
              </a:spcBef>
              <a:spcAft>
                <a:spcPts val="0"/>
              </a:spcAft>
              <a:buClr>
                <a:schemeClr val="dk1"/>
              </a:buClr>
              <a:buSzPts val="1800"/>
              <a:buFont typeface="Arial"/>
              <a:buNone/>
            </a:pPr>
            <a:r>
              <a:rPr lang="en-US" sz="2400" dirty="0" err="1">
                <a:solidFill>
                  <a:schemeClr val="tx1">
                    <a:lumMod val="75000"/>
                    <a:lumOff val="25000"/>
                  </a:schemeClr>
                </a:solidFill>
                <a:latin typeface="Source Sans Pro" panose="020B0503030403020204" pitchFamily="34" charset="0"/>
                <a:ea typeface="Source Sans Pro" panose="020B0503030403020204" pitchFamily="34" charset="0"/>
              </a:rPr>
              <a:t>Estratificación</a:t>
            </a:r>
            <a:r>
              <a:rPr lang="en-US" sz="2400" dirty="0">
                <a:solidFill>
                  <a:schemeClr val="tx1">
                    <a:lumMod val="75000"/>
                    <a:lumOff val="25000"/>
                  </a:schemeClr>
                </a:solidFill>
                <a:latin typeface="Source Sans Pro" panose="020B0503030403020204" pitchFamily="34" charset="0"/>
                <a:ea typeface="Source Sans Pro" panose="020B0503030403020204" pitchFamily="34" charset="0"/>
              </a:rPr>
              <a:t> del </a:t>
            </a:r>
            <a:r>
              <a:rPr lang="en-US" sz="2400" dirty="0" err="1">
                <a:solidFill>
                  <a:schemeClr val="tx1">
                    <a:lumMod val="75000"/>
                    <a:lumOff val="25000"/>
                  </a:schemeClr>
                </a:solidFill>
                <a:latin typeface="Source Sans Pro" panose="020B0503030403020204" pitchFamily="34" charset="0"/>
                <a:ea typeface="Source Sans Pro" panose="020B0503030403020204" pitchFamily="34" charset="0"/>
              </a:rPr>
              <a:t>riesgo</a:t>
            </a:r>
            <a:endParaRPr lang="en-US" sz="2400" dirty="0">
              <a:solidFill>
                <a:schemeClr val="tx1">
                  <a:lumMod val="75000"/>
                  <a:lumOff val="25000"/>
                </a:schemeClr>
              </a:solidFill>
              <a:latin typeface="Source Sans Pro" panose="020B0503030403020204" pitchFamily="34" charset="0"/>
              <a:ea typeface="Source Sans Pro" panose="020B0503030403020204" pitchFamily="34" charset="0"/>
              <a:sym typeface="Arial"/>
            </a:endParaRPr>
          </a:p>
          <a:p>
            <a:pPr marL="0" marR="0" lvl="0" indent="0" algn="ctr" rtl="0">
              <a:lnSpc>
                <a:spcPct val="107000"/>
              </a:lnSpc>
              <a:spcBef>
                <a:spcPts val="0"/>
              </a:spcBef>
              <a:spcAft>
                <a:spcPts val="0"/>
              </a:spcAft>
              <a:buClr>
                <a:schemeClr val="dk1"/>
              </a:buClr>
              <a:buSzPts val="1800"/>
              <a:buFont typeface="Arial"/>
              <a:buNone/>
            </a:pPr>
            <a:r>
              <a:rPr lang="en-US" sz="2400" dirty="0" err="1">
                <a:solidFill>
                  <a:schemeClr val="tx1">
                    <a:lumMod val="75000"/>
                    <a:lumOff val="25000"/>
                  </a:schemeClr>
                </a:solidFill>
                <a:latin typeface="Source Sans Pro" panose="020B0503030403020204" pitchFamily="34" charset="0"/>
                <a:ea typeface="Source Sans Pro" panose="020B0503030403020204" pitchFamily="34" charset="0"/>
              </a:rPr>
              <a:t>Detección</a:t>
            </a:r>
            <a:r>
              <a:rPr lang="en-US" sz="2400" dirty="0">
                <a:solidFill>
                  <a:schemeClr val="tx1">
                    <a:lumMod val="75000"/>
                    <a:lumOff val="25000"/>
                  </a:schemeClr>
                </a:solidFill>
                <a:latin typeface="Source Sans Pro" panose="020B0503030403020204" pitchFamily="34" charset="0"/>
                <a:ea typeface="Source Sans Pro" panose="020B0503030403020204" pitchFamily="34" charset="0"/>
              </a:rPr>
              <a:t> </a:t>
            </a:r>
            <a:r>
              <a:rPr lang="en-US" sz="2400" dirty="0" err="1">
                <a:solidFill>
                  <a:schemeClr val="tx1">
                    <a:lumMod val="75000"/>
                    <a:lumOff val="25000"/>
                  </a:schemeClr>
                </a:solidFill>
                <a:latin typeface="Source Sans Pro" panose="020B0503030403020204" pitchFamily="34" charset="0"/>
                <a:ea typeface="Source Sans Pro" panose="020B0503030403020204" pitchFamily="34" charset="0"/>
              </a:rPr>
              <a:t>precoz</a:t>
            </a:r>
            <a:r>
              <a:rPr lang="en-US" sz="2400" dirty="0">
                <a:solidFill>
                  <a:schemeClr val="tx1">
                    <a:lumMod val="75000"/>
                    <a:lumOff val="25000"/>
                  </a:schemeClr>
                </a:solidFill>
                <a:latin typeface="Source Sans Pro" panose="020B0503030403020204" pitchFamily="34" charset="0"/>
                <a:ea typeface="Source Sans Pro" panose="020B0503030403020204" pitchFamily="34" charset="0"/>
              </a:rPr>
              <a:t> </a:t>
            </a:r>
          </a:p>
          <a:p>
            <a:pPr marL="0" marR="0" lvl="0" indent="0" algn="ctr" rtl="0">
              <a:lnSpc>
                <a:spcPct val="107000"/>
              </a:lnSpc>
              <a:spcBef>
                <a:spcPts val="0"/>
              </a:spcBef>
              <a:spcAft>
                <a:spcPts val="0"/>
              </a:spcAft>
              <a:buClr>
                <a:schemeClr val="dk1"/>
              </a:buClr>
              <a:buSzPts val="1800"/>
              <a:buFont typeface="Arial"/>
              <a:buNone/>
            </a:pPr>
            <a:r>
              <a:rPr lang="en-US" sz="2400" dirty="0" err="1">
                <a:solidFill>
                  <a:schemeClr val="tx1">
                    <a:lumMod val="75000"/>
                    <a:lumOff val="25000"/>
                  </a:schemeClr>
                </a:solidFill>
                <a:latin typeface="Source Sans Pro" panose="020B0503030403020204" pitchFamily="34" charset="0"/>
                <a:ea typeface="Source Sans Pro" panose="020B0503030403020204" pitchFamily="34" charset="0"/>
              </a:rPr>
              <a:t>Lesiones</a:t>
            </a:r>
            <a:r>
              <a:rPr lang="en-US" sz="2400" dirty="0">
                <a:solidFill>
                  <a:schemeClr val="tx1">
                    <a:lumMod val="75000"/>
                    <a:lumOff val="25000"/>
                  </a:schemeClr>
                </a:solidFill>
                <a:latin typeface="Source Sans Pro" panose="020B0503030403020204" pitchFamily="34" charset="0"/>
                <a:ea typeface="Source Sans Pro" panose="020B0503030403020204" pitchFamily="34" charset="0"/>
              </a:rPr>
              <a:t> </a:t>
            </a:r>
            <a:r>
              <a:rPr lang="en-US" sz="2400" dirty="0" err="1">
                <a:solidFill>
                  <a:schemeClr val="tx1">
                    <a:lumMod val="75000"/>
                    <a:lumOff val="25000"/>
                  </a:schemeClr>
                </a:solidFill>
                <a:latin typeface="Source Sans Pro" panose="020B0503030403020204" pitchFamily="34" charset="0"/>
                <a:ea typeface="Source Sans Pro" panose="020B0503030403020204" pitchFamily="34" charset="0"/>
              </a:rPr>
              <a:t>precancerosas</a:t>
            </a:r>
            <a:endParaRPr lang="en-US" sz="2400" dirty="0">
              <a:solidFill>
                <a:schemeClr val="tx1">
                  <a:lumMod val="75000"/>
                  <a:lumOff val="25000"/>
                </a:schemeClr>
              </a:solidFill>
              <a:latin typeface="Source Sans Pro" panose="020B0503030403020204" pitchFamily="34" charset="0"/>
              <a:ea typeface="Source Sans Pro" panose="020B0503030403020204" pitchFamily="34" charset="0"/>
            </a:endParaRPr>
          </a:p>
          <a:p>
            <a:pPr marL="0" marR="0" lvl="0" indent="0" algn="ctr" rtl="0">
              <a:lnSpc>
                <a:spcPct val="107000"/>
              </a:lnSpc>
              <a:spcBef>
                <a:spcPts val="0"/>
              </a:spcBef>
              <a:spcAft>
                <a:spcPts val="0"/>
              </a:spcAft>
              <a:buClr>
                <a:schemeClr val="dk1"/>
              </a:buClr>
              <a:buSzPts val="1800"/>
              <a:buFont typeface="Arial"/>
              <a:buNone/>
            </a:pPr>
            <a:endParaRPr sz="2400" dirty="0">
              <a:solidFill>
                <a:schemeClr val="tx1">
                  <a:lumMod val="75000"/>
                  <a:lumOff val="25000"/>
                </a:schemeClr>
              </a:solidFill>
              <a:latin typeface="Source Sans Pro" panose="020B0503030403020204" pitchFamily="34" charset="0"/>
              <a:ea typeface="Source Sans Pro" panose="020B0503030403020204" pitchFamily="34" charset="0"/>
            </a:endParaRPr>
          </a:p>
        </p:txBody>
      </p:sp>
      <p:sp>
        <p:nvSpPr>
          <p:cNvPr id="138" name="Google Shape;138;p3"/>
          <p:cNvSpPr txBox="1"/>
          <p:nvPr/>
        </p:nvSpPr>
        <p:spPr>
          <a:xfrm>
            <a:off x="9669043" y="3747425"/>
            <a:ext cx="7297500" cy="1277810"/>
          </a:xfrm>
          <a:prstGeom prst="rect">
            <a:avLst/>
          </a:prstGeom>
          <a:solidFill>
            <a:schemeClr val="lt1"/>
          </a:solidFill>
          <a:ln w="25400" cap="flat" cmpd="sng">
            <a:solidFill>
              <a:schemeClr val="bg1">
                <a:lumMod val="65000"/>
              </a:schemeClr>
            </a:solidFill>
            <a:prstDash val="sysDot"/>
            <a:round/>
            <a:headEnd type="none" w="sm" len="sm"/>
            <a:tailEnd type="none" w="sm" len="sm"/>
          </a:ln>
        </p:spPr>
        <p:txBody>
          <a:bodyPr spcFirstLastPara="1" wrap="square" lIns="91425" tIns="45700" rIns="91425" bIns="45700" anchor="t" anchorCtr="0">
            <a:spAutoFit/>
          </a:bodyPr>
          <a:lstStyle/>
          <a:p>
            <a:pPr marL="0" marR="0" lvl="0" indent="0" algn="ctr" rtl="0">
              <a:lnSpc>
                <a:spcPct val="107000"/>
              </a:lnSpc>
              <a:spcBef>
                <a:spcPts val="0"/>
              </a:spcBef>
              <a:spcAft>
                <a:spcPts val="0"/>
              </a:spcAft>
              <a:buClr>
                <a:schemeClr val="dk1"/>
              </a:buClr>
              <a:buSzPts val="1800"/>
              <a:buFont typeface="Arial"/>
              <a:buNone/>
            </a:pPr>
            <a:r>
              <a:rPr lang="en-US" sz="2400" b="1" dirty="0" err="1">
                <a:solidFill>
                  <a:schemeClr val="tx1">
                    <a:lumMod val="75000"/>
                    <a:lumOff val="25000"/>
                  </a:schemeClr>
                </a:solidFill>
                <a:latin typeface="Source Sans Pro" panose="020B0503030403020204" pitchFamily="34" charset="0"/>
                <a:ea typeface="Source Sans Pro" panose="020B0503030403020204" pitchFamily="34" charset="0"/>
                <a:sym typeface="Arial"/>
              </a:rPr>
              <a:t>Programas</a:t>
            </a:r>
            <a:r>
              <a:rPr lang="en-US" sz="2400" b="1" dirty="0">
                <a:solidFill>
                  <a:schemeClr val="tx1">
                    <a:lumMod val="75000"/>
                    <a:lumOff val="25000"/>
                  </a:schemeClr>
                </a:solidFill>
                <a:latin typeface="Source Sans Pro" panose="020B0503030403020204" pitchFamily="34" charset="0"/>
                <a:ea typeface="Source Sans Pro" panose="020B0503030403020204" pitchFamily="34" charset="0"/>
                <a:sym typeface="Arial"/>
              </a:rPr>
              <a:t> de </a:t>
            </a:r>
            <a:r>
              <a:rPr lang="en-US" sz="2400" b="1" dirty="0" err="1">
                <a:solidFill>
                  <a:schemeClr val="tx1">
                    <a:lumMod val="75000"/>
                    <a:lumOff val="25000"/>
                  </a:schemeClr>
                </a:solidFill>
                <a:latin typeface="Source Sans Pro" panose="020B0503030403020204" pitchFamily="34" charset="0"/>
                <a:ea typeface="Source Sans Pro" panose="020B0503030403020204" pitchFamily="34" charset="0"/>
                <a:sym typeface="Arial"/>
              </a:rPr>
              <a:t>vigilancia</a:t>
            </a:r>
            <a:r>
              <a:rPr lang="en-US" sz="2400" b="1" dirty="0">
                <a:solidFill>
                  <a:schemeClr val="tx1">
                    <a:lumMod val="75000"/>
                    <a:lumOff val="25000"/>
                  </a:schemeClr>
                </a:solidFill>
                <a:latin typeface="Source Sans Pro" panose="020B0503030403020204" pitchFamily="34" charset="0"/>
                <a:ea typeface="Source Sans Pro" panose="020B0503030403020204" pitchFamily="34" charset="0"/>
                <a:sym typeface="Arial"/>
              </a:rPr>
              <a:t> </a:t>
            </a:r>
            <a:r>
              <a:rPr lang="en-US" sz="2400" b="1" dirty="0" err="1">
                <a:solidFill>
                  <a:schemeClr val="tx1">
                    <a:lumMod val="75000"/>
                    <a:lumOff val="25000"/>
                  </a:schemeClr>
                </a:solidFill>
                <a:latin typeface="Source Sans Pro" panose="020B0503030403020204" pitchFamily="34" charset="0"/>
                <a:ea typeface="Source Sans Pro" panose="020B0503030403020204" pitchFamily="34" charset="0"/>
                <a:sym typeface="Arial"/>
              </a:rPr>
              <a:t>endoscópica</a:t>
            </a:r>
            <a:r>
              <a:rPr lang="en-US" sz="2400" b="1" dirty="0">
                <a:solidFill>
                  <a:schemeClr val="tx1">
                    <a:lumMod val="75000"/>
                    <a:lumOff val="25000"/>
                  </a:schemeClr>
                </a:solidFill>
                <a:latin typeface="Source Sans Pro" panose="020B0503030403020204" pitchFamily="34" charset="0"/>
                <a:ea typeface="Source Sans Pro" panose="020B0503030403020204" pitchFamily="34" charset="0"/>
                <a:sym typeface="Arial"/>
              </a:rPr>
              <a:t> </a:t>
            </a:r>
          </a:p>
          <a:p>
            <a:pPr marL="0" marR="0" lvl="0" indent="0" algn="ctr" rtl="0">
              <a:lnSpc>
                <a:spcPct val="107000"/>
              </a:lnSpc>
              <a:spcBef>
                <a:spcPts val="0"/>
              </a:spcBef>
              <a:spcAft>
                <a:spcPts val="0"/>
              </a:spcAft>
              <a:buClr>
                <a:schemeClr val="dk1"/>
              </a:buClr>
              <a:buSzPts val="1800"/>
              <a:buFont typeface="Arial"/>
              <a:buNone/>
            </a:pPr>
            <a:endParaRPr lang="en-US" sz="2400" b="1" dirty="0">
              <a:solidFill>
                <a:schemeClr val="tx1">
                  <a:lumMod val="75000"/>
                  <a:lumOff val="25000"/>
                </a:schemeClr>
              </a:solidFill>
              <a:latin typeface="Source Sans Pro" panose="020B0503030403020204" pitchFamily="34" charset="0"/>
              <a:ea typeface="Source Sans Pro" panose="020B0503030403020204" pitchFamily="34" charset="0"/>
              <a:sym typeface="Arial"/>
            </a:endParaRPr>
          </a:p>
          <a:p>
            <a:pPr marL="0" marR="0" lvl="0" indent="0" algn="ctr" rtl="0">
              <a:lnSpc>
                <a:spcPct val="107000"/>
              </a:lnSpc>
              <a:spcBef>
                <a:spcPts val="0"/>
              </a:spcBef>
              <a:spcAft>
                <a:spcPts val="0"/>
              </a:spcAft>
              <a:buClr>
                <a:schemeClr val="dk1"/>
              </a:buClr>
              <a:buSzPts val="1800"/>
              <a:buFont typeface="Arial"/>
              <a:buNone/>
            </a:pPr>
            <a:r>
              <a:rPr lang="en-US" sz="2400" dirty="0">
                <a:solidFill>
                  <a:schemeClr val="tx1">
                    <a:lumMod val="75000"/>
                    <a:lumOff val="25000"/>
                  </a:schemeClr>
                </a:solidFill>
                <a:latin typeface="Source Sans Pro" panose="020B0503030403020204" pitchFamily="34" charset="0"/>
                <a:ea typeface="Source Sans Pro" panose="020B0503030403020204" pitchFamily="34" charset="0"/>
              </a:rPr>
              <a:t>- 8 </a:t>
            </a:r>
            <a:r>
              <a:rPr lang="en-US" sz="2400" dirty="0" err="1">
                <a:solidFill>
                  <a:schemeClr val="tx1">
                    <a:lumMod val="75000"/>
                    <a:lumOff val="25000"/>
                  </a:schemeClr>
                </a:solidFill>
                <a:latin typeface="Source Sans Pro" panose="020B0503030403020204" pitchFamily="34" charset="0"/>
                <a:ea typeface="Source Sans Pro" panose="020B0503030403020204" pitchFamily="34" charset="0"/>
              </a:rPr>
              <a:t>años</a:t>
            </a:r>
            <a:r>
              <a:rPr lang="en-US" sz="2400" dirty="0">
                <a:solidFill>
                  <a:schemeClr val="tx1">
                    <a:lumMod val="75000"/>
                    <a:lumOff val="25000"/>
                  </a:schemeClr>
                </a:solidFill>
                <a:latin typeface="Source Sans Pro" panose="020B0503030403020204" pitchFamily="34" charset="0"/>
                <a:ea typeface="Source Sans Pro" panose="020B0503030403020204" pitchFamily="34" charset="0"/>
                <a:sym typeface="Arial"/>
              </a:rPr>
              <a:t> del </a:t>
            </a:r>
            <a:r>
              <a:rPr lang="en-US" sz="2400" dirty="0" err="1">
                <a:solidFill>
                  <a:schemeClr val="tx1">
                    <a:lumMod val="75000"/>
                    <a:lumOff val="25000"/>
                  </a:schemeClr>
                </a:solidFill>
                <a:latin typeface="Source Sans Pro" panose="020B0503030403020204" pitchFamily="34" charset="0"/>
                <a:ea typeface="Source Sans Pro" panose="020B0503030403020204" pitchFamily="34" charset="0"/>
                <a:sym typeface="Arial"/>
              </a:rPr>
              <a:t>inicio</a:t>
            </a:r>
            <a:r>
              <a:rPr lang="en-US" sz="2400" dirty="0">
                <a:solidFill>
                  <a:schemeClr val="tx1">
                    <a:lumMod val="75000"/>
                    <a:lumOff val="25000"/>
                  </a:schemeClr>
                </a:solidFill>
                <a:latin typeface="Source Sans Pro" panose="020B0503030403020204" pitchFamily="34" charset="0"/>
                <a:ea typeface="Source Sans Pro" panose="020B0503030403020204" pitchFamily="34" charset="0"/>
                <a:sym typeface="Arial"/>
              </a:rPr>
              <a:t> de los </a:t>
            </a:r>
            <a:r>
              <a:rPr lang="en-US" sz="2400" dirty="0" err="1">
                <a:solidFill>
                  <a:schemeClr val="tx1">
                    <a:lumMod val="75000"/>
                    <a:lumOff val="25000"/>
                  </a:schemeClr>
                </a:solidFill>
                <a:latin typeface="Source Sans Pro" panose="020B0503030403020204" pitchFamily="34" charset="0"/>
                <a:ea typeface="Source Sans Pro" panose="020B0503030403020204" pitchFamily="34" charset="0"/>
              </a:rPr>
              <a:t>síntomas</a:t>
            </a:r>
            <a:r>
              <a:rPr lang="en-US" sz="2400" dirty="0">
                <a:solidFill>
                  <a:schemeClr val="tx1">
                    <a:lumMod val="75000"/>
                    <a:lumOff val="25000"/>
                  </a:schemeClr>
                </a:solidFill>
                <a:latin typeface="Source Sans Pro" panose="020B0503030403020204" pitchFamily="34" charset="0"/>
                <a:ea typeface="Source Sans Pro" panose="020B0503030403020204" pitchFamily="34" charset="0"/>
                <a:sym typeface="Arial"/>
              </a:rPr>
              <a:t> en pacientes con </a:t>
            </a:r>
            <a:r>
              <a:rPr lang="en-US" sz="2400" dirty="0">
                <a:solidFill>
                  <a:schemeClr val="tx1">
                    <a:lumMod val="75000"/>
                    <a:lumOff val="25000"/>
                  </a:schemeClr>
                </a:solidFill>
                <a:latin typeface="Source Sans Pro" panose="020B0503030403020204" pitchFamily="34" charset="0"/>
                <a:ea typeface="Source Sans Pro" panose="020B0503030403020204" pitchFamily="34" charset="0"/>
              </a:rPr>
              <a:t>EII</a:t>
            </a:r>
            <a:endParaRPr sz="2400" dirty="0">
              <a:solidFill>
                <a:schemeClr val="tx1">
                  <a:lumMod val="75000"/>
                  <a:lumOff val="25000"/>
                </a:schemeClr>
              </a:solidFill>
              <a:latin typeface="Source Sans Pro" panose="020B0503030403020204" pitchFamily="34" charset="0"/>
              <a:ea typeface="Source Sans Pro" panose="020B0503030403020204" pitchFamily="34" charset="0"/>
            </a:endParaRPr>
          </a:p>
        </p:txBody>
      </p:sp>
      <p:sp>
        <p:nvSpPr>
          <p:cNvPr id="2" name="CuadroTexto 1">
            <a:extLst>
              <a:ext uri="{FF2B5EF4-FFF2-40B4-BE49-F238E27FC236}">
                <a16:creationId xmlns:a16="http://schemas.microsoft.com/office/drawing/2014/main" id="{C4ED1DE3-5BC7-7A2D-281F-0611046B5099}"/>
              </a:ext>
            </a:extLst>
          </p:cNvPr>
          <p:cNvSpPr txBox="1"/>
          <p:nvPr/>
        </p:nvSpPr>
        <p:spPr>
          <a:xfrm>
            <a:off x="-753128" y="558637"/>
            <a:ext cx="10161644" cy="492955"/>
          </a:xfrm>
          <a:prstGeom prst="rect">
            <a:avLst/>
          </a:prstGeom>
          <a:noFill/>
        </p:spPr>
        <p:txBody>
          <a:bodyPr wrap="square">
            <a:spAutoFit/>
          </a:bodyPr>
          <a:lstStyle/>
          <a:p>
            <a:pPr marL="0" marR="0" lvl="0" indent="0" algn="ctr" rtl="0">
              <a:lnSpc>
                <a:spcPct val="80357"/>
              </a:lnSpc>
              <a:spcBef>
                <a:spcPts val="0"/>
              </a:spcBef>
              <a:spcAft>
                <a:spcPts val="0"/>
              </a:spcAft>
              <a:buClr>
                <a:srgbClr val="1B1B1B"/>
              </a:buClr>
              <a:buSzPts val="2800"/>
              <a:buFont typeface="Calibri"/>
              <a:buNone/>
            </a:pPr>
            <a:r>
              <a:rPr lang="es-ES" sz="3200" b="1" dirty="0">
                <a:solidFill>
                  <a:schemeClr val="tx1">
                    <a:lumMod val="75000"/>
                    <a:lumOff val="25000"/>
                  </a:schemeClr>
                </a:solidFill>
                <a:latin typeface="Calibri"/>
                <a:ea typeface="Calibri"/>
                <a:cs typeface="Calibri"/>
                <a:sym typeface="Calibri"/>
              </a:rPr>
              <a:t>Factores de Riesgo en Colitis Ulcerativa</a:t>
            </a:r>
            <a:endParaRPr lang="es-ES" sz="3200" dirty="0">
              <a:solidFill>
                <a:schemeClr val="tx1">
                  <a:lumMod val="75000"/>
                  <a:lumOff val="25000"/>
                </a:schemeClr>
              </a:solidFill>
            </a:endParaRPr>
          </a:p>
        </p:txBody>
      </p:sp>
      <p:pic>
        <p:nvPicPr>
          <p:cNvPr id="2050" name="Picture 2" descr="Cabinet Gastroentérologie Riviera - Docteur Francesco Viani">
            <a:extLst>
              <a:ext uri="{FF2B5EF4-FFF2-40B4-BE49-F238E27FC236}">
                <a16:creationId xmlns:a16="http://schemas.microsoft.com/office/drawing/2014/main" id="{A42BDABC-FCC3-9FAC-3F5A-CE36F2D8F4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35072" y="1038142"/>
            <a:ext cx="4165437" cy="2215530"/>
          </a:xfrm>
          <a:prstGeom prst="rect">
            <a:avLst/>
          </a:prstGeom>
          <a:noFill/>
          <a:extLst>
            <a:ext uri="{909E8E84-426E-40DD-AFC4-6F175D3DCCD1}">
              <a14:hiddenFill xmlns:a14="http://schemas.microsoft.com/office/drawing/2010/main">
                <a:solidFill>
                  <a:srgbClr val="FFFFFF"/>
                </a:solidFill>
              </a14:hiddenFill>
            </a:ext>
          </a:extLst>
        </p:spPr>
      </p:pic>
      <p:pic>
        <p:nvPicPr>
          <p:cNvPr id="4" name="Google Shape;93;p1" descr="No hay ninguna descripción de la foto disponible.">
            <a:extLst>
              <a:ext uri="{FF2B5EF4-FFF2-40B4-BE49-F238E27FC236}">
                <a16:creationId xmlns:a16="http://schemas.microsoft.com/office/drawing/2014/main" id="{023124C1-3812-19C0-2C5A-0F02CBFAB5A9}"/>
              </a:ext>
            </a:extLst>
          </p:cNvPr>
          <p:cNvPicPr preferRelativeResize="0"/>
          <p:nvPr/>
        </p:nvPicPr>
        <p:blipFill rotWithShape="1">
          <a:blip r:embed="rId6">
            <a:alphaModFix/>
          </a:blip>
          <a:srcRect l="26238" t="22935" r="26586" b="20031"/>
          <a:stretch>
            <a:fillRect/>
          </a:stretch>
        </p:blipFill>
        <p:spPr>
          <a:xfrm>
            <a:off x="14484096" y="9313663"/>
            <a:ext cx="1432577" cy="744819"/>
          </a:xfrm>
          <a:prstGeom prst="rect">
            <a:avLst/>
          </a:prstGeom>
          <a:noFill/>
          <a:ln>
            <a:noFill/>
          </a:ln>
        </p:spPr>
      </p:pic>
      <p:pic>
        <p:nvPicPr>
          <p:cNvPr id="5" name="Google Shape;94;p1" descr="Universidad El Bosque in Colombia : Reviews &amp; Rankings | Student ...">
            <a:extLst>
              <a:ext uri="{FF2B5EF4-FFF2-40B4-BE49-F238E27FC236}">
                <a16:creationId xmlns:a16="http://schemas.microsoft.com/office/drawing/2014/main" id="{9C4679B2-2E03-498D-461F-B2863D0CD39E}"/>
              </a:ext>
            </a:extLst>
          </p:cNvPr>
          <p:cNvPicPr preferRelativeResize="0"/>
          <p:nvPr/>
        </p:nvPicPr>
        <p:blipFill rotWithShape="1">
          <a:blip r:embed="rId7">
            <a:alphaModFix/>
          </a:blip>
          <a:srcRect l="14020" t="34765" r="17993" b="25071"/>
          <a:stretch>
            <a:fillRect/>
          </a:stretch>
        </p:blipFill>
        <p:spPr>
          <a:xfrm>
            <a:off x="16001859" y="9365200"/>
            <a:ext cx="1978341" cy="641746"/>
          </a:xfrm>
          <a:prstGeom prst="rect">
            <a:avLst/>
          </a:prstGeom>
          <a:noFill/>
          <a:ln>
            <a:noFill/>
          </a:ln>
        </p:spPr>
      </p:pic>
      <p:pic>
        <p:nvPicPr>
          <p:cNvPr id="7" name="Imagen 6" descr="Diagrama&#10;&#10;El contenido generado por IA puede ser incorrecto.">
            <a:extLst>
              <a:ext uri="{FF2B5EF4-FFF2-40B4-BE49-F238E27FC236}">
                <a16:creationId xmlns:a16="http://schemas.microsoft.com/office/drawing/2014/main" id="{74E76A2F-AD7C-26B4-C872-7BB4AB5CFC34}"/>
              </a:ext>
            </a:extLst>
          </p:cNvPr>
          <p:cNvPicPr>
            <a:picLocks noChangeAspect="1"/>
          </p:cNvPicPr>
          <p:nvPr/>
        </p:nvPicPr>
        <p:blipFill>
          <a:blip r:embed="rId8"/>
          <a:stretch>
            <a:fillRect/>
          </a:stretch>
        </p:blipFill>
        <p:spPr>
          <a:xfrm>
            <a:off x="307800" y="1371599"/>
            <a:ext cx="7924211" cy="714372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5" name="Rectángulo 4">
            <a:extLst>
              <a:ext uri="{FF2B5EF4-FFF2-40B4-BE49-F238E27FC236}">
                <a16:creationId xmlns:a16="http://schemas.microsoft.com/office/drawing/2014/main" id="{E1157814-61B7-3E7A-B4AB-92D976A9F7D7}"/>
              </a:ext>
            </a:extLst>
          </p:cNvPr>
          <p:cNvSpPr/>
          <p:nvPr/>
        </p:nvSpPr>
        <p:spPr>
          <a:xfrm>
            <a:off x="9639597" y="-32359"/>
            <a:ext cx="8701548" cy="1028700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2" name="Google Shape;192;p6"/>
          <p:cNvSpPr txBox="1"/>
          <p:nvPr/>
        </p:nvSpPr>
        <p:spPr>
          <a:xfrm>
            <a:off x="11418934" y="8063757"/>
            <a:ext cx="5544600" cy="553998"/>
          </a:xfrm>
          <a:prstGeom prst="rect">
            <a:avLst/>
          </a:prstGeom>
          <a:solidFill>
            <a:schemeClr val="bg1"/>
          </a:solidFill>
          <a:ln w="9525" cap="flat" cmpd="sng">
            <a:solidFill>
              <a:schemeClr val="bg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0" tIns="0" rIns="0" bIns="0" anchor="t" anchorCtr="0">
            <a:spAutoFit/>
          </a:bodyPr>
          <a:lstStyle/>
          <a:p>
            <a:pPr marL="0" marR="0" lvl="0" indent="0" algn="ctr" rtl="0">
              <a:spcBef>
                <a:spcPts val="0"/>
              </a:spcBef>
              <a:spcAft>
                <a:spcPts val="0"/>
              </a:spcAft>
              <a:buNone/>
            </a:pPr>
            <a:r>
              <a:rPr lang="en-US" sz="1800" dirty="0">
                <a:solidFill>
                  <a:srgbClr val="000000"/>
                </a:solidFill>
                <a:latin typeface="Source Sans Pro" panose="020B0503030403020204" pitchFamily="34" charset="0"/>
                <a:ea typeface="Source Sans Pro" panose="020B0503030403020204" pitchFamily="34" charset="0"/>
                <a:sym typeface="Arial"/>
              </a:rPr>
              <a:t>La </a:t>
            </a:r>
            <a:r>
              <a:rPr lang="en-US" sz="1800" dirty="0" err="1">
                <a:solidFill>
                  <a:srgbClr val="000000"/>
                </a:solidFill>
                <a:latin typeface="Source Sans Pro" panose="020B0503030403020204" pitchFamily="34" charset="0"/>
                <a:ea typeface="Source Sans Pro" panose="020B0503030403020204" pitchFamily="34" charset="0"/>
                <a:sym typeface="Arial"/>
              </a:rPr>
              <a:t>inflamacion</a:t>
            </a:r>
            <a:r>
              <a:rPr lang="en-US" sz="1800" dirty="0">
                <a:solidFill>
                  <a:srgbClr val="000000"/>
                </a:solidFill>
                <a:latin typeface="Source Sans Pro" panose="020B0503030403020204" pitchFamily="34" charset="0"/>
                <a:ea typeface="Source Sans Pro" panose="020B0503030403020204" pitchFamily="34" charset="0"/>
                <a:sym typeface="Arial"/>
              </a:rPr>
              <a:t> </a:t>
            </a:r>
            <a:r>
              <a:rPr lang="en-US" sz="1800" dirty="0" err="1">
                <a:solidFill>
                  <a:srgbClr val="000000"/>
                </a:solidFill>
                <a:latin typeface="Source Sans Pro" panose="020B0503030403020204" pitchFamily="34" charset="0"/>
                <a:ea typeface="Source Sans Pro" panose="020B0503030403020204" pitchFamily="34" charset="0"/>
                <a:sym typeface="Arial"/>
              </a:rPr>
              <a:t>cronica</a:t>
            </a:r>
            <a:r>
              <a:rPr lang="en-US" sz="1800" dirty="0">
                <a:solidFill>
                  <a:srgbClr val="000000"/>
                </a:solidFill>
                <a:latin typeface="Source Sans Pro" panose="020B0503030403020204" pitchFamily="34" charset="0"/>
                <a:ea typeface="Source Sans Pro" panose="020B0503030403020204" pitchFamily="34" charset="0"/>
                <a:sym typeface="Arial"/>
              </a:rPr>
              <a:t> y </a:t>
            </a:r>
            <a:r>
              <a:rPr lang="en-US" sz="1800" dirty="0" err="1">
                <a:solidFill>
                  <a:srgbClr val="000000"/>
                </a:solidFill>
                <a:latin typeface="Source Sans Pro" panose="020B0503030403020204" pitchFamily="34" charset="0"/>
                <a:ea typeface="Source Sans Pro" panose="020B0503030403020204" pitchFamily="34" charset="0"/>
                <a:sym typeface="Arial"/>
              </a:rPr>
              <a:t>el</a:t>
            </a:r>
            <a:r>
              <a:rPr lang="en-US" sz="1800" dirty="0">
                <a:solidFill>
                  <a:srgbClr val="000000"/>
                </a:solidFill>
                <a:latin typeface="Source Sans Pro" panose="020B0503030403020204" pitchFamily="34" charset="0"/>
                <a:ea typeface="Source Sans Pro" panose="020B0503030403020204" pitchFamily="34" charset="0"/>
                <a:sym typeface="Arial"/>
              </a:rPr>
              <a:t> </a:t>
            </a:r>
            <a:r>
              <a:rPr lang="en-US" sz="1800" dirty="0" err="1">
                <a:solidFill>
                  <a:srgbClr val="000000"/>
                </a:solidFill>
                <a:latin typeface="Source Sans Pro" panose="020B0503030403020204" pitchFamily="34" charset="0"/>
                <a:ea typeface="Source Sans Pro" panose="020B0503030403020204" pitchFamily="34" charset="0"/>
                <a:sym typeface="Arial"/>
              </a:rPr>
              <a:t>riesgo</a:t>
            </a:r>
            <a:r>
              <a:rPr lang="en-US" sz="1800" dirty="0">
                <a:solidFill>
                  <a:srgbClr val="000000"/>
                </a:solidFill>
                <a:latin typeface="Source Sans Pro" panose="020B0503030403020204" pitchFamily="34" charset="0"/>
                <a:ea typeface="Source Sans Pro" panose="020B0503030403020204" pitchFamily="34" charset="0"/>
                <a:sym typeface="Arial"/>
              </a:rPr>
              <a:t>  </a:t>
            </a:r>
            <a:r>
              <a:rPr lang="en-US" sz="1800" dirty="0" err="1">
                <a:solidFill>
                  <a:srgbClr val="000000"/>
                </a:solidFill>
                <a:latin typeface="Source Sans Pro" panose="020B0503030403020204" pitchFamily="34" charset="0"/>
                <a:ea typeface="Source Sans Pro" panose="020B0503030403020204" pitchFamily="34" charset="0"/>
                <a:sym typeface="Arial"/>
              </a:rPr>
              <a:t>asociado</a:t>
            </a:r>
            <a:r>
              <a:rPr lang="en-US" sz="1800" dirty="0">
                <a:solidFill>
                  <a:srgbClr val="000000"/>
                </a:solidFill>
                <a:latin typeface="Source Sans Pro" panose="020B0503030403020204" pitchFamily="34" charset="0"/>
                <a:ea typeface="Source Sans Pro" panose="020B0503030403020204" pitchFamily="34" charset="0"/>
                <a:sym typeface="Arial"/>
              </a:rPr>
              <a:t> </a:t>
            </a:r>
            <a:r>
              <a:rPr lang="en-US" sz="1800" dirty="0" err="1">
                <a:solidFill>
                  <a:srgbClr val="000000"/>
                </a:solidFill>
                <a:latin typeface="Source Sans Pro" panose="020B0503030403020204" pitchFamily="34" charset="0"/>
                <a:ea typeface="Source Sans Pro" panose="020B0503030403020204" pitchFamily="34" charset="0"/>
                <a:sym typeface="Arial"/>
              </a:rPr>
              <a:t>adquieren</a:t>
            </a:r>
            <a:r>
              <a:rPr lang="en-US" sz="1800" dirty="0">
                <a:solidFill>
                  <a:srgbClr val="000000"/>
                </a:solidFill>
                <a:latin typeface="Source Sans Pro" panose="020B0503030403020204" pitchFamily="34" charset="0"/>
                <a:ea typeface="Source Sans Pro" panose="020B0503030403020204" pitchFamily="34" charset="0"/>
                <a:sym typeface="Arial"/>
              </a:rPr>
              <a:t> mayor </a:t>
            </a:r>
            <a:r>
              <a:rPr lang="en-US" sz="1800" dirty="0" err="1">
                <a:solidFill>
                  <a:srgbClr val="000000"/>
                </a:solidFill>
                <a:latin typeface="Source Sans Pro" panose="020B0503030403020204" pitchFamily="34" charset="0"/>
                <a:ea typeface="Source Sans Pro" panose="020B0503030403020204" pitchFamily="34" charset="0"/>
                <a:sym typeface="Arial"/>
              </a:rPr>
              <a:t>relevancia</a:t>
            </a:r>
            <a:r>
              <a:rPr lang="en-US" sz="1800" dirty="0">
                <a:solidFill>
                  <a:srgbClr val="000000"/>
                </a:solidFill>
                <a:latin typeface="Source Sans Pro" panose="020B0503030403020204" pitchFamily="34" charset="0"/>
                <a:ea typeface="Source Sans Pro" panose="020B0503030403020204" pitchFamily="34" charset="0"/>
                <a:sym typeface="Arial"/>
              </a:rPr>
              <a:t> al considerer la </a:t>
            </a:r>
            <a:r>
              <a:rPr lang="en-US" sz="1800" dirty="0" err="1">
                <a:solidFill>
                  <a:srgbClr val="000000"/>
                </a:solidFill>
                <a:latin typeface="Source Sans Pro" panose="020B0503030403020204" pitchFamily="34" charset="0"/>
                <a:ea typeface="Source Sans Pro" panose="020B0503030403020204" pitchFamily="34" charset="0"/>
                <a:sym typeface="Arial"/>
              </a:rPr>
              <a:t>asociacion</a:t>
            </a:r>
            <a:r>
              <a:rPr lang="en-US" sz="1800" dirty="0">
                <a:solidFill>
                  <a:srgbClr val="000000"/>
                </a:solidFill>
                <a:latin typeface="Source Sans Pro" panose="020B0503030403020204" pitchFamily="34" charset="0"/>
                <a:ea typeface="Source Sans Pro" panose="020B0503030403020204" pitchFamily="34" charset="0"/>
                <a:sym typeface="Arial"/>
              </a:rPr>
              <a:t> CCR -Colitis</a:t>
            </a:r>
            <a:endParaRPr sz="1800" dirty="0">
              <a:solidFill>
                <a:srgbClr val="000000"/>
              </a:solidFill>
              <a:latin typeface="Source Sans Pro" panose="020B0503030403020204" pitchFamily="34" charset="0"/>
              <a:ea typeface="Source Sans Pro" panose="020B0503030403020204" pitchFamily="34" charset="0"/>
              <a:sym typeface="Arial"/>
            </a:endParaRPr>
          </a:p>
        </p:txBody>
      </p:sp>
      <p:sp>
        <p:nvSpPr>
          <p:cNvPr id="193" name="Google Shape;193;p6"/>
          <p:cNvSpPr txBox="1"/>
          <p:nvPr/>
        </p:nvSpPr>
        <p:spPr>
          <a:xfrm>
            <a:off x="9991230" y="8831381"/>
            <a:ext cx="7285703" cy="1292662"/>
          </a:xfrm>
          <a:prstGeom prst="rect">
            <a:avLst/>
          </a:prstGeom>
          <a:noFill/>
          <a:ln>
            <a:noFill/>
          </a:ln>
        </p:spPr>
        <p:txBody>
          <a:bodyPr spcFirstLastPara="1" wrap="square" lIns="0" tIns="0" rIns="0" bIns="0" anchor="t" anchorCtr="0">
            <a:spAutoFit/>
          </a:bodyPr>
          <a:lstStyle/>
          <a:p>
            <a:pPr marL="0" marR="0" lvl="0" indent="0" rtl="0">
              <a:lnSpc>
                <a:spcPct val="160000"/>
              </a:lnSpc>
              <a:spcBef>
                <a:spcPts val="0"/>
              </a:spcBef>
              <a:spcAft>
                <a:spcPts val="0"/>
              </a:spcAft>
              <a:buNone/>
            </a:pPr>
            <a:r>
              <a:rPr lang="en-US" sz="1050" dirty="0"/>
              <a:t> </a:t>
            </a:r>
            <a:r>
              <a:rPr lang="en-US" sz="1050" dirty="0">
                <a:solidFill>
                  <a:srgbClr val="000000"/>
                </a:solidFill>
                <a:latin typeface="Arial"/>
                <a:ea typeface="Arial"/>
                <a:cs typeface="Arial"/>
                <a:sym typeface="Arial"/>
              </a:rPr>
              <a:t>T. Barnicle A, </a:t>
            </a:r>
            <a:r>
              <a:rPr lang="en-US" sz="1050" dirty="0" err="1">
                <a:solidFill>
                  <a:srgbClr val="000000"/>
                </a:solidFill>
                <a:latin typeface="Arial"/>
                <a:ea typeface="Arial"/>
                <a:cs typeface="Arial"/>
                <a:sym typeface="Arial"/>
              </a:rPr>
              <a:t>Seoighe</a:t>
            </a:r>
            <a:r>
              <a:rPr lang="en-US" sz="1050" dirty="0">
                <a:solidFill>
                  <a:srgbClr val="000000"/>
                </a:solidFill>
                <a:latin typeface="Arial"/>
                <a:ea typeface="Arial"/>
                <a:cs typeface="Arial"/>
                <a:sym typeface="Arial"/>
              </a:rPr>
              <a:t> C, </a:t>
            </a:r>
            <a:r>
              <a:rPr lang="en-US" sz="1050" dirty="0" err="1">
                <a:solidFill>
                  <a:srgbClr val="000000"/>
                </a:solidFill>
                <a:latin typeface="Arial"/>
                <a:ea typeface="Arial"/>
                <a:cs typeface="Arial"/>
                <a:sym typeface="Arial"/>
              </a:rPr>
              <a:t>Greally</a:t>
            </a:r>
            <a:r>
              <a:rPr lang="en-US" sz="1050" dirty="0">
                <a:solidFill>
                  <a:srgbClr val="000000"/>
                </a:solidFill>
                <a:latin typeface="Arial"/>
                <a:ea typeface="Arial"/>
                <a:cs typeface="Arial"/>
                <a:sym typeface="Arial"/>
              </a:rPr>
              <a:t> JM, Golden A, Egan LJ. Inflammation-associated DNA methylation patterns in epithelium of ulcerative colitis. Epigenetics. 2017 Aug 3;12(8):591–606.11,Nardone OM, </a:t>
            </a:r>
            <a:r>
              <a:rPr lang="en-US" sz="1050" dirty="0" err="1">
                <a:solidFill>
                  <a:srgbClr val="000000"/>
                </a:solidFill>
                <a:latin typeface="Arial"/>
                <a:ea typeface="Arial"/>
                <a:cs typeface="Arial"/>
                <a:sym typeface="Arial"/>
              </a:rPr>
              <a:t>Zammarchi</a:t>
            </a:r>
            <a:r>
              <a:rPr lang="en-US" sz="1050" dirty="0">
                <a:solidFill>
                  <a:srgbClr val="000000"/>
                </a:solidFill>
                <a:latin typeface="Arial"/>
                <a:ea typeface="Arial"/>
                <a:cs typeface="Arial"/>
                <a:sym typeface="Arial"/>
              </a:rPr>
              <a:t> I, Santacroce G, Ghosh S, </a:t>
            </a:r>
            <a:r>
              <a:rPr lang="en-US" sz="1050" dirty="0" err="1">
                <a:solidFill>
                  <a:srgbClr val="000000"/>
                </a:solidFill>
                <a:latin typeface="Arial"/>
                <a:ea typeface="Arial"/>
                <a:cs typeface="Arial"/>
                <a:sym typeface="Arial"/>
              </a:rPr>
              <a:t>Iacucci</a:t>
            </a:r>
            <a:r>
              <a:rPr lang="en-US" sz="1050" dirty="0">
                <a:solidFill>
                  <a:srgbClr val="000000"/>
                </a:solidFill>
                <a:latin typeface="Arial"/>
                <a:ea typeface="Arial"/>
                <a:cs typeface="Arial"/>
                <a:sym typeface="Arial"/>
              </a:rPr>
              <a:t> M. </a:t>
            </a:r>
            <a:r>
              <a:rPr lang="en-US" sz="900" dirty="0">
                <a:solidFill>
                  <a:srgbClr val="000000"/>
                </a:solidFill>
                <a:latin typeface="Arial"/>
                <a:ea typeface="Arial"/>
                <a:cs typeface="Arial"/>
                <a:sym typeface="Arial"/>
              </a:rPr>
              <a:t>Inflammation-Driven</a:t>
            </a:r>
            <a:r>
              <a:rPr lang="en-US" sz="1050" dirty="0">
                <a:solidFill>
                  <a:srgbClr val="000000"/>
                </a:solidFill>
                <a:latin typeface="Arial"/>
                <a:ea typeface="Arial"/>
                <a:cs typeface="Arial"/>
                <a:sym typeface="Arial"/>
              </a:rPr>
              <a:t> Colorectal Cancer Associated with Colitis [Internet]. Encyclopedia.pub. Olga Maria Nardone; 2023 [cited 2025 Sep 20]. Available from: </a:t>
            </a:r>
            <a:r>
              <a:rPr lang="en-US" sz="1050" u="sng" dirty="0">
                <a:solidFill>
                  <a:srgbClr val="000000"/>
                </a:solidFill>
                <a:latin typeface="Arial"/>
                <a:ea typeface="Arial"/>
                <a:cs typeface="Arial"/>
                <a:sym typeface="Arial"/>
                <a:hlinkClick r:id="rId3">
                  <a:extLst>
                    <a:ext uri="{A12FA001-AC4F-418D-AE19-62706E023703}">
                      <ahyp:hlinkClr xmlns:ahyp="http://schemas.microsoft.com/office/drawing/2018/hyperlinkcolor" val="tx"/>
                    </a:ext>
                  </a:extLst>
                </a:hlinkClick>
              </a:rPr>
              <a:t>https://encyclopedia.pub/entry/44048</a:t>
            </a:r>
            <a:endParaRPr sz="1050" dirty="0">
              <a:solidFill>
                <a:srgbClr val="000000"/>
              </a:solidFill>
              <a:latin typeface="Arial"/>
              <a:ea typeface="Arial"/>
              <a:cs typeface="Arial"/>
              <a:sym typeface="Arial"/>
            </a:endParaRPr>
          </a:p>
          <a:p>
            <a:pPr marL="0" marR="0" lvl="0" indent="0" algn="ctr" rtl="0">
              <a:lnSpc>
                <a:spcPct val="160000"/>
              </a:lnSpc>
              <a:spcBef>
                <a:spcPts val="0"/>
              </a:spcBef>
              <a:spcAft>
                <a:spcPts val="0"/>
              </a:spcAft>
              <a:buNone/>
            </a:pPr>
            <a:endParaRPr sz="1050" dirty="0">
              <a:solidFill>
                <a:srgbClr val="000000"/>
              </a:solidFill>
              <a:latin typeface="Arial"/>
              <a:ea typeface="Arial"/>
              <a:cs typeface="Arial"/>
              <a:sym typeface="Arial"/>
            </a:endParaRPr>
          </a:p>
        </p:txBody>
      </p:sp>
      <p:sp>
        <p:nvSpPr>
          <p:cNvPr id="195" name="Google Shape;195;p6"/>
          <p:cNvSpPr txBox="1"/>
          <p:nvPr/>
        </p:nvSpPr>
        <p:spPr>
          <a:xfrm>
            <a:off x="10442210" y="1435090"/>
            <a:ext cx="6990027" cy="1015622"/>
          </a:xfrm>
          <a:prstGeom prst="rect">
            <a:avLst/>
          </a:prstGeom>
          <a:noFill/>
          <a:ln w="25400" cap="flat" cmpd="sng">
            <a:noFill/>
            <a:prstDash val="solid"/>
            <a:round/>
            <a:headEnd type="none" w="sm" len="sm"/>
            <a:tailEnd type="none" w="sm" len="sm"/>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s-ES" sz="2000" dirty="0">
                <a:solidFill>
                  <a:schemeClr val="dk1"/>
                </a:solidFill>
                <a:latin typeface="Source Sans Pro" panose="020B0503030403020204" pitchFamily="34" charset="0"/>
                <a:ea typeface="Source Sans Pro" panose="020B0503030403020204" pitchFamily="34" charset="0"/>
              </a:rPr>
              <a:t>CU asociado al CCR  caracterizan por la acumulación progresiva de alteraciones </a:t>
            </a:r>
            <a:r>
              <a:rPr lang="es-ES" sz="2000" i="1" u="sng" dirty="0">
                <a:solidFill>
                  <a:schemeClr val="dk1"/>
                </a:solidFill>
                <a:latin typeface="Source Sans Pro" panose="020B0503030403020204" pitchFamily="34" charset="0"/>
                <a:ea typeface="Source Sans Pro" panose="020B0503030403020204" pitchFamily="34" charset="0"/>
              </a:rPr>
              <a:t>genéticas y epigenéticas  </a:t>
            </a:r>
            <a:r>
              <a:rPr lang="es-ES" sz="2000" u="sng" dirty="0">
                <a:solidFill>
                  <a:schemeClr val="dk1"/>
                </a:solidFill>
                <a:latin typeface="Source Sans Pro" panose="020B0503030403020204" pitchFamily="34" charset="0"/>
                <a:ea typeface="Source Sans Pro" panose="020B0503030403020204" pitchFamily="34" charset="0"/>
              </a:rPr>
              <a:t> </a:t>
            </a:r>
            <a:r>
              <a:rPr lang="es-ES" sz="2000" dirty="0">
                <a:solidFill>
                  <a:schemeClr val="dk1"/>
                </a:solidFill>
                <a:latin typeface="Source Sans Pro" panose="020B0503030403020204" pitchFamily="34" charset="0"/>
                <a:ea typeface="Source Sans Pro" panose="020B0503030403020204" pitchFamily="34" charset="0"/>
              </a:rPr>
              <a:t>y desregulación del sistema inmune de mucosas</a:t>
            </a:r>
            <a:endParaRPr sz="2000" dirty="0">
              <a:solidFill>
                <a:schemeClr val="dk1"/>
              </a:solidFill>
              <a:latin typeface="Source Sans Pro" panose="020B0503030403020204" pitchFamily="34" charset="0"/>
              <a:ea typeface="Source Sans Pro" panose="020B0503030403020204" pitchFamily="34" charset="0"/>
            </a:endParaRPr>
          </a:p>
        </p:txBody>
      </p:sp>
      <p:sp>
        <p:nvSpPr>
          <p:cNvPr id="197" name="Google Shape;197;p6"/>
          <p:cNvSpPr txBox="1"/>
          <p:nvPr/>
        </p:nvSpPr>
        <p:spPr>
          <a:xfrm>
            <a:off x="11318584" y="3110634"/>
            <a:ext cx="5745300" cy="2000507"/>
          </a:xfrm>
          <a:prstGeom prst="rect">
            <a:avLst/>
          </a:prstGeom>
          <a:solidFill>
            <a:schemeClr val="lt1"/>
          </a:solidFill>
          <a:ln w="25400" cap="flat" cmpd="sng">
            <a:solidFill>
              <a:schemeClr val="accent5">
                <a:lumMod val="75000"/>
              </a:schemeClr>
            </a:solidFill>
            <a:prstDash val="solid"/>
            <a:round/>
            <a:headEnd type="none" w="sm" len="sm"/>
            <a:tailEnd type="none" w="sm" len="sm"/>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2000" dirty="0">
                <a:solidFill>
                  <a:schemeClr val="dk1"/>
                </a:solidFill>
                <a:latin typeface="Source Sans Pro" panose="020B0503030403020204" pitchFamily="34" charset="0"/>
                <a:ea typeface="Source Sans Pro" panose="020B0503030403020204" pitchFamily="34" charset="0"/>
              </a:rPr>
              <a:t>Genes </a:t>
            </a:r>
            <a:r>
              <a:rPr lang="en-US" sz="2000" dirty="0" err="1">
                <a:solidFill>
                  <a:schemeClr val="dk1"/>
                </a:solidFill>
                <a:latin typeface="Source Sans Pro" panose="020B0503030403020204" pitchFamily="34" charset="0"/>
                <a:ea typeface="Source Sans Pro" panose="020B0503030403020204" pitchFamily="34" charset="0"/>
              </a:rPr>
              <a:t>hipometilados</a:t>
            </a:r>
            <a:r>
              <a:rPr lang="en-US" sz="2000" dirty="0">
                <a:solidFill>
                  <a:schemeClr val="dk1"/>
                </a:solidFill>
                <a:latin typeface="Source Sans Pro" panose="020B0503030403020204" pitchFamily="34" charset="0"/>
                <a:ea typeface="Source Sans Pro" panose="020B0503030403020204" pitchFamily="34" charset="0"/>
              </a:rPr>
              <a:t> en CU </a:t>
            </a:r>
            <a:r>
              <a:rPr lang="en-US" sz="2000" dirty="0" err="1">
                <a:solidFill>
                  <a:schemeClr val="dk1"/>
                </a:solidFill>
                <a:latin typeface="Source Sans Pro" panose="020B0503030403020204" pitchFamily="34" charset="0"/>
                <a:ea typeface="Source Sans Pro" panose="020B0503030403020204" pitchFamily="34" charset="0"/>
              </a:rPr>
              <a:t>severa</a:t>
            </a:r>
            <a:endParaRPr lang="en-US" sz="2000" dirty="0">
              <a:solidFill>
                <a:schemeClr val="dk1"/>
              </a:solidFill>
              <a:latin typeface="Source Sans Pro" panose="020B0503030403020204" pitchFamily="34" charset="0"/>
              <a:ea typeface="Source Sans Pro" panose="020B0503030403020204" pitchFamily="34" charset="0"/>
            </a:endParaRPr>
          </a:p>
          <a:p>
            <a:pPr marL="0" lvl="0" indent="0" algn="ctr" rtl="0">
              <a:spcBef>
                <a:spcPts val="0"/>
              </a:spcBef>
              <a:spcAft>
                <a:spcPts val="0"/>
              </a:spcAft>
              <a:buClr>
                <a:schemeClr val="dk1"/>
              </a:buClr>
              <a:buSzPts val="1100"/>
              <a:buFont typeface="Arial"/>
              <a:buNone/>
            </a:pPr>
            <a:endParaRPr lang="en-US" sz="2000" dirty="0">
              <a:solidFill>
                <a:schemeClr val="dk1"/>
              </a:solidFill>
              <a:latin typeface="Source Sans Pro" panose="020B0503030403020204" pitchFamily="34" charset="0"/>
              <a:ea typeface="Source Sans Pro" panose="020B0503030403020204" pitchFamily="34" charset="0"/>
            </a:endParaRPr>
          </a:p>
          <a:p>
            <a:pPr marL="0" lvl="0" indent="0" algn="ctr" rtl="0">
              <a:spcBef>
                <a:spcPts val="0"/>
              </a:spcBef>
              <a:spcAft>
                <a:spcPts val="0"/>
              </a:spcAft>
              <a:buClr>
                <a:schemeClr val="dk1"/>
              </a:buClr>
              <a:buSzPts val="1100"/>
              <a:buFont typeface="Arial"/>
              <a:buNone/>
            </a:pPr>
            <a:r>
              <a:rPr lang="en-US" sz="2400" i="1" dirty="0">
                <a:solidFill>
                  <a:schemeClr val="dk1"/>
                </a:solidFill>
                <a:latin typeface="Source Sans Pro" panose="020B0503030403020204" pitchFamily="34" charset="0"/>
                <a:ea typeface="Source Sans Pro" panose="020B0503030403020204" pitchFamily="34" charset="0"/>
              </a:rPr>
              <a:t> IL10, SIGLEC5, CD86, CLMP, NLRP3 y NLRC4 </a:t>
            </a:r>
          </a:p>
          <a:p>
            <a:pPr marL="0" lvl="0" indent="0" algn="ctr" rtl="0">
              <a:spcBef>
                <a:spcPts val="0"/>
              </a:spcBef>
              <a:spcAft>
                <a:spcPts val="0"/>
              </a:spcAft>
              <a:buClr>
                <a:schemeClr val="dk1"/>
              </a:buClr>
              <a:buSzPts val="1100"/>
              <a:buFont typeface="Arial"/>
              <a:buNone/>
            </a:pPr>
            <a:r>
              <a:rPr lang="en-US" sz="2000" dirty="0">
                <a:solidFill>
                  <a:schemeClr val="dk1"/>
                </a:solidFill>
                <a:latin typeface="Source Sans Pro" panose="020B0503030403020204" pitchFamily="34" charset="0"/>
                <a:ea typeface="Source Sans Pro" panose="020B0503030403020204" pitchFamily="34" charset="0"/>
              </a:rPr>
              <a:t> (</a:t>
            </a:r>
            <a:r>
              <a:rPr lang="en-US" sz="2000" dirty="0" err="1">
                <a:solidFill>
                  <a:schemeClr val="dk1"/>
                </a:solidFill>
                <a:latin typeface="Source Sans Pro" panose="020B0503030403020204" pitchFamily="34" charset="0"/>
                <a:ea typeface="Source Sans Pro" panose="020B0503030403020204" pitchFamily="34" charset="0"/>
              </a:rPr>
              <a:t>Actividad</a:t>
            </a:r>
            <a:r>
              <a:rPr lang="en-US" sz="2000" dirty="0">
                <a:solidFill>
                  <a:schemeClr val="dk1"/>
                </a:solidFill>
                <a:latin typeface="Source Sans Pro" panose="020B0503030403020204" pitchFamily="34" charset="0"/>
                <a:ea typeface="Source Sans Pro" panose="020B0503030403020204" pitchFamily="34" charset="0"/>
              </a:rPr>
              <a:t> </a:t>
            </a:r>
            <a:r>
              <a:rPr lang="en-US" sz="2000" dirty="0" err="1">
                <a:solidFill>
                  <a:schemeClr val="dk1"/>
                </a:solidFill>
                <a:latin typeface="Source Sans Pro" panose="020B0503030403020204" pitchFamily="34" charset="0"/>
                <a:ea typeface="Source Sans Pro" panose="020B0503030403020204" pitchFamily="34" charset="0"/>
              </a:rPr>
              <a:t>antiinflamatoria</a:t>
            </a:r>
            <a:r>
              <a:rPr lang="en-US" sz="2000" dirty="0">
                <a:solidFill>
                  <a:schemeClr val="dk1"/>
                </a:solidFill>
                <a:latin typeface="Source Sans Pro" panose="020B0503030403020204" pitchFamily="34" charset="0"/>
                <a:ea typeface="Source Sans Pro" panose="020B0503030403020204" pitchFamily="34" charset="0"/>
              </a:rPr>
              <a:t>) </a:t>
            </a:r>
            <a:endParaRPr sz="2000" dirty="0">
              <a:solidFill>
                <a:schemeClr val="dk1"/>
              </a:solidFill>
              <a:latin typeface="Source Sans Pro" panose="020B0503030403020204" pitchFamily="34" charset="0"/>
              <a:ea typeface="Source Sans Pro" panose="020B0503030403020204" pitchFamily="34" charset="0"/>
            </a:endParaRPr>
          </a:p>
          <a:p>
            <a:pPr marL="0" lvl="0" indent="0" algn="ctr" rtl="0">
              <a:spcBef>
                <a:spcPts val="0"/>
              </a:spcBef>
              <a:spcAft>
                <a:spcPts val="0"/>
              </a:spcAft>
              <a:buClr>
                <a:schemeClr val="dk1"/>
              </a:buClr>
              <a:buSzPts val="1100"/>
              <a:buFont typeface="Arial"/>
              <a:buNone/>
            </a:pPr>
            <a:r>
              <a:rPr lang="en-US" sz="1600" b="1" dirty="0">
                <a:solidFill>
                  <a:schemeClr val="dk1"/>
                </a:solidFill>
                <a:latin typeface="Source Sans Pro" panose="020B0503030403020204" pitchFamily="34" charset="0"/>
                <a:ea typeface="Source Sans Pro" panose="020B0503030403020204" pitchFamily="34" charset="0"/>
              </a:rPr>
              <a:t>Taman H, </a:t>
            </a:r>
            <a:r>
              <a:rPr lang="en-US" sz="1600" b="1" i="1" dirty="0">
                <a:solidFill>
                  <a:schemeClr val="dk1"/>
                </a:solidFill>
                <a:latin typeface="Source Sans Pro" panose="020B0503030403020204" pitchFamily="34" charset="0"/>
                <a:ea typeface="Source Sans Pro" panose="020B0503030403020204" pitchFamily="34" charset="0"/>
              </a:rPr>
              <a:t>et al </a:t>
            </a:r>
            <a:r>
              <a:rPr lang="en-US" sz="1600" b="1" dirty="0">
                <a:solidFill>
                  <a:schemeClr val="dk1"/>
                </a:solidFill>
                <a:latin typeface="Source Sans Pro" panose="020B0503030403020204" pitchFamily="34" charset="0"/>
                <a:ea typeface="Source Sans Pro" panose="020B0503030403020204" pitchFamily="34" charset="0"/>
              </a:rPr>
              <a:t>2021</a:t>
            </a:r>
            <a:endParaRPr sz="1600" b="1" dirty="0">
              <a:solidFill>
                <a:schemeClr val="dk1"/>
              </a:solidFill>
              <a:latin typeface="Source Sans Pro" panose="020B0503030403020204" pitchFamily="34" charset="0"/>
              <a:ea typeface="Source Sans Pro" panose="020B0503030403020204" pitchFamily="34" charset="0"/>
            </a:endParaRPr>
          </a:p>
          <a:p>
            <a:pPr marL="0" lvl="0" indent="0" algn="ctr" rtl="0">
              <a:spcBef>
                <a:spcPts val="0"/>
              </a:spcBef>
              <a:spcAft>
                <a:spcPts val="0"/>
              </a:spcAft>
              <a:buClr>
                <a:schemeClr val="dk1"/>
              </a:buClr>
              <a:buSzPts val="1100"/>
              <a:buFont typeface="Arial"/>
              <a:buNone/>
            </a:pPr>
            <a:endParaRPr sz="2000" b="1" dirty="0">
              <a:solidFill>
                <a:schemeClr val="dk1"/>
              </a:solidFill>
              <a:latin typeface="Source Sans Pro" panose="020B0503030403020204" pitchFamily="34" charset="0"/>
              <a:ea typeface="Source Sans Pro" panose="020B0503030403020204" pitchFamily="34" charset="0"/>
            </a:endParaRPr>
          </a:p>
        </p:txBody>
      </p:sp>
      <p:sp>
        <p:nvSpPr>
          <p:cNvPr id="198" name="Google Shape;198;p6"/>
          <p:cNvSpPr txBox="1"/>
          <p:nvPr/>
        </p:nvSpPr>
        <p:spPr>
          <a:xfrm>
            <a:off x="11318584" y="5524642"/>
            <a:ext cx="5745300" cy="1908174"/>
          </a:xfrm>
          <a:prstGeom prst="rect">
            <a:avLst/>
          </a:prstGeom>
          <a:solidFill>
            <a:schemeClr val="lt1"/>
          </a:solidFill>
          <a:ln w="25400" cap="flat" cmpd="sng">
            <a:solidFill>
              <a:schemeClr val="accent5">
                <a:lumMod val="75000"/>
              </a:schemeClr>
            </a:solidFill>
            <a:prstDash val="solid"/>
            <a:round/>
            <a:headEnd type="none" w="sm" len="sm"/>
            <a:tailEnd type="none" w="sm" len="sm"/>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2000" dirty="0">
                <a:solidFill>
                  <a:schemeClr val="dk1"/>
                </a:solidFill>
                <a:latin typeface="Source Sans Pro" panose="020B0503030403020204" pitchFamily="34" charset="0"/>
                <a:ea typeface="Source Sans Pro" panose="020B0503030403020204" pitchFamily="34" charset="0"/>
              </a:rPr>
              <a:t> Genes </a:t>
            </a:r>
            <a:r>
              <a:rPr lang="en-US" sz="2000" dirty="0" err="1">
                <a:solidFill>
                  <a:schemeClr val="dk1"/>
                </a:solidFill>
                <a:latin typeface="Source Sans Pro" panose="020B0503030403020204" pitchFamily="34" charset="0"/>
                <a:ea typeface="Source Sans Pro" panose="020B0503030403020204" pitchFamily="34" charset="0"/>
              </a:rPr>
              <a:t>hipermetilados</a:t>
            </a:r>
            <a:r>
              <a:rPr lang="en-US" sz="2000" dirty="0">
                <a:solidFill>
                  <a:schemeClr val="dk1"/>
                </a:solidFill>
                <a:latin typeface="Source Sans Pro" panose="020B0503030403020204" pitchFamily="34" charset="0"/>
                <a:ea typeface="Source Sans Pro" panose="020B0503030403020204" pitchFamily="34" charset="0"/>
              </a:rPr>
              <a:t> en CU</a:t>
            </a:r>
          </a:p>
          <a:p>
            <a:pPr marL="0" lvl="0" indent="0" algn="ctr" rtl="0">
              <a:spcBef>
                <a:spcPts val="0"/>
              </a:spcBef>
              <a:spcAft>
                <a:spcPts val="0"/>
              </a:spcAft>
              <a:buClr>
                <a:schemeClr val="dk1"/>
              </a:buClr>
              <a:buSzPts val="1100"/>
              <a:buFont typeface="Arial"/>
              <a:buNone/>
            </a:pPr>
            <a:r>
              <a:rPr lang="en-US" sz="2000" dirty="0" err="1">
                <a:solidFill>
                  <a:schemeClr val="dk1"/>
                </a:solidFill>
                <a:latin typeface="Source Sans Pro" panose="020B0503030403020204" pitchFamily="34" charset="0"/>
                <a:ea typeface="Source Sans Pro" panose="020B0503030403020204" pitchFamily="34" charset="0"/>
              </a:rPr>
              <a:t>C</a:t>
            </a:r>
            <a:r>
              <a:rPr lang="en-US" sz="2000" dirty="0" err="1">
                <a:solidFill>
                  <a:srgbClr val="212121"/>
                </a:solidFill>
                <a:latin typeface="Source Sans Pro" panose="020B0503030403020204" pitchFamily="34" charset="0"/>
                <a:ea typeface="Source Sans Pro" panose="020B0503030403020204" pitchFamily="34" charset="0"/>
              </a:rPr>
              <a:t>orrelación</a:t>
            </a:r>
            <a:r>
              <a:rPr lang="en-US" sz="2000" dirty="0">
                <a:solidFill>
                  <a:srgbClr val="212121"/>
                </a:solidFill>
                <a:latin typeface="Source Sans Pro" panose="020B0503030403020204" pitchFamily="34" charset="0"/>
                <a:ea typeface="Source Sans Pro" panose="020B0503030403020204" pitchFamily="34" charset="0"/>
              </a:rPr>
              <a:t> </a:t>
            </a:r>
            <a:r>
              <a:rPr lang="en-US" sz="2000" dirty="0" err="1">
                <a:solidFill>
                  <a:srgbClr val="212121"/>
                </a:solidFill>
                <a:latin typeface="Source Sans Pro" panose="020B0503030403020204" pitchFamily="34" charset="0"/>
                <a:ea typeface="Source Sans Pro" panose="020B0503030403020204" pitchFamily="34" charset="0"/>
              </a:rPr>
              <a:t>inversa</a:t>
            </a:r>
            <a:r>
              <a:rPr lang="en-US" sz="2000" dirty="0">
                <a:solidFill>
                  <a:srgbClr val="212121"/>
                </a:solidFill>
                <a:latin typeface="Source Sans Pro" panose="020B0503030403020204" pitchFamily="34" charset="0"/>
                <a:ea typeface="Source Sans Pro" panose="020B0503030403020204" pitchFamily="34" charset="0"/>
              </a:rPr>
              <a:t>: </a:t>
            </a:r>
            <a:r>
              <a:rPr lang="en-US" sz="2000" dirty="0" err="1">
                <a:solidFill>
                  <a:srgbClr val="212121"/>
                </a:solidFill>
                <a:latin typeface="Source Sans Pro" panose="020B0503030403020204" pitchFamily="34" charset="0"/>
                <a:ea typeface="Source Sans Pro" panose="020B0503030403020204" pitchFamily="34" charset="0"/>
              </a:rPr>
              <a:t>metilación</a:t>
            </a:r>
            <a:r>
              <a:rPr lang="en-US" sz="2000" dirty="0">
                <a:solidFill>
                  <a:srgbClr val="212121"/>
                </a:solidFill>
                <a:latin typeface="Source Sans Pro" panose="020B0503030403020204" pitchFamily="34" charset="0"/>
                <a:ea typeface="Source Sans Pro" panose="020B0503030403020204" pitchFamily="34" charset="0"/>
              </a:rPr>
              <a:t> y </a:t>
            </a:r>
            <a:r>
              <a:rPr lang="en-US" sz="2000" dirty="0" err="1">
                <a:solidFill>
                  <a:srgbClr val="212121"/>
                </a:solidFill>
                <a:latin typeface="Source Sans Pro" panose="020B0503030403020204" pitchFamily="34" charset="0"/>
                <a:ea typeface="Source Sans Pro" panose="020B0503030403020204" pitchFamily="34" charset="0"/>
              </a:rPr>
              <a:t>expresión</a:t>
            </a:r>
            <a:r>
              <a:rPr lang="en-US" sz="2000" dirty="0">
                <a:solidFill>
                  <a:srgbClr val="212121"/>
                </a:solidFill>
                <a:latin typeface="Source Sans Pro" panose="020B0503030403020204" pitchFamily="34" charset="0"/>
                <a:ea typeface="Source Sans Pro" panose="020B0503030403020204" pitchFamily="34" charset="0"/>
              </a:rPr>
              <a:t> </a:t>
            </a:r>
            <a:r>
              <a:rPr lang="en-US" sz="2000" dirty="0" err="1">
                <a:solidFill>
                  <a:srgbClr val="212121"/>
                </a:solidFill>
                <a:latin typeface="Source Sans Pro" panose="020B0503030403020204" pitchFamily="34" charset="0"/>
                <a:ea typeface="Source Sans Pro" panose="020B0503030403020204" pitchFamily="34" charset="0"/>
              </a:rPr>
              <a:t>génica</a:t>
            </a:r>
            <a:endParaRPr lang="en-US" sz="2000" dirty="0">
              <a:solidFill>
                <a:srgbClr val="212121"/>
              </a:solidFill>
              <a:latin typeface="Source Sans Pro" panose="020B0503030403020204" pitchFamily="34" charset="0"/>
              <a:ea typeface="Source Sans Pro" panose="020B0503030403020204" pitchFamily="34" charset="0"/>
            </a:endParaRPr>
          </a:p>
          <a:p>
            <a:pPr marL="0" lvl="0" indent="0" algn="ctr" rtl="0">
              <a:spcBef>
                <a:spcPts val="0"/>
              </a:spcBef>
              <a:spcAft>
                <a:spcPts val="0"/>
              </a:spcAft>
              <a:buClr>
                <a:schemeClr val="dk1"/>
              </a:buClr>
              <a:buSzPts val="1100"/>
              <a:buFont typeface="Arial"/>
              <a:buNone/>
            </a:pPr>
            <a:endParaRPr lang="en-US" sz="2000" dirty="0">
              <a:solidFill>
                <a:srgbClr val="212121"/>
              </a:solidFill>
              <a:latin typeface="Source Sans Pro" panose="020B0503030403020204" pitchFamily="34" charset="0"/>
              <a:ea typeface="Source Sans Pro" panose="020B0503030403020204" pitchFamily="34" charset="0"/>
            </a:endParaRPr>
          </a:p>
          <a:p>
            <a:pPr marL="0" lvl="0" indent="0" algn="ctr" rtl="0">
              <a:spcBef>
                <a:spcPts val="0"/>
              </a:spcBef>
              <a:spcAft>
                <a:spcPts val="0"/>
              </a:spcAft>
              <a:buClr>
                <a:schemeClr val="dk1"/>
              </a:buClr>
              <a:buSzPts val="1100"/>
              <a:buFont typeface="Arial"/>
              <a:buNone/>
            </a:pPr>
            <a:r>
              <a:rPr lang="en-US" sz="2400" i="1" dirty="0">
                <a:solidFill>
                  <a:srgbClr val="212121"/>
                </a:solidFill>
                <a:latin typeface="Source Sans Pro" panose="020B0503030403020204" pitchFamily="34" charset="0"/>
                <a:ea typeface="Source Sans Pro" panose="020B0503030403020204" pitchFamily="34" charset="0"/>
              </a:rPr>
              <a:t>ROR1, GXYLT2, FOXA2 </a:t>
            </a:r>
          </a:p>
          <a:p>
            <a:pPr marL="0" lvl="0" indent="0" algn="ctr" rtl="0">
              <a:spcBef>
                <a:spcPts val="0"/>
              </a:spcBef>
              <a:spcAft>
                <a:spcPts val="0"/>
              </a:spcAft>
              <a:buClr>
                <a:schemeClr val="dk1"/>
              </a:buClr>
              <a:buSzPts val="1100"/>
              <a:buFont typeface="Arial"/>
              <a:buNone/>
            </a:pPr>
            <a:r>
              <a:rPr lang="en-US" sz="2000" b="1" dirty="0">
                <a:solidFill>
                  <a:srgbClr val="212121"/>
                </a:solidFill>
                <a:latin typeface="Source Sans Pro" panose="020B0503030403020204" pitchFamily="34" charset="0"/>
                <a:ea typeface="Source Sans Pro" panose="020B0503030403020204" pitchFamily="34" charset="0"/>
              </a:rPr>
              <a:t>RARB</a:t>
            </a:r>
            <a:r>
              <a:rPr lang="en-US" sz="2000" dirty="0">
                <a:solidFill>
                  <a:srgbClr val="212121"/>
                </a:solidFill>
                <a:latin typeface="Source Sans Pro" panose="020B0503030403020204" pitchFamily="34" charset="0"/>
                <a:ea typeface="Source Sans Pro" panose="020B0503030403020204" pitchFamily="34" charset="0"/>
              </a:rPr>
              <a:t> asociado  adenocarcinoma colorectal</a:t>
            </a:r>
          </a:p>
          <a:p>
            <a:pPr lvl="0" algn="ctr">
              <a:buClr>
                <a:schemeClr val="dk1"/>
              </a:buClr>
              <a:buSzPts val="1100"/>
            </a:pPr>
            <a:r>
              <a:rPr lang="es-ES" b="1" dirty="0" err="1"/>
              <a:t>Barnicle</a:t>
            </a:r>
            <a:r>
              <a:rPr lang="es-ES" b="1" dirty="0"/>
              <a:t> A, </a:t>
            </a:r>
            <a:r>
              <a:rPr lang="es-ES" b="1" i="1" dirty="0"/>
              <a:t>et al </a:t>
            </a:r>
            <a:r>
              <a:rPr lang="es-ES" b="1" dirty="0"/>
              <a:t>2017</a:t>
            </a:r>
            <a:endParaRPr sz="2000" b="1" dirty="0">
              <a:solidFill>
                <a:schemeClr val="dk1"/>
              </a:solidFill>
              <a:latin typeface="Source Sans Pro" panose="020B0503030403020204" pitchFamily="34" charset="0"/>
              <a:ea typeface="Source Sans Pro" panose="020B0503030403020204" pitchFamily="34" charset="0"/>
            </a:endParaRPr>
          </a:p>
        </p:txBody>
      </p:sp>
      <p:sp>
        <p:nvSpPr>
          <p:cNvPr id="2" name="CuadroTexto 1">
            <a:extLst>
              <a:ext uri="{FF2B5EF4-FFF2-40B4-BE49-F238E27FC236}">
                <a16:creationId xmlns:a16="http://schemas.microsoft.com/office/drawing/2014/main" id="{BB19555D-D3CC-566F-F40A-0D7F0E3ED273}"/>
              </a:ext>
            </a:extLst>
          </p:cNvPr>
          <p:cNvSpPr txBox="1"/>
          <p:nvPr/>
        </p:nvSpPr>
        <p:spPr>
          <a:xfrm>
            <a:off x="10806598" y="543152"/>
            <a:ext cx="6145241" cy="543034"/>
          </a:xfrm>
          <a:prstGeom prst="rect">
            <a:avLst/>
          </a:prstGeom>
          <a:noFill/>
        </p:spPr>
        <p:txBody>
          <a:bodyPr wrap="square">
            <a:spAutoFit/>
          </a:bodyPr>
          <a:lstStyle/>
          <a:p>
            <a:pPr marL="0" marR="0" lvl="0" indent="0" algn="ctr" rtl="0">
              <a:lnSpc>
                <a:spcPct val="80357"/>
              </a:lnSpc>
              <a:spcBef>
                <a:spcPts val="0"/>
              </a:spcBef>
              <a:spcAft>
                <a:spcPts val="0"/>
              </a:spcAft>
              <a:buClr>
                <a:srgbClr val="1B1B1B"/>
              </a:buClr>
              <a:buSzPts val="2800"/>
              <a:buFont typeface="Calibri"/>
              <a:buNone/>
            </a:pPr>
            <a:r>
              <a:rPr lang="es-ES" sz="3600" b="1" dirty="0">
                <a:solidFill>
                  <a:schemeClr val="tx1">
                    <a:lumMod val="75000"/>
                    <a:lumOff val="25000"/>
                  </a:schemeClr>
                </a:solidFill>
                <a:latin typeface="Calibri"/>
                <a:ea typeface="Calibri"/>
                <a:cs typeface="Calibri"/>
                <a:sym typeface="Calibri"/>
              </a:rPr>
              <a:t>Cáncer asociado a Colitis</a:t>
            </a:r>
            <a:endParaRPr lang="es-ES" sz="3600" i="1" dirty="0">
              <a:solidFill>
                <a:schemeClr val="tx1">
                  <a:lumMod val="75000"/>
                  <a:lumOff val="25000"/>
                </a:schemeClr>
              </a:solidFill>
            </a:endParaRPr>
          </a:p>
        </p:txBody>
      </p:sp>
      <p:pic>
        <p:nvPicPr>
          <p:cNvPr id="8" name="Google Shape;93;p1" descr="No hay ninguna descripción de la foto disponible.">
            <a:extLst>
              <a:ext uri="{FF2B5EF4-FFF2-40B4-BE49-F238E27FC236}">
                <a16:creationId xmlns:a16="http://schemas.microsoft.com/office/drawing/2014/main" id="{F46BB0A4-351D-55E7-6411-86A6035351DA}"/>
              </a:ext>
            </a:extLst>
          </p:cNvPr>
          <p:cNvPicPr preferRelativeResize="0"/>
          <p:nvPr/>
        </p:nvPicPr>
        <p:blipFill rotWithShape="1">
          <a:blip r:embed="rId4">
            <a:alphaModFix/>
          </a:blip>
          <a:srcRect l="26238" t="22935" r="26586" b="20031"/>
          <a:stretch>
            <a:fillRect/>
          </a:stretch>
        </p:blipFill>
        <p:spPr>
          <a:xfrm>
            <a:off x="2262854" y="9542181"/>
            <a:ext cx="1432577" cy="744819"/>
          </a:xfrm>
          <a:prstGeom prst="rect">
            <a:avLst/>
          </a:prstGeom>
          <a:noFill/>
          <a:ln>
            <a:noFill/>
          </a:ln>
        </p:spPr>
      </p:pic>
      <p:pic>
        <p:nvPicPr>
          <p:cNvPr id="9" name="Google Shape;94;p1" descr="Universidad El Bosque in Colombia : Reviews &amp; Rankings | Student ...">
            <a:extLst>
              <a:ext uri="{FF2B5EF4-FFF2-40B4-BE49-F238E27FC236}">
                <a16:creationId xmlns:a16="http://schemas.microsoft.com/office/drawing/2014/main" id="{4E0CB5CC-A824-9675-FFBE-31D81E5AF431}"/>
              </a:ext>
            </a:extLst>
          </p:cNvPr>
          <p:cNvPicPr preferRelativeResize="0"/>
          <p:nvPr/>
        </p:nvPicPr>
        <p:blipFill rotWithShape="1">
          <a:blip r:embed="rId5">
            <a:alphaModFix/>
          </a:blip>
          <a:srcRect l="14020" t="34765" r="17993" b="25071"/>
          <a:stretch>
            <a:fillRect/>
          </a:stretch>
        </p:blipFill>
        <p:spPr>
          <a:xfrm>
            <a:off x="163034" y="9645254"/>
            <a:ext cx="1978341" cy="641746"/>
          </a:xfrm>
          <a:prstGeom prst="rect">
            <a:avLst/>
          </a:prstGeom>
          <a:noFill/>
          <a:ln>
            <a:noFill/>
          </a:ln>
        </p:spPr>
      </p:pic>
      <p:grpSp>
        <p:nvGrpSpPr>
          <p:cNvPr id="17" name="Grupo 16">
            <a:extLst>
              <a:ext uri="{FF2B5EF4-FFF2-40B4-BE49-F238E27FC236}">
                <a16:creationId xmlns:a16="http://schemas.microsoft.com/office/drawing/2014/main" id="{742B84AE-2CEF-16C2-A1C3-415A0871F2AC}"/>
              </a:ext>
            </a:extLst>
          </p:cNvPr>
          <p:cNvGrpSpPr/>
          <p:nvPr/>
        </p:nvGrpSpPr>
        <p:grpSpPr>
          <a:xfrm>
            <a:off x="-391170" y="543152"/>
            <a:ext cx="8139859" cy="7268146"/>
            <a:chOff x="163034" y="483777"/>
            <a:chExt cx="9423413" cy="8083445"/>
          </a:xfrm>
        </p:grpSpPr>
        <p:grpSp>
          <p:nvGrpSpPr>
            <p:cNvPr id="12" name="Grupo 11">
              <a:extLst>
                <a:ext uri="{FF2B5EF4-FFF2-40B4-BE49-F238E27FC236}">
                  <a16:creationId xmlns:a16="http://schemas.microsoft.com/office/drawing/2014/main" id="{C5861977-7A01-DA26-81F1-792FC6E1A234}"/>
                </a:ext>
              </a:extLst>
            </p:cNvPr>
            <p:cNvGrpSpPr/>
            <p:nvPr/>
          </p:nvGrpSpPr>
          <p:grpSpPr>
            <a:xfrm>
              <a:off x="163034" y="483777"/>
              <a:ext cx="9180813" cy="8083445"/>
              <a:chOff x="163034" y="483777"/>
              <a:chExt cx="9180813" cy="8083445"/>
            </a:xfrm>
          </p:grpSpPr>
          <p:grpSp>
            <p:nvGrpSpPr>
              <p:cNvPr id="7" name="Grupo 6">
                <a:extLst>
                  <a:ext uri="{FF2B5EF4-FFF2-40B4-BE49-F238E27FC236}">
                    <a16:creationId xmlns:a16="http://schemas.microsoft.com/office/drawing/2014/main" id="{7C1627F6-5FD6-FD1B-DA5D-2045CD17F61B}"/>
                  </a:ext>
                </a:extLst>
              </p:cNvPr>
              <p:cNvGrpSpPr/>
              <p:nvPr/>
            </p:nvGrpSpPr>
            <p:grpSpPr>
              <a:xfrm>
                <a:off x="163034" y="483777"/>
                <a:ext cx="9180813" cy="8083445"/>
                <a:chOff x="95798" y="272450"/>
                <a:chExt cx="9554019" cy="8083445"/>
              </a:xfrm>
            </p:grpSpPr>
            <p:grpSp>
              <p:nvGrpSpPr>
                <p:cNvPr id="4" name="Grupo 3">
                  <a:extLst>
                    <a:ext uri="{FF2B5EF4-FFF2-40B4-BE49-F238E27FC236}">
                      <a16:creationId xmlns:a16="http://schemas.microsoft.com/office/drawing/2014/main" id="{8D355058-5484-1574-6AC4-94D42509F8A7}"/>
                    </a:ext>
                  </a:extLst>
                </p:cNvPr>
                <p:cNvGrpSpPr/>
                <p:nvPr/>
              </p:nvGrpSpPr>
              <p:grpSpPr>
                <a:xfrm>
                  <a:off x="95798" y="272450"/>
                  <a:ext cx="9554019" cy="8083445"/>
                  <a:chOff x="8701484" y="1348459"/>
                  <a:chExt cx="8858712" cy="7484524"/>
                </a:xfrm>
              </p:grpSpPr>
              <p:sp>
                <p:nvSpPr>
                  <p:cNvPr id="191" name="Google Shape;191;p6"/>
                  <p:cNvSpPr/>
                  <p:nvPr/>
                </p:nvSpPr>
                <p:spPr>
                  <a:xfrm>
                    <a:off x="9227358" y="1348459"/>
                    <a:ext cx="8332838" cy="7484524"/>
                  </a:xfrm>
                  <a:custGeom>
                    <a:avLst/>
                    <a:gdLst/>
                    <a:ahLst/>
                    <a:cxnLst/>
                    <a:rect l="l" t="t" r="r" b="b"/>
                    <a:pathLst>
                      <a:path w="9247165" h="9113922" extrusionOk="0">
                        <a:moveTo>
                          <a:pt x="0" y="0"/>
                        </a:moveTo>
                        <a:lnTo>
                          <a:pt x="9247165" y="0"/>
                        </a:lnTo>
                        <a:lnTo>
                          <a:pt x="9247165" y="9113921"/>
                        </a:lnTo>
                        <a:lnTo>
                          <a:pt x="0" y="9113921"/>
                        </a:lnTo>
                        <a:lnTo>
                          <a:pt x="0" y="0"/>
                        </a:lnTo>
                        <a:close/>
                      </a:path>
                    </a:pathLst>
                  </a:custGeom>
                  <a:blipFill rotWithShape="1">
                    <a:blip r:embed="rId6">
                      <a:alphaModFix/>
                    </a:blip>
                    <a:stretch>
                      <a:fillRect l="-68291" t="-2616" r="-2476" b="-187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3" name="Rectángulo 2">
                    <a:extLst>
                      <a:ext uri="{FF2B5EF4-FFF2-40B4-BE49-F238E27FC236}">
                        <a16:creationId xmlns:a16="http://schemas.microsoft.com/office/drawing/2014/main" id="{68A46A31-FF76-663D-E264-14F9D2A12197}"/>
                      </a:ext>
                    </a:extLst>
                  </p:cNvPr>
                  <p:cNvSpPr/>
                  <p:nvPr/>
                </p:nvSpPr>
                <p:spPr>
                  <a:xfrm>
                    <a:off x="8701484" y="5177626"/>
                    <a:ext cx="1297858" cy="1723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6" name="Elipse 5">
                  <a:extLst>
                    <a:ext uri="{FF2B5EF4-FFF2-40B4-BE49-F238E27FC236}">
                      <a16:creationId xmlns:a16="http://schemas.microsoft.com/office/drawing/2014/main" id="{F47F7C0A-B75A-F71B-484F-707E9A1BEC0B}"/>
                    </a:ext>
                  </a:extLst>
                </p:cNvPr>
                <p:cNvSpPr/>
                <p:nvPr/>
              </p:nvSpPr>
              <p:spPr>
                <a:xfrm>
                  <a:off x="6179574" y="4911213"/>
                  <a:ext cx="1399725" cy="172556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ln>
                      <a:solidFill>
                        <a:schemeClr val="bg1"/>
                      </a:solidFill>
                    </a:ln>
                    <a:solidFill>
                      <a:schemeClr val="bg1"/>
                    </a:solidFill>
                  </a:endParaRPr>
                </a:p>
              </p:txBody>
            </p:sp>
          </p:grpSp>
          <p:sp>
            <p:nvSpPr>
              <p:cNvPr id="10" name="Rectángulo 9">
                <a:extLst>
                  <a:ext uri="{FF2B5EF4-FFF2-40B4-BE49-F238E27FC236}">
                    <a16:creationId xmlns:a16="http://schemas.microsoft.com/office/drawing/2014/main" id="{F45EB4E5-5883-40F6-F697-EE6AC1F587F5}"/>
                  </a:ext>
                </a:extLst>
              </p:cNvPr>
              <p:cNvSpPr/>
              <p:nvPr/>
            </p:nvSpPr>
            <p:spPr>
              <a:xfrm>
                <a:off x="8257309" y="6942369"/>
                <a:ext cx="1086538" cy="49752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Rectángulo 10">
                <a:extLst>
                  <a:ext uri="{FF2B5EF4-FFF2-40B4-BE49-F238E27FC236}">
                    <a16:creationId xmlns:a16="http://schemas.microsoft.com/office/drawing/2014/main" id="{2A6BFDC2-1036-AD37-C148-764CA90B300B}"/>
                  </a:ext>
                </a:extLst>
              </p:cNvPr>
              <p:cNvSpPr/>
              <p:nvPr/>
            </p:nvSpPr>
            <p:spPr>
              <a:xfrm>
                <a:off x="2389040" y="5395736"/>
                <a:ext cx="1614923" cy="49752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13" name="Elipse 12">
              <a:extLst>
                <a:ext uri="{FF2B5EF4-FFF2-40B4-BE49-F238E27FC236}">
                  <a16:creationId xmlns:a16="http://schemas.microsoft.com/office/drawing/2014/main" id="{D3EB4BBF-031E-6A14-204F-DB97B082CAB2}"/>
                </a:ext>
              </a:extLst>
            </p:cNvPr>
            <p:cNvSpPr/>
            <p:nvPr/>
          </p:nvSpPr>
          <p:spPr>
            <a:xfrm>
              <a:off x="7162800" y="2299856"/>
              <a:ext cx="2423647" cy="2576944"/>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Rectángulo 13">
              <a:extLst>
                <a:ext uri="{FF2B5EF4-FFF2-40B4-BE49-F238E27FC236}">
                  <a16:creationId xmlns:a16="http://schemas.microsoft.com/office/drawing/2014/main" id="{B0478B3A-7B8B-B419-34E7-738AE95D3ECA}"/>
                </a:ext>
              </a:extLst>
            </p:cNvPr>
            <p:cNvSpPr/>
            <p:nvPr/>
          </p:nvSpPr>
          <p:spPr>
            <a:xfrm>
              <a:off x="4419600" y="8063345"/>
              <a:ext cx="1274618" cy="3602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Rectángulo 14">
              <a:extLst>
                <a:ext uri="{FF2B5EF4-FFF2-40B4-BE49-F238E27FC236}">
                  <a16:creationId xmlns:a16="http://schemas.microsoft.com/office/drawing/2014/main" id="{F7E3AE45-DC78-89AE-050C-9F54C8224923}"/>
                </a:ext>
              </a:extLst>
            </p:cNvPr>
            <p:cNvSpPr/>
            <p:nvPr/>
          </p:nvSpPr>
          <p:spPr>
            <a:xfrm>
              <a:off x="3879273" y="5395736"/>
              <a:ext cx="705574" cy="3602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sp>
        <p:nvSpPr>
          <p:cNvPr id="20" name="CuadroTexto 19">
            <a:extLst>
              <a:ext uri="{FF2B5EF4-FFF2-40B4-BE49-F238E27FC236}">
                <a16:creationId xmlns:a16="http://schemas.microsoft.com/office/drawing/2014/main" id="{6FC07022-9FF2-022D-D559-BAAC8BAF0763}"/>
              </a:ext>
            </a:extLst>
          </p:cNvPr>
          <p:cNvSpPr txBox="1"/>
          <p:nvPr/>
        </p:nvSpPr>
        <p:spPr>
          <a:xfrm>
            <a:off x="909438" y="8063757"/>
            <a:ext cx="8139859" cy="1569660"/>
          </a:xfrm>
          <a:prstGeom prst="rect">
            <a:avLst/>
          </a:prstGeom>
          <a:noFill/>
        </p:spPr>
        <p:txBody>
          <a:bodyPr wrap="square">
            <a:spAutoFit/>
          </a:bodyPr>
          <a:lstStyle/>
          <a:p>
            <a:pPr algn="ctr"/>
            <a:r>
              <a:rPr lang="es-ES" sz="2400" dirty="0">
                <a:latin typeface="Source Sans Pro" panose="020B0503030403020204" pitchFamily="34" charset="0"/>
                <a:ea typeface="Source Sans Pro" panose="020B0503030403020204" pitchFamily="34" charset="0"/>
              </a:rPr>
              <a:t>La </a:t>
            </a:r>
            <a:r>
              <a:rPr lang="es-ES" sz="2400" b="1" dirty="0">
                <a:latin typeface="Source Sans Pro" panose="020B0503030403020204" pitchFamily="34" charset="0"/>
                <a:ea typeface="Source Sans Pro" panose="020B0503030403020204" pitchFamily="34" charset="0"/>
              </a:rPr>
              <a:t>displasia epitelial</a:t>
            </a:r>
            <a:r>
              <a:rPr lang="es-ES" sz="2400" dirty="0">
                <a:latin typeface="Source Sans Pro" panose="020B0503030403020204" pitchFamily="34" charset="0"/>
                <a:ea typeface="Source Sans Pro" panose="020B0503030403020204" pitchFamily="34" charset="0"/>
              </a:rPr>
              <a:t>, que puede ser de alto grado, </a:t>
            </a:r>
            <a:r>
              <a:rPr lang="es-ES" sz="2400" u="sng" dirty="0">
                <a:latin typeface="Source Sans Pro" panose="020B0503030403020204" pitchFamily="34" charset="0"/>
                <a:ea typeface="Source Sans Pro" panose="020B0503030403020204" pitchFamily="34" charset="0"/>
              </a:rPr>
              <a:t>es un estadio previo al desarrollo del cáncer colorrectal </a:t>
            </a:r>
            <a:r>
              <a:rPr lang="es-ES" sz="2400" dirty="0">
                <a:latin typeface="Source Sans Pro" panose="020B0503030403020204" pitchFamily="34" charset="0"/>
                <a:ea typeface="Source Sans Pro" panose="020B0503030403020204" pitchFamily="34" charset="0"/>
              </a:rPr>
              <a:t>y su presencia en biopsias predice la coexistencia de un carcinoma.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100" name="Google Shape;100;p4"/>
          <p:cNvPicPr preferRelativeResize="0"/>
          <p:nvPr/>
        </p:nvPicPr>
        <p:blipFill rotWithShape="1">
          <a:blip r:embed="rId3">
            <a:alphaModFix/>
          </a:blip>
          <a:srcRect/>
          <a:stretch/>
        </p:blipFill>
        <p:spPr>
          <a:xfrm>
            <a:off x="2193180" y="2656389"/>
            <a:ext cx="13901639" cy="6337568"/>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sp>
        <p:nvSpPr>
          <p:cNvPr id="101" name="Google Shape;101;p4"/>
          <p:cNvSpPr txBox="1"/>
          <p:nvPr/>
        </p:nvSpPr>
        <p:spPr>
          <a:xfrm>
            <a:off x="492375" y="9620672"/>
            <a:ext cx="1730325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100" dirty="0">
                <a:solidFill>
                  <a:schemeClr val="dk1"/>
                </a:solidFill>
                <a:highlight>
                  <a:schemeClr val="lt1"/>
                </a:highlight>
              </a:rPr>
              <a:t>Muzammil MA, Fariha F, Patel T, Sohail R, Kumar M, Khan E, et al. Advancements in inflammatory bowel disease: A narrative review of diagnostics, management, epidemiology, prevalence, patient outcomes, quality of life, and clinical presentation. </a:t>
            </a:r>
            <a:r>
              <a:rPr lang="en-US" sz="1100" dirty="0" err="1">
                <a:solidFill>
                  <a:schemeClr val="dk1"/>
                </a:solidFill>
                <a:highlight>
                  <a:schemeClr val="lt1"/>
                </a:highlight>
              </a:rPr>
              <a:t>Cureus</a:t>
            </a:r>
            <a:r>
              <a:rPr lang="en-US" sz="1100" dirty="0">
                <a:solidFill>
                  <a:schemeClr val="dk1"/>
                </a:solidFill>
                <a:highlight>
                  <a:schemeClr val="lt1"/>
                </a:highlight>
              </a:rPr>
              <a:t> [Internet]. 2023;15(6):e41120. Disponible en: https://assets.cureus.com/uploads/review_article/pdf/167380/20240724-319105-xntl0g.pdf</a:t>
            </a:r>
            <a:endParaRPr sz="1300" dirty="0">
              <a:solidFill>
                <a:schemeClr val="dk1"/>
              </a:solidFill>
              <a:highlight>
                <a:schemeClr val="lt1"/>
              </a:highlight>
            </a:endParaRPr>
          </a:p>
        </p:txBody>
      </p:sp>
      <p:sp>
        <p:nvSpPr>
          <p:cNvPr id="102" name="Google Shape;102;p4"/>
          <p:cNvSpPr txBox="1"/>
          <p:nvPr/>
        </p:nvSpPr>
        <p:spPr>
          <a:xfrm>
            <a:off x="608000" y="8865609"/>
            <a:ext cx="1450800" cy="68374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3200" dirty="0">
                <a:solidFill>
                  <a:schemeClr val="dk1"/>
                </a:solidFill>
                <a:latin typeface="Source Sans Pro" panose="020B0503030403020204" pitchFamily="34" charset="0"/>
                <a:ea typeface="Source Sans Pro" panose="020B0503030403020204" pitchFamily="34" charset="0"/>
                <a:cs typeface="Calibri"/>
                <a:sym typeface="Calibri"/>
              </a:rPr>
              <a:t>2000</a:t>
            </a:r>
            <a:endParaRPr sz="3200" dirty="0">
              <a:solidFill>
                <a:schemeClr val="dk1"/>
              </a:solidFill>
              <a:latin typeface="Source Sans Pro" panose="020B0503030403020204" pitchFamily="34" charset="0"/>
              <a:ea typeface="Source Sans Pro" panose="020B0503030403020204" pitchFamily="34" charset="0"/>
              <a:cs typeface="Calibri"/>
              <a:sym typeface="Calibri"/>
            </a:endParaRPr>
          </a:p>
        </p:txBody>
      </p:sp>
      <p:sp>
        <p:nvSpPr>
          <p:cNvPr id="103" name="Google Shape;103;p4"/>
          <p:cNvSpPr txBox="1"/>
          <p:nvPr/>
        </p:nvSpPr>
        <p:spPr>
          <a:xfrm>
            <a:off x="16229200" y="8865609"/>
            <a:ext cx="1450800" cy="683745"/>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sz="3200" dirty="0">
                <a:solidFill>
                  <a:schemeClr val="dk1"/>
                </a:solidFill>
                <a:latin typeface="Source Sans Pro" panose="020B0503030403020204" pitchFamily="34" charset="0"/>
                <a:ea typeface="Source Sans Pro" panose="020B0503030403020204" pitchFamily="34" charset="0"/>
                <a:cs typeface="Calibri"/>
                <a:sym typeface="Calibri"/>
              </a:rPr>
              <a:t>2017</a:t>
            </a:r>
            <a:endParaRPr sz="3200" dirty="0">
              <a:solidFill>
                <a:schemeClr val="dk1"/>
              </a:solidFill>
              <a:latin typeface="Source Sans Pro" panose="020B0503030403020204" pitchFamily="34" charset="0"/>
              <a:ea typeface="Source Sans Pro" panose="020B0503030403020204" pitchFamily="34" charset="0"/>
              <a:cs typeface="Calibri"/>
              <a:sym typeface="Calibri"/>
            </a:endParaRPr>
          </a:p>
        </p:txBody>
      </p:sp>
      <p:sp>
        <p:nvSpPr>
          <p:cNvPr id="4" name="CuadroTexto 3">
            <a:extLst>
              <a:ext uri="{FF2B5EF4-FFF2-40B4-BE49-F238E27FC236}">
                <a16:creationId xmlns:a16="http://schemas.microsoft.com/office/drawing/2014/main" id="{48281819-A6AE-590D-AF9F-7957AC26EBC9}"/>
              </a:ext>
            </a:extLst>
          </p:cNvPr>
          <p:cNvSpPr txBox="1"/>
          <p:nvPr/>
        </p:nvSpPr>
        <p:spPr>
          <a:xfrm>
            <a:off x="3522503" y="612844"/>
            <a:ext cx="11474244" cy="888705"/>
          </a:xfrm>
          <a:prstGeom prst="rect">
            <a:avLst/>
          </a:prstGeom>
          <a:noFill/>
        </p:spPr>
        <p:txBody>
          <a:bodyPr wrap="square">
            <a:spAutoFit/>
          </a:bodyPr>
          <a:lstStyle/>
          <a:p>
            <a:pPr marL="0" marR="0" lvl="0" indent="0" algn="ctr" rtl="0">
              <a:lnSpc>
                <a:spcPct val="80357"/>
              </a:lnSpc>
              <a:spcBef>
                <a:spcPts val="0"/>
              </a:spcBef>
              <a:spcAft>
                <a:spcPts val="0"/>
              </a:spcAft>
              <a:buClr>
                <a:srgbClr val="1B1B1B"/>
              </a:buClr>
              <a:buSzPts val="2800"/>
              <a:buFont typeface="Calibri"/>
              <a:buNone/>
            </a:pPr>
            <a:r>
              <a:rPr lang="es-ES" sz="3200" b="1" i="0" dirty="0">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rPr>
              <a:t>Incidencia y Prevalencia </a:t>
            </a:r>
          </a:p>
          <a:p>
            <a:pPr marL="0" marR="0" lvl="0" indent="0" algn="ctr" rtl="0">
              <a:lnSpc>
                <a:spcPct val="80357"/>
              </a:lnSpc>
              <a:spcBef>
                <a:spcPts val="0"/>
              </a:spcBef>
              <a:spcAft>
                <a:spcPts val="0"/>
              </a:spcAft>
              <a:buClr>
                <a:srgbClr val="1B1B1B"/>
              </a:buClr>
              <a:buSzPts val="2800"/>
              <a:buFont typeface="Calibri"/>
              <a:buNone/>
            </a:pPr>
            <a:r>
              <a:rPr lang="es-ES" sz="3200" b="1" i="0" dirty="0">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rPr>
              <a:t> Enfermedad Inflamatoria Intestinal</a:t>
            </a:r>
            <a:endParaRPr lang="es-ES" sz="3600" dirty="0">
              <a:solidFill>
                <a:schemeClr val="tx1">
                  <a:lumMod val="75000"/>
                  <a:lumOff val="25000"/>
                </a:schemeClr>
              </a:solidFill>
              <a:latin typeface="Source Sans Pro" panose="020B0503030403020204" pitchFamily="34" charset="0"/>
              <a:ea typeface="Source Sans Pro" panose="020B0503030403020204" pitchFamily="34" charset="0"/>
            </a:endParaRPr>
          </a:p>
        </p:txBody>
      </p:sp>
      <p:cxnSp>
        <p:nvCxnSpPr>
          <p:cNvPr id="6" name="Conector recto de flecha 5">
            <a:extLst>
              <a:ext uri="{FF2B5EF4-FFF2-40B4-BE49-F238E27FC236}">
                <a16:creationId xmlns:a16="http://schemas.microsoft.com/office/drawing/2014/main" id="{18E97A35-6B39-7DB3-9EEB-04ED4AA728B4}"/>
              </a:ext>
            </a:extLst>
          </p:cNvPr>
          <p:cNvCxnSpPr>
            <a:cxnSpLocks/>
            <a:stCxn id="102" idx="3"/>
            <a:endCxn id="103" idx="1"/>
          </p:cNvCxnSpPr>
          <p:nvPr/>
        </p:nvCxnSpPr>
        <p:spPr>
          <a:xfrm>
            <a:off x="2058800" y="9207482"/>
            <a:ext cx="1417040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pic>
        <p:nvPicPr>
          <p:cNvPr id="11" name="Google Shape;93;p1" descr="No hay ninguna descripción de la foto disponible.">
            <a:extLst>
              <a:ext uri="{FF2B5EF4-FFF2-40B4-BE49-F238E27FC236}">
                <a16:creationId xmlns:a16="http://schemas.microsoft.com/office/drawing/2014/main" id="{94E7620B-5D96-6953-DFE9-79294D7FBE6E}"/>
              </a:ext>
            </a:extLst>
          </p:cNvPr>
          <p:cNvPicPr preferRelativeResize="0"/>
          <p:nvPr/>
        </p:nvPicPr>
        <p:blipFill rotWithShape="1">
          <a:blip r:embed="rId4">
            <a:alphaModFix/>
          </a:blip>
          <a:srcRect l="26238" t="22935" r="26586" b="20031"/>
          <a:stretch>
            <a:fillRect/>
          </a:stretch>
        </p:blipFill>
        <p:spPr>
          <a:xfrm>
            <a:off x="2225023" y="142395"/>
            <a:ext cx="1432577" cy="744819"/>
          </a:xfrm>
          <a:prstGeom prst="rect">
            <a:avLst/>
          </a:prstGeom>
          <a:noFill/>
          <a:ln>
            <a:noFill/>
          </a:ln>
        </p:spPr>
      </p:pic>
      <p:pic>
        <p:nvPicPr>
          <p:cNvPr id="12" name="Google Shape;94;p1" descr="Universidad El Bosque in Colombia : Reviews &amp; Rankings | Student ...">
            <a:extLst>
              <a:ext uri="{FF2B5EF4-FFF2-40B4-BE49-F238E27FC236}">
                <a16:creationId xmlns:a16="http://schemas.microsoft.com/office/drawing/2014/main" id="{5A1BB1E3-941D-B2C6-B39A-4C747163F382}"/>
              </a:ext>
            </a:extLst>
          </p:cNvPr>
          <p:cNvPicPr preferRelativeResize="0"/>
          <p:nvPr/>
        </p:nvPicPr>
        <p:blipFill rotWithShape="1">
          <a:blip r:embed="rId5">
            <a:alphaModFix/>
          </a:blip>
          <a:srcRect l="14020" t="34765" r="17993" b="25071"/>
          <a:stretch>
            <a:fillRect/>
          </a:stretch>
        </p:blipFill>
        <p:spPr>
          <a:xfrm>
            <a:off x="125203" y="245468"/>
            <a:ext cx="1978341" cy="641746"/>
          </a:xfrm>
          <a:prstGeom prst="rect">
            <a:avLst/>
          </a:prstGeom>
          <a:noFill/>
          <a:ln>
            <a:noFill/>
          </a:ln>
        </p:spPr>
      </p:pic>
      <p:sp>
        <p:nvSpPr>
          <p:cNvPr id="2" name="CuadroTexto 1">
            <a:extLst>
              <a:ext uri="{FF2B5EF4-FFF2-40B4-BE49-F238E27FC236}">
                <a16:creationId xmlns:a16="http://schemas.microsoft.com/office/drawing/2014/main" id="{6F556804-CE39-A1B8-D523-C9584E6D7D9A}"/>
              </a:ext>
            </a:extLst>
          </p:cNvPr>
          <p:cNvSpPr txBox="1"/>
          <p:nvPr/>
        </p:nvSpPr>
        <p:spPr>
          <a:xfrm>
            <a:off x="5278580" y="1691180"/>
            <a:ext cx="7730837" cy="830997"/>
          </a:xfrm>
          <a:prstGeom prst="rect">
            <a:avLst/>
          </a:prstGeom>
          <a:noFill/>
          <a:ln>
            <a:solidFill>
              <a:schemeClr val="tx1"/>
            </a:solidFill>
            <a:prstDash val="sysDash"/>
          </a:ln>
        </p:spPr>
        <p:txBody>
          <a:bodyPr wrap="square" rtlCol="0">
            <a:spAutoFit/>
          </a:bodyPr>
          <a:lstStyle/>
          <a:p>
            <a:pPr algn="ctr"/>
            <a:r>
              <a:rPr lang="es-ES" sz="2400" dirty="0">
                <a:latin typeface="Source Sans Pro" panose="020B0503030403020204" pitchFamily="34" charset="0"/>
                <a:ea typeface="Source Sans Pro" panose="020B0503030403020204" pitchFamily="34" charset="0"/>
              </a:rPr>
              <a:t>La CU se ha convertido en un desafió de salud a nivel  global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10" name="Google Shape;110;g366511a41e0_3_13"/>
          <p:cNvSpPr txBox="1"/>
          <p:nvPr/>
        </p:nvSpPr>
        <p:spPr>
          <a:xfrm>
            <a:off x="926250" y="9442925"/>
            <a:ext cx="16435500" cy="523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100" dirty="0">
                <a:solidFill>
                  <a:schemeClr val="dk1"/>
                </a:solidFill>
                <a:highlight>
                  <a:srgbClr val="FFFFFF"/>
                </a:highlight>
              </a:rPr>
              <a:t>Juliao-Baños F, Kock J, Arrubla M, Calixto O, Camargo J, Cruz L, et al. Trends in the epidemiology of inflammatory bowel disease in Colombia by demographics and region using a nationally representative claims database and characterization of inflammatory bowel disease phenotype in a case series of Colombian patients. Medicine (Baltimore) [Internet]. 2021;100(7):e24729. Disponible en: http://dx.doi.org/10.1097/MD.0000000000024729</a:t>
            </a:r>
            <a:endParaRPr sz="1100" dirty="0">
              <a:solidFill>
                <a:schemeClr val="dk1"/>
              </a:solidFill>
            </a:endParaRPr>
          </a:p>
        </p:txBody>
      </p:sp>
      <p:pic>
        <p:nvPicPr>
          <p:cNvPr id="109" name="Google Shape;109;g366511a41e0_3_13"/>
          <p:cNvPicPr preferRelativeResize="0"/>
          <p:nvPr/>
        </p:nvPicPr>
        <p:blipFill rotWithShape="1">
          <a:blip r:embed="rId3">
            <a:alphaModFix/>
          </a:blip>
          <a:srcRect/>
          <a:stretch/>
        </p:blipFill>
        <p:spPr>
          <a:xfrm>
            <a:off x="926250" y="2399511"/>
            <a:ext cx="8758200" cy="556136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 name="CuadroTexto 4">
            <a:extLst>
              <a:ext uri="{FF2B5EF4-FFF2-40B4-BE49-F238E27FC236}">
                <a16:creationId xmlns:a16="http://schemas.microsoft.com/office/drawing/2014/main" id="{4927CB77-A318-6253-859E-B4F08CC2BA40}"/>
              </a:ext>
            </a:extLst>
          </p:cNvPr>
          <p:cNvSpPr txBox="1"/>
          <p:nvPr/>
        </p:nvSpPr>
        <p:spPr>
          <a:xfrm>
            <a:off x="4572000" y="647430"/>
            <a:ext cx="9144000" cy="886909"/>
          </a:xfrm>
          <a:prstGeom prst="rect">
            <a:avLst/>
          </a:prstGeom>
          <a:noFill/>
        </p:spPr>
        <p:txBody>
          <a:bodyPr wrap="square">
            <a:spAutoFit/>
          </a:bodyPr>
          <a:lstStyle/>
          <a:p>
            <a:pPr lvl="0" algn="ctr">
              <a:lnSpc>
                <a:spcPct val="80357"/>
              </a:lnSpc>
              <a:buClr>
                <a:srgbClr val="1B1B1B"/>
              </a:buClr>
              <a:buSzPts val="2800"/>
            </a:pPr>
            <a:r>
              <a:rPr lang="es-ES" sz="3200" b="1" i="0" dirty="0">
                <a:solidFill>
                  <a:schemeClr val="tx1">
                    <a:lumMod val="75000"/>
                    <a:lumOff val="25000"/>
                  </a:schemeClr>
                </a:solidFill>
                <a:latin typeface="Calibri"/>
                <a:ea typeface="Calibri"/>
                <a:cs typeface="Calibri"/>
                <a:sym typeface="Calibri"/>
              </a:rPr>
              <a:t>Incidencia y </a:t>
            </a:r>
            <a:r>
              <a:rPr lang="es-ES" sz="3200" b="1" dirty="0">
                <a:solidFill>
                  <a:schemeClr val="tx1">
                    <a:lumMod val="75000"/>
                    <a:lumOff val="25000"/>
                  </a:schemeClr>
                </a:solidFill>
                <a:latin typeface="Calibri"/>
                <a:ea typeface="Calibri"/>
                <a:cs typeface="Calibri"/>
                <a:sym typeface="Calibri"/>
              </a:rPr>
              <a:t>Prevalencia</a:t>
            </a:r>
            <a:r>
              <a:rPr lang="es-ES" sz="3200" b="1" i="0" dirty="0">
                <a:solidFill>
                  <a:schemeClr val="tx1">
                    <a:lumMod val="75000"/>
                    <a:lumOff val="25000"/>
                  </a:schemeClr>
                </a:solidFill>
                <a:latin typeface="Calibri"/>
                <a:ea typeface="Calibri"/>
                <a:cs typeface="Calibri"/>
                <a:sym typeface="Calibri"/>
              </a:rPr>
              <a:t> </a:t>
            </a:r>
            <a:r>
              <a:rPr lang="es-ES" sz="3200" b="1" dirty="0">
                <a:solidFill>
                  <a:schemeClr val="tx1">
                    <a:lumMod val="75000"/>
                    <a:lumOff val="25000"/>
                  </a:schemeClr>
                </a:solidFill>
                <a:latin typeface="Calibri"/>
                <a:ea typeface="Calibri"/>
                <a:cs typeface="Calibri"/>
                <a:sym typeface="Calibri"/>
              </a:rPr>
              <a:t>- </a:t>
            </a:r>
            <a:r>
              <a:rPr lang="es-ES" sz="3200" b="1" i="0" dirty="0">
                <a:solidFill>
                  <a:schemeClr val="tx1">
                    <a:lumMod val="75000"/>
                    <a:lumOff val="25000"/>
                  </a:schemeClr>
                </a:solidFill>
                <a:latin typeface="Calibri"/>
                <a:ea typeface="Calibri"/>
                <a:cs typeface="Calibri"/>
                <a:sym typeface="Calibri"/>
              </a:rPr>
              <a:t>E</a:t>
            </a:r>
            <a:r>
              <a:rPr lang="es-ES" sz="3200" b="1" dirty="0">
                <a:solidFill>
                  <a:schemeClr val="tx1">
                    <a:lumMod val="75000"/>
                    <a:lumOff val="25000"/>
                  </a:schemeClr>
                </a:solidFill>
                <a:latin typeface="Calibri"/>
                <a:ea typeface="Calibri"/>
                <a:cs typeface="Calibri"/>
                <a:sym typeface="Calibri"/>
              </a:rPr>
              <a:t>nfermedad Inflamatoria Intestinal</a:t>
            </a:r>
            <a:r>
              <a:rPr lang="es-ES" sz="3200" b="1" i="0" dirty="0">
                <a:solidFill>
                  <a:schemeClr val="tx1">
                    <a:lumMod val="75000"/>
                    <a:lumOff val="25000"/>
                  </a:schemeClr>
                </a:solidFill>
                <a:latin typeface="Calibri"/>
                <a:ea typeface="Calibri"/>
                <a:cs typeface="Calibri"/>
                <a:sym typeface="Calibri"/>
              </a:rPr>
              <a:t> en Colombia</a:t>
            </a:r>
            <a:endParaRPr lang="es-ES" sz="3200" dirty="0">
              <a:solidFill>
                <a:schemeClr val="tx1">
                  <a:lumMod val="75000"/>
                  <a:lumOff val="25000"/>
                </a:schemeClr>
              </a:solidFill>
            </a:endParaRPr>
          </a:p>
        </p:txBody>
      </p:sp>
      <p:pic>
        <p:nvPicPr>
          <p:cNvPr id="8" name="Google Shape;93;p1" descr="No hay ninguna descripción de la foto disponible.">
            <a:extLst>
              <a:ext uri="{FF2B5EF4-FFF2-40B4-BE49-F238E27FC236}">
                <a16:creationId xmlns:a16="http://schemas.microsoft.com/office/drawing/2014/main" id="{0CABCF32-97B9-A102-5FE4-BD70E0FE58C1}"/>
              </a:ext>
            </a:extLst>
          </p:cNvPr>
          <p:cNvPicPr preferRelativeResize="0"/>
          <p:nvPr/>
        </p:nvPicPr>
        <p:blipFill rotWithShape="1">
          <a:blip r:embed="rId4">
            <a:alphaModFix/>
          </a:blip>
          <a:srcRect l="26238" t="22935" r="26586" b="20031"/>
          <a:stretch>
            <a:fillRect/>
          </a:stretch>
        </p:blipFill>
        <p:spPr>
          <a:xfrm>
            <a:off x="2225023" y="142395"/>
            <a:ext cx="1432577" cy="744819"/>
          </a:xfrm>
          <a:prstGeom prst="rect">
            <a:avLst/>
          </a:prstGeom>
          <a:noFill/>
          <a:ln>
            <a:noFill/>
          </a:ln>
        </p:spPr>
      </p:pic>
      <p:pic>
        <p:nvPicPr>
          <p:cNvPr id="9" name="Google Shape;94;p1" descr="Universidad El Bosque in Colombia : Reviews &amp; Rankings | Student ...">
            <a:extLst>
              <a:ext uri="{FF2B5EF4-FFF2-40B4-BE49-F238E27FC236}">
                <a16:creationId xmlns:a16="http://schemas.microsoft.com/office/drawing/2014/main" id="{65BEA33A-DF2F-6DA6-345A-A1AC20952564}"/>
              </a:ext>
            </a:extLst>
          </p:cNvPr>
          <p:cNvPicPr preferRelativeResize="0"/>
          <p:nvPr/>
        </p:nvPicPr>
        <p:blipFill rotWithShape="1">
          <a:blip r:embed="rId5">
            <a:alphaModFix/>
          </a:blip>
          <a:srcRect l="14020" t="34765" r="17993" b="25071"/>
          <a:stretch>
            <a:fillRect/>
          </a:stretch>
        </p:blipFill>
        <p:spPr>
          <a:xfrm>
            <a:off x="125203" y="245468"/>
            <a:ext cx="1978341" cy="641746"/>
          </a:xfrm>
          <a:prstGeom prst="rect">
            <a:avLst/>
          </a:prstGeom>
          <a:noFill/>
          <a:ln>
            <a:noFill/>
          </a:ln>
        </p:spPr>
      </p:pic>
      <p:pic>
        <p:nvPicPr>
          <p:cNvPr id="4" name="Google Shape;115;g366511a41e0_3_21">
            <a:extLst>
              <a:ext uri="{FF2B5EF4-FFF2-40B4-BE49-F238E27FC236}">
                <a16:creationId xmlns:a16="http://schemas.microsoft.com/office/drawing/2014/main" id="{B9D01868-017A-36EC-A781-E5A907258E94}"/>
              </a:ext>
            </a:extLst>
          </p:cNvPr>
          <p:cNvPicPr preferRelativeResize="0"/>
          <p:nvPr/>
        </p:nvPicPr>
        <p:blipFill rotWithShape="1">
          <a:blip r:embed="rId6">
            <a:alphaModFix/>
          </a:blip>
          <a:srcRect/>
          <a:stretch/>
        </p:blipFill>
        <p:spPr>
          <a:xfrm>
            <a:off x="9448801" y="2719884"/>
            <a:ext cx="7912949" cy="5353543"/>
          </a:xfrm>
          <a:prstGeom prst="rect">
            <a:avLst/>
          </a:prstGeom>
          <a:ln>
            <a:noFill/>
          </a:ln>
          <a:effectLst>
            <a:softEdge rad="112500"/>
          </a:effectLst>
        </p:spPr>
      </p:pic>
      <p:sp>
        <p:nvSpPr>
          <p:cNvPr id="7" name="CuadroTexto 6">
            <a:extLst>
              <a:ext uri="{FF2B5EF4-FFF2-40B4-BE49-F238E27FC236}">
                <a16:creationId xmlns:a16="http://schemas.microsoft.com/office/drawing/2014/main" id="{97259643-3582-E3EF-A128-C96E241C922A}"/>
              </a:ext>
            </a:extLst>
          </p:cNvPr>
          <p:cNvSpPr txBox="1"/>
          <p:nvPr/>
        </p:nvSpPr>
        <p:spPr>
          <a:xfrm>
            <a:off x="3657600" y="8222674"/>
            <a:ext cx="10460181" cy="707886"/>
          </a:xfrm>
          <a:prstGeom prst="rect">
            <a:avLst/>
          </a:prstGeom>
          <a:noFill/>
          <a:ln>
            <a:solidFill>
              <a:schemeClr val="tx1"/>
            </a:solidFill>
            <a:prstDash val="dashDot"/>
          </a:ln>
        </p:spPr>
        <p:txBody>
          <a:bodyPr wrap="square" rtlCol="0">
            <a:spAutoFit/>
          </a:bodyPr>
          <a:lstStyle/>
          <a:p>
            <a:pPr algn="ctr"/>
            <a:r>
              <a:rPr lang="es-ES" sz="2000" dirty="0"/>
              <a:t>La CU  y su potencial de evolucionar hacia una neoplasia a pesar de los tratamientos preventivos representa un desafío para la comunidad científica </a:t>
            </a:r>
          </a:p>
        </p:txBody>
      </p:sp>
      <p:sp>
        <p:nvSpPr>
          <p:cNvPr id="18" name="CuadroTexto 17">
            <a:extLst>
              <a:ext uri="{FF2B5EF4-FFF2-40B4-BE49-F238E27FC236}">
                <a16:creationId xmlns:a16="http://schemas.microsoft.com/office/drawing/2014/main" id="{E7A110EC-A097-0718-6687-193F4DDE5081}"/>
              </a:ext>
            </a:extLst>
          </p:cNvPr>
          <p:cNvSpPr txBox="1"/>
          <p:nvPr/>
        </p:nvSpPr>
        <p:spPr>
          <a:xfrm>
            <a:off x="3657600" y="1864270"/>
            <a:ext cx="10460181" cy="400110"/>
          </a:xfrm>
          <a:prstGeom prst="rect">
            <a:avLst/>
          </a:prstGeom>
          <a:noFill/>
          <a:ln>
            <a:solidFill>
              <a:schemeClr val="tx1"/>
            </a:solidFill>
            <a:prstDash val="dashDot"/>
          </a:ln>
        </p:spPr>
        <p:txBody>
          <a:bodyPr wrap="square" rtlCol="0">
            <a:spAutoFit/>
          </a:bodyPr>
          <a:lstStyle/>
          <a:p>
            <a:pPr algn="ctr"/>
            <a:r>
              <a:rPr lang="es-ES" sz="2000" dirty="0"/>
              <a:t>Sugieren una carga creciente de la CU en Colombia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pic>
        <p:nvPicPr>
          <p:cNvPr id="123" name="Google Shape;123;p5"/>
          <p:cNvPicPr preferRelativeResize="0"/>
          <p:nvPr/>
        </p:nvPicPr>
        <p:blipFill rotWithShape="1">
          <a:blip r:embed="rId3">
            <a:alphaModFix/>
          </a:blip>
          <a:srcRect/>
          <a:stretch/>
        </p:blipFill>
        <p:spPr>
          <a:xfrm>
            <a:off x="8480321" y="7110829"/>
            <a:ext cx="9144000" cy="1815882"/>
          </a:xfrm>
          <a:prstGeom prst="rect">
            <a:avLst/>
          </a:prstGeom>
          <a:noFill/>
          <a:ln>
            <a:noFill/>
          </a:ln>
        </p:spPr>
      </p:pic>
      <p:pic>
        <p:nvPicPr>
          <p:cNvPr id="124" name="Google Shape;124;p5"/>
          <p:cNvPicPr preferRelativeResize="0"/>
          <p:nvPr/>
        </p:nvPicPr>
        <p:blipFill rotWithShape="1">
          <a:blip r:embed="rId4">
            <a:alphaModFix/>
          </a:blip>
          <a:srcRect/>
          <a:stretch/>
        </p:blipFill>
        <p:spPr>
          <a:xfrm>
            <a:off x="0" y="2359742"/>
            <a:ext cx="7934632" cy="7649406"/>
          </a:xfrm>
          <a:prstGeom prst="rect">
            <a:avLst/>
          </a:prstGeom>
          <a:ln>
            <a:noFill/>
          </a:ln>
          <a:effectLst>
            <a:softEdge rad="112500"/>
          </a:effectLst>
        </p:spPr>
      </p:pic>
      <p:sp>
        <p:nvSpPr>
          <p:cNvPr id="126" name="Google Shape;126;p5"/>
          <p:cNvSpPr txBox="1"/>
          <p:nvPr/>
        </p:nvSpPr>
        <p:spPr>
          <a:xfrm>
            <a:off x="784926" y="9748272"/>
            <a:ext cx="112011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100" dirty="0">
                <a:solidFill>
                  <a:schemeClr val="dk1"/>
                </a:solidFill>
                <a:highlight>
                  <a:srgbClr val="FFFFFF"/>
                </a:highlight>
              </a:rPr>
              <a:t>Who.int. [</a:t>
            </a:r>
            <a:r>
              <a:rPr lang="en-US" sz="1100" dirty="0" err="1">
                <a:solidFill>
                  <a:schemeClr val="dk1"/>
                </a:solidFill>
                <a:highlight>
                  <a:srgbClr val="FFFFFF"/>
                </a:highlight>
              </a:rPr>
              <a:t>citado</a:t>
            </a:r>
            <a:r>
              <a:rPr lang="en-US" sz="1100" dirty="0">
                <a:solidFill>
                  <a:schemeClr val="dk1"/>
                </a:solidFill>
                <a:highlight>
                  <a:srgbClr val="FFFFFF"/>
                </a:highlight>
              </a:rPr>
              <a:t> </a:t>
            </a:r>
            <a:r>
              <a:rPr lang="en-US" sz="1100" dirty="0" err="1">
                <a:solidFill>
                  <a:schemeClr val="dk1"/>
                </a:solidFill>
                <a:highlight>
                  <a:srgbClr val="FFFFFF"/>
                </a:highlight>
              </a:rPr>
              <a:t>el</a:t>
            </a:r>
            <a:r>
              <a:rPr lang="en-US" sz="1100" dirty="0">
                <a:solidFill>
                  <a:schemeClr val="dk1"/>
                </a:solidFill>
                <a:highlight>
                  <a:srgbClr val="FFFFFF"/>
                </a:highlight>
              </a:rPr>
              <a:t> 20 de </a:t>
            </a:r>
            <a:r>
              <a:rPr lang="en-US" sz="1100" dirty="0" err="1">
                <a:solidFill>
                  <a:schemeClr val="dk1"/>
                </a:solidFill>
                <a:highlight>
                  <a:srgbClr val="FFFFFF"/>
                </a:highlight>
              </a:rPr>
              <a:t>septiembre</a:t>
            </a:r>
            <a:r>
              <a:rPr lang="en-US" sz="1100" dirty="0">
                <a:solidFill>
                  <a:schemeClr val="dk1"/>
                </a:solidFill>
                <a:highlight>
                  <a:srgbClr val="FFFFFF"/>
                </a:highlight>
              </a:rPr>
              <a:t> de 2025]. Disponible en: https://gco.iarc.who.int/media/globocan/factsheets/populations/170-colombia-fact-sheet.pdf</a:t>
            </a:r>
            <a:endParaRPr sz="1100" dirty="0">
              <a:solidFill>
                <a:schemeClr val="dk1"/>
              </a:solidFill>
            </a:endParaRPr>
          </a:p>
        </p:txBody>
      </p:sp>
      <p:sp>
        <p:nvSpPr>
          <p:cNvPr id="3" name="CuadroTexto 2">
            <a:extLst>
              <a:ext uri="{FF2B5EF4-FFF2-40B4-BE49-F238E27FC236}">
                <a16:creationId xmlns:a16="http://schemas.microsoft.com/office/drawing/2014/main" id="{D83E6FE5-E082-6CA1-B94F-1F00A2077782}"/>
              </a:ext>
            </a:extLst>
          </p:cNvPr>
          <p:cNvSpPr txBox="1"/>
          <p:nvPr/>
        </p:nvSpPr>
        <p:spPr>
          <a:xfrm>
            <a:off x="589930" y="1533750"/>
            <a:ext cx="17108130" cy="523220"/>
          </a:xfrm>
          <a:prstGeom prst="rect">
            <a:avLst/>
          </a:prstGeom>
          <a:noFill/>
        </p:spPr>
        <p:txBody>
          <a:bodyPr wrap="square">
            <a:spAutoFit/>
          </a:bodyPr>
          <a:lstStyle/>
          <a:p>
            <a:pPr marL="0" marR="0" lvl="0" indent="0" algn="ctr" rtl="0">
              <a:spcBef>
                <a:spcPts val="0"/>
              </a:spcBef>
              <a:spcAft>
                <a:spcPts val="0"/>
              </a:spcAft>
              <a:buNone/>
            </a:pPr>
            <a:r>
              <a:rPr lang="es-ES" sz="2800" dirty="0">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rPr>
              <a:t>La inflamación crónica adquiere una </a:t>
            </a:r>
            <a:r>
              <a:rPr lang="es-ES" sz="2800" b="1" dirty="0">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rPr>
              <a:t>importancia crítica </a:t>
            </a:r>
            <a:r>
              <a:rPr lang="es-ES" sz="2800" dirty="0">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rPr>
              <a:t>en el contexto del riesgo de </a:t>
            </a:r>
            <a:r>
              <a:rPr lang="es-ES" sz="2800" b="1" dirty="0">
                <a:solidFill>
                  <a:schemeClr val="tx1">
                    <a:lumMod val="75000"/>
                    <a:lumOff val="25000"/>
                  </a:schemeClr>
                </a:solidFill>
                <a:latin typeface="Source Sans Pro" panose="020B0503030403020204" pitchFamily="34" charset="0"/>
                <a:ea typeface="Source Sans Pro" panose="020B0503030403020204" pitchFamily="34" charset="0"/>
                <a:cs typeface="Calibri"/>
                <a:sym typeface="Calibri"/>
              </a:rPr>
              <a:t>cáncer colorrectal (CCR)</a:t>
            </a:r>
            <a:endParaRPr lang="es-ES" sz="2800" b="1" dirty="0">
              <a:solidFill>
                <a:schemeClr val="tx1">
                  <a:lumMod val="75000"/>
                  <a:lumOff val="25000"/>
                </a:schemeClr>
              </a:solidFill>
              <a:latin typeface="Source Sans Pro" panose="020B0503030403020204" pitchFamily="34" charset="0"/>
              <a:ea typeface="Source Sans Pro" panose="020B0503030403020204" pitchFamily="34" charset="0"/>
            </a:endParaRPr>
          </a:p>
        </p:txBody>
      </p:sp>
      <p:sp>
        <p:nvSpPr>
          <p:cNvPr id="5" name="CuadroTexto 4">
            <a:extLst>
              <a:ext uri="{FF2B5EF4-FFF2-40B4-BE49-F238E27FC236}">
                <a16:creationId xmlns:a16="http://schemas.microsoft.com/office/drawing/2014/main" id="{CF720901-FEB0-1D37-BA36-A572BA079315}"/>
              </a:ext>
            </a:extLst>
          </p:cNvPr>
          <p:cNvSpPr txBox="1"/>
          <p:nvPr/>
        </p:nvSpPr>
        <p:spPr>
          <a:xfrm>
            <a:off x="8480321" y="5448025"/>
            <a:ext cx="9143999" cy="954107"/>
          </a:xfrm>
          <a:prstGeom prst="rect">
            <a:avLst/>
          </a:prstGeom>
          <a:solidFill>
            <a:schemeClr val="tx2">
              <a:lumMod val="90000"/>
            </a:schemeClr>
          </a:solidFill>
        </p:spPr>
        <p:txBody>
          <a:bodyPr wrap="square">
            <a:spAutoFit/>
          </a:bodyPr>
          <a:lstStyle/>
          <a:p>
            <a:pPr marL="0" marR="0" lvl="0" indent="0" algn="ctr" rtl="0">
              <a:spcBef>
                <a:spcPts val="0"/>
              </a:spcBef>
              <a:spcAft>
                <a:spcPts val="0"/>
              </a:spcAft>
              <a:buNone/>
            </a:pPr>
            <a:r>
              <a:rPr lang="es-ES" sz="2800" b="1" dirty="0">
                <a:solidFill>
                  <a:schemeClr val="dk1"/>
                </a:solidFill>
                <a:latin typeface="Source Sans Pro" panose="020B0503030403020204" pitchFamily="34" charset="0"/>
                <a:ea typeface="Source Sans Pro" panose="020B0503030403020204" pitchFamily="34" charset="0"/>
                <a:cs typeface="Calibri"/>
                <a:sym typeface="Calibri"/>
              </a:rPr>
              <a:t>Vínculo</a:t>
            </a:r>
          </a:p>
          <a:p>
            <a:pPr marL="0" marR="0" lvl="0" indent="0" algn="ctr" rtl="0">
              <a:spcBef>
                <a:spcPts val="0"/>
              </a:spcBef>
              <a:spcAft>
                <a:spcPts val="0"/>
              </a:spcAft>
              <a:buNone/>
            </a:pPr>
            <a:r>
              <a:rPr lang="es-ES" sz="2800" dirty="0">
                <a:solidFill>
                  <a:schemeClr val="dk1"/>
                </a:solidFill>
                <a:latin typeface="Source Sans Pro" panose="020B0503030403020204" pitchFamily="34" charset="0"/>
                <a:ea typeface="Source Sans Pro" panose="020B0503030403020204" pitchFamily="34" charset="0"/>
                <a:cs typeface="Calibri"/>
                <a:sym typeface="Calibri"/>
              </a:rPr>
              <a:t>Inflamación persistente - transformación maligna.</a:t>
            </a:r>
            <a:endParaRPr lang="es-ES" sz="2800" dirty="0">
              <a:solidFill>
                <a:schemeClr val="dk1"/>
              </a:solidFill>
              <a:latin typeface="Source Sans Pro" panose="020B0503030403020204" pitchFamily="34" charset="0"/>
              <a:ea typeface="Source Sans Pro" panose="020B0503030403020204" pitchFamily="34" charset="0"/>
            </a:endParaRPr>
          </a:p>
        </p:txBody>
      </p:sp>
      <p:sp>
        <p:nvSpPr>
          <p:cNvPr id="6" name="CuadroTexto 5">
            <a:extLst>
              <a:ext uri="{FF2B5EF4-FFF2-40B4-BE49-F238E27FC236}">
                <a16:creationId xmlns:a16="http://schemas.microsoft.com/office/drawing/2014/main" id="{465B9E05-7356-0899-C9CE-43964CBDA66A}"/>
              </a:ext>
            </a:extLst>
          </p:cNvPr>
          <p:cNvSpPr txBox="1"/>
          <p:nvPr/>
        </p:nvSpPr>
        <p:spPr>
          <a:xfrm>
            <a:off x="4063173" y="555664"/>
            <a:ext cx="10161644" cy="492955"/>
          </a:xfrm>
          <a:prstGeom prst="rect">
            <a:avLst/>
          </a:prstGeom>
          <a:noFill/>
        </p:spPr>
        <p:txBody>
          <a:bodyPr wrap="square">
            <a:spAutoFit/>
          </a:bodyPr>
          <a:lstStyle/>
          <a:p>
            <a:pPr marL="0" marR="0" lvl="0" indent="0" algn="ctr" rtl="0">
              <a:lnSpc>
                <a:spcPct val="80357"/>
              </a:lnSpc>
              <a:spcBef>
                <a:spcPts val="0"/>
              </a:spcBef>
              <a:spcAft>
                <a:spcPts val="0"/>
              </a:spcAft>
              <a:buClr>
                <a:srgbClr val="1B1B1B"/>
              </a:buClr>
              <a:buSzPts val="2800"/>
              <a:buFont typeface="Calibri"/>
              <a:buNone/>
            </a:pPr>
            <a:r>
              <a:rPr lang="es-ES" sz="3200" b="1" dirty="0">
                <a:solidFill>
                  <a:schemeClr val="tx1">
                    <a:lumMod val="75000"/>
                    <a:lumOff val="25000"/>
                  </a:schemeClr>
                </a:solidFill>
                <a:latin typeface="Calibri"/>
                <a:ea typeface="Calibri"/>
                <a:cs typeface="Calibri"/>
                <a:sym typeface="Calibri"/>
              </a:rPr>
              <a:t>Mortalidad en Colombia</a:t>
            </a:r>
            <a:endParaRPr lang="es-ES" sz="3200" dirty="0">
              <a:solidFill>
                <a:schemeClr val="tx1">
                  <a:lumMod val="75000"/>
                  <a:lumOff val="25000"/>
                </a:schemeClr>
              </a:solidFill>
            </a:endParaRPr>
          </a:p>
        </p:txBody>
      </p:sp>
      <p:sp>
        <p:nvSpPr>
          <p:cNvPr id="8" name="CuadroTexto 7">
            <a:extLst>
              <a:ext uri="{FF2B5EF4-FFF2-40B4-BE49-F238E27FC236}">
                <a16:creationId xmlns:a16="http://schemas.microsoft.com/office/drawing/2014/main" id="{E32133EA-EA44-8D0C-8D28-3CC25C46B59A}"/>
              </a:ext>
            </a:extLst>
          </p:cNvPr>
          <p:cNvSpPr txBox="1"/>
          <p:nvPr/>
        </p:nvSpPr>
        <p:spPr>
          <a:xfrm>
            <a:off x="8554061" y="3141646"/>
            <a:ext cx="9143999" cy="1877437"/>
          </a:xfrm>
          <a:prstGeom prst="rect">
            <a:avLst/>
          </a:prstGeom>
          <a:solidFill>
            <a:schemeClr val="accent2">
              <a:lumMod val="20000"/>
              <a:lumOff val="80000"/>
            </a:schemeClr>
          </a:solidFill>
        </p:spPr>
        <p:txBody>
          <a:bodyPr wrap="square">
            <a:spAutoFit/>
          </a:bodyPr>
          <a:lstStyle/>
          <a:p>
            <a:pPr algn="ctr"/>
            <a:r>
              <a:rPr lang="es-ES" sz="2800" dirty="0"/>
              <a:t>En Colombia el CCR es el tercero más frecuente</a:t>
            </a:r>
          </a:p>
          <a:p>
            <a:pPr algn="ctr"/>
            <a:endParaRPr lang="es-ES" sz="2800" dirty="0"/>
          </a:p>
          <a:p>
            <a:pPr algn="ctr"/>
            <a:r>
              <a:rPr lang="es-ES" sz="2000" b="1" dirty="0"/>
              <a:t>Exposición a factores de riesgo</a:t>
            </a:r>
            <a:r>
              <a:rPr lang="es-ES" sz="2000" dirty="0"/>
              <a:t>:</a:t>
            </a:r>
          </a:p>
          <a:p>
            <a:pPr marL="342900" indent="-342900" algn="ctr">
              <a:buFont typeface="Arial" panose="020B0604020202020204" pitchFamily="34" charset="0"/>
              <a:buChar char="•"/>
            </a:pPr>
            <a:r>
              <a:rPr lang="es-ES" sz="2000" dirty="0"/>
              <a:t>Detección tardía por falta de programas de tamizaje y prevención, y menor acceso a tratamientos adecuados</a:t>
            </a:r>
          </a:p>
        </p:txBody>
      </p:sp>
      <p:pic>
        <p:nvPicPr>
          <p:cNvPr id="9" name="Google Shape;93;p1" descr="No hay ninguna descripción de la foto disponible.">
            <a:extLst>
              <a:ext uri="{FF2B5EF4-FFF2-40B4-BE49-F238E27FC236}">
                <a16:creationId xmlns:a16="http://schemas.microsoft.com/office/drawing/2014/main" id="{56BEAAAB-1DB4-AB68-3157-EA489F6502D1}"/>
              </a:ext>
            </a:extLst>
          </p:cNvPr>
          <p:cNvPicPr preferRelativeResize="0"/>
          <p:nvPr/>
        </p:nvPicPr>
        <p:blipFill rotWithShape="1">
          <a:blip r:embed="rId5">
            <a:alphaModFix/>
          </a:blip>
          <a:srcRect l="26238" t="22935" r="26586" b="20031"/>
          <a:stretch>
            <a:fillRect/>
          </a:stretch>
        </p:blipFill>
        <p:spPr>
          <a:xfrm>
            <a:off x="2873951" y="155154"/>
            <a:ext cx="1808501" cy="893465"/>
          </a:xfrm>
          <a:prstGeom prst="rect">
            <a:avLst/>
          </a:prstGeom>
          <a:noFill/>
          <a:ln>
            <a:noFill/>
          </a:ln>
        </p:spPr>
      </p:pic>
      <p:pic>
        <p:nvPicPr>
          <p:cNvPr id="10" name="Google Shape;94;p1" descr="Universidad El Bosque in Colombia : Reviews &amp; Rankings | Student ...">
            <a:extLst>
              <a:ext uri="{FF2B5EF4-FFF2-40B4-BE49-F238E27FC236}">
                <a16:creationId xmlns:a16="http://schemas.microsoft.com/office/drawing/2014/main" id="{74ED7040-03BA-EA56-C769-09E9A9CCE503}"/>
              </a:ext>
            </a:extLst>
          </p:cNvPr>
          <p:cNvPicPr preferRelativeResize="0"/>
          <p:nvPr/>
        </p:nvPicPr>
        <p:blipFill rotWithShape="1">
          <a:blip r:embed="rId6">
            <a:alphaModFix/>
          </a:blip>
          <a:srcRect l="14020" t="34765" r="17993" b="25071"/>
          <a:stretch>
            <a:fillRect/>
          </a:stretch>
        </p:blipFill>
        <p:spPr>
          <a:xfrm>
            <a:off x="154699" y="290034"/>
            <a:ext cx="2497479" cy="76982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9" name="Rectángulo 8">
            <a:extLst>
              <a:ext uri="{FF2B5EF4-FFF2-40B4-BE49-F238E27FC236}">
                <a16:creationId xmlns:a16="http://schemas.microsoft.com/office/drawing/2014/main" id="{E3793C6C-F95D-DB2C-E8EF-9CFDADD0AA46}"/>
              </a:ext>
            </a:extLst>
          </p:cNvPr>
          <p:cNvSpPr/>
          <p:nvPr/>
        </p:nvSpPr>
        <p:spPr>
          <a:xfrm>
            <a:off x="11934578" y="0"/>
            <a:ext cx="6412830" cy="1028700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5" name="Google Shape;155;g366511a41e0_0_11"/>
          <p:cNvSpPr txBox="1"/>
          <p:nvPr/>
        </p:nvSpPr>
        <p:spPr>
          <a:xfrm>
            <a:off x="595023" y="9670473"/>
            <a:ext cx="10781998" cy="52319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100" dirty="0">
                <a:solidFill>
                  <a:schemeClr val="dk1"/>
                </a:solidFill>
                <a:highlight>
                  <a:schemeClr val="lt1"/>
                </a:highlight>
              </a:rPr>
              <a:t>Zheng H, Zhang C, Wang Q, Feng S, Fang Y, Zhang S. The impact of aging on intestinal mucosal immune function and clinical applications. Front Immunol [Internet]. 2022;13:1029948. Disponible en: http://dx.doi.org/10.3389/fimmu.2022.1029948</a:t>
            </a:r>
            <a:endParaRPr sz="1100" dirty="0">
              <a:solidFill>
                <a:schemeClr val="dk1"/>
              </a:solidFill>
              <a:highlight>
                <a:schemeClr val="lt1"/>
              </a:highlight>
            </a:endParaRPr>
          </a:p>
        </p:txBody>
      </p:sp>
      <p:sp>
        <p:nvSpPr>
          <p:cNvPr id="159" name="Google Shape;159;g366511a41e0_0_11"/>
          <p:cNvSpPr txBox="1"/>
          <p:nvPr/>
        </p:nvSpPr>
        <p:spPr>
          <a:xfrm>
            <a:off x="12492059" y="5291417"/>
            <a:ext cx="5016226" cy="1785064"/>
          </a:xfrm>
          <a:prstGeom prst="rect">
            <a:avLst/>
          </a:prstGeom>
          <a:solidFill>
            <a:schemeClr val="lt1"/>
          </a:solidFill>
          <a:ln w="25400" cap="flat" cmpd="sng">
            <a:solidFill>
              <a:schemeClr val="bg1"/>
            </a:solidFill>
            <a:prstDash val="solid"/>
            <a:round/>
            <a:headEnd type="none" w="sm" len="sm"/>
            <a:tailEnd type="none" w="sm" len="sm"/>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2200" dirty="0" err="1">
                <a:solidFill>
                  <a:schemeClr val="tx1">
                    <a:lumMod val="75000"/>
                    <a:lumOff val="25000"/>
                  </a:schemeClr>
                </a:solidFill>
                <a:latin typeface="Source Sans Pro" panose="020B0503030403020204" pitchFamily="34" charset="0"/>
                <a:ea typeface="Source Sans Pro" panose="020B0503030403020204" pitchFamily="34" charset="0"/>
              </a:rPr>
              <a:t>Ampliamente</a:t>
            </a:r>
            <a:r>
              <a:rPr lang="en-US" sz="2200" dirty="0">
                <a:solidFill>
                  <a:schemeClr val="tx1">
                    <a:lumMod val="75000"/>
                    <a:lumOff val="25000"/>
                  </a:schemeClr>
                </a:solidFill>
                <a:latin typeface="Source Sans Pro" panose="020B0503030403020204" pitchFamily="34" charset="0"/>
                <a:ea typeface="Source Sans Pro" panose="020B0503030403020204" pitchFamily="34" charset="0"/>
              </a:rPr>
              <a:t> </a:t>
            </a:r>
            <a:r>
              <a:rPr lang="en-US" sz="2200" dirty="0" err="1">
                <a:solidFill>
                  <a:schemeClr val="tx1">
                    <a:lumMod val="75000"/>
                    <a:lumOff val="25000"/>
                  </a:schemeClr>
                </a:solidFill>
                <a:latin typeface="Source Sans Pro" panose="020B0503030403020204" pitchFamily="34" charset="0"/>
                <a:ea typeface="Source Sans Pro" panose="020B0503030403020204" pitchFamily="34" charset="0"/>
              </a:rPr>
              <a:t>estudiado</a:t>
            </a:r>
            <a:r>
              <a:rPr lang="en-US" sz="2200" dirty="0">
                <a:solidFill>
                  <a:schemeClr val="tx1">
                    <a:lumMod val="75000"/>
                    <a:lumOff val="25000"/>
                  </a:schemeClr>
                </a:solidFill>
                <a:latin typeface="Source Sans Pro" panose="020B0503030403020204" pitchFamily="34" charset="0"/>
                <a:ea typeface="Source Sans Pro" panose="020B0503030403020204" pitchFamily="34" charset="0"/>
              </a:rPr>
              <a:t> en </a:t>
            </a:r>
            <a:r>
              <a:rPr lang="en-US" sz="2200" dirty="0" err="1">
                <a:solidFill>
                  <a:schemeClr val="tx1">
                    <a:lumMod val="75000"/>
                    <a:lumOff val="25000"/>
                  </a:schemeClr>
                </a:solidFill>
                <a:latin typeface="Source Sans Pro" panose="020B0503030403020204" pitchFamily="34" charset="0"/>
                <a:ea typeface="Source Sans Pro" panose="020B0503030403020204" pitchFamily="34" charset="0"/>
              </a:rPr>
              <a:t>condiciones</a:t>
            </a:r>
            <a:r>
              <a:rPr lang="en-US" sz="2200" dirty="0">
                <a:solidFill>
                  <a:schemeClr val="tx1">
                    <a:lumMod val="75000"/>
                    <a:lumOff val="25000"/>
                  </a:schemeClr>
                </a:solidFill>
                <a:latin typeface="Source Sans Pro" panose="020B0503030403020204" pitchFamily="34" charset="0"/>
                <a:ea typeface="Source Sans Pro" panose="020B0503030403020204" pitchFamily="34" charset="0"/>
              </a:rPr>
              <a:t> </a:t>
            </a:r>
            <a:r>
              <a:rPr lang="en-US" sz="2200" dirty="0" err="1">
                <a:solidFill>
                  <a:schemeClr val="tx1">
                    <a:lumMod val="75000"/>
                    <a:lumOff val="25000"/>
                  </a:schemeClr>
                </a:solidFill>
                <a:latin typeface="Source Sans Pro" panose="020B0503030403020204" pitchFamily="34" charset="0"/>
                <a:ea typeface="Source Sans Pro" panose="020B0503030403020204" pitchFamily="34" charset="0"/>
              </a:rPr>
              <a:t>saludables</a:t>
            </a:r>
            <a:r>
              <a:rPr lang="en-US" sz="2200" dirty="0">
                <a:solidFill>
                  <a:schemeClr val="tx1">
                    <a:lumMod val="75000"/>
                    <a:lumOff val="25000"/>
                  </a:schemeClr>
                </a:solidFill>
                <a:latin typeface="Source Sans Pro" panose="020B0503030403020204" pitchFamily="34" charset="0"/>
                <a:ea typeface="Source Sans Pro" panose="020B0503030403020204" pitchFamily="34" charset="0"/>
              </a:rPr>
              <a:t> </a:t>
            </a:r>
          </a:p>
          <a:p>
            <a:pPr marL="0" lvl="0" indent="0" algn="ctr" rtl="0">
              <a:spcBef>
                <a:spcPts val="0"/>
              </a:spcBef>
              <a:spcAft>
                <a:spcPts val="0"/>
              </a:spcAft>
              <a:buClr>
                <a:schemeClr val="dk1"/>
              </a:buClr>
              <a:buSzPts val="1100"/>
              <a:buFont typeface="Arial"/>
              <a:buNone/>
            </a:pPr>
            <a:endParaRPr lang="en-US" sz="2200" dirty="0">
              <a:solidFill>
                <a:schemeClr val="tx1">
                  <a:lumMod val="75000"/>
                  <a:lumOff val="25000"/>
                </a:schemeClr>
              </a:solidFill>
              <a:latin typeface="Source Sans Pro" panose="020B0503030403020204" pitchFamily="34" charset="0"/>
              <a:ea typeface="Source Sans Pro" panose="020B0503030403020204" pitchFamily="34" charset="0"/>
            </a:endParaRPr>
          </a:p>
          <a:p>
            <a:pPr marL="0" lvl="0" indent="0" algn="ctr" rtl="0">
              <a:spcBef>
                <a:spcPts val="0"/>
              </a:spcBef>
              <a:spcAft>
                <a:spcPts val="0"/>
              </a:spcAft>
              <a:buClr>
                <a:schemeClr val="dk1"/>
              </a:buClr>
              <a:buSzPts val="1100"/>
              <a:buFont typeface="Arial"/>
              <a:buNone/>
            </a:pPr>
            <a:r>
              <a:rPr lang="en-US" sz="2200" b="1" dirty="0">
                <a:solidFill>
                  <a:schemeClr val="tx1">
                    <a:lumMod val="75000"/>
                    <a:lumOff val="25000"/>
                  </a:schemeClr>
                </a:solidFill>
                <a:latin typeface="Source Sans Pro" panose="020B0503030403020204" pitchFamily="34" charset="0"/>
                <a:ea typeface="Source Sans Pro" panose="020B0503030403020204" pitchFamily="34" charset="0"/>
              </a:rPr>
              <a:t>Su </a:t>
            </a:r>
            <a:r>
              <a:rPr lang="en-US" sz="2200" b="1" dirty="0" err="1">
                <a:solidFill>
                  <a:schemeClr val="tx1">
                    <a:lumMod val="75000"/>
                    <a:lumOff val="25000"/>
                  </a:schemeClr>
                </a:solidFill>
                <a:latin typeface="Source Sans Pro" panose="020B0503030403020204" pitchFamily="34" charset="0"/>
                <a:ea typeface="Source Sans Pro" panose="020B0503030403020204" pitchFamily="34" charset="0"/>
              </a:rPr>
              <a:t>función</a:t>
            </a:r>
            <a:r>
              <a:rPr lang="en-US" sz="2200" b="1" dirty="0">
                <a:solidFill>
                  <a:schemeClr val="tx1">
                    <a:lumMod val="75000"/>
                    <a:lumOff val="25000"/>
                  </a:schemeClr>
                </a:solidFill>
                <a:latin typeface="Source Sans Pro" panose="020B0503030403020204" pitchFamily="34" charset="0"/>
                <a:ea typeface="Source Sans Pro" panose="020B0503030403020204" pitchFamily="34" charset="0"/>
              </a:rPr>
              <a:t> en la EII </a:t>
            </a:r>
            <a:r>
              <a:rPr lang="en-US" sz="2200" b="1" dirty="0" err="1">
                <a:solidFill>
                  <a:schemeClr val="tx1">
                    <a:lumMod val="75000"/>
                    <a:lumOff val="25000"/>
                  </a:schemeClr>
                </a:solidFill>
                <a:latin typeface="Source Sans Pro" panose="020B0503030403020204" pitchFamily="34" charset="0"/>
                <a:ea typeface="Source Sans Pro" panose="020B0503030403020204" pitchFamily="34" charset="0"/>
              </a:rPr>
              <a:t>sigue</a:t>
            </a:r>
            <a:r>
              <a:rPr lang="en-US" sz="2200" b="1" dirty="0">
                <a:solidFill>
                  <a:schemeClr val="tx1">
                    <a:lumMod val="75000"/>
                    <a:lumOff val="25000"/>
                  </a:schemeClr>
                </a:solidFill>
                <a:latin typeface="Source Sans Pro" panose="020B0503030403020204" pitchFamily="34" charset="0"/>
                <a:ea typeface="Source Sans Pro" panose="020B0503030403020204" pitchFamily="34" charset="0"/>
              </a:rPr>
              <a:t> </a:t>
            </a:r>
            <a:r>
              <a:rPr lang="en-US" sz="2200" b="1" dirty="0" err="1">
                <a:solidFill>
                  <a:schemeClr val="tx1">
                    <a:lumMod val="75000"/>
                    <a:lumOff val="25000"/>
                  </a:schemeClr>
                </a:solidFill>
                <a:latin typeface="Source Sans Pro" panose="020B0503030403020204" pitchFamily="34" charset="0"/>
                <a:ea typeface="Source Sans Pro" panose="020B0503030403020204" pitchFamily="34" charset="0"/>
              </a:rPr>
              <a:t>siendo</a:t>
            </a:r>
            <a:r>
              <a:rPr lang="en-US" sz="2200" b="1" dirty="0">
                <a:solidFill>
                  <a:schemeClr val="tx1">
                    <a:lumMod val="75000"/>
                    <a:lumOff val="25000"/>
                  </a:schemeClr>
                </a:solidFill>
                <a:latin typeface="Source Sans Pro" panose="020B0503030403020204" pitchFamily="34" charset="0"/>
                <a:ea typeface="Source Sans Pro" panose="020B0503030403020204" pitchFamily="34" charset="0"/>
              </a:rPr>
              <a:t> en gran </a:t>
            </a:r>
            <a:r>
              <a:rPr lang="en-US" sz="2200" b="1" dirty="0" err="1">
                <a:solidFill>
                  <a:schemeClr val="tx1">
                    <a:lumMod val="75000"/>
                    <a:lumOff val="25000"/>
                  </a:schemeClr>
                </a:solidFill>
                <a:latin typeface="Source Sans Pro" panose="020B0503030403020204" pitchFamily="34" charset="0"/>
                <a:ea typeface="Source Sans Pro" panose="020B0503030403020204" pitchFamily="34" charset="0"/>
              </a:rPr>
              <a:t>medida</a:t>
            </a:r>
            <a:r>
              <a:rPr lang="en-US" sz="2200" b="1" dirty="0">
                <a:solidFill>
                  <a:schemeClr val="tx1">
                    <a:lumMod val="75000"/>
                    <a:lumOff val="25000"/>
                  </a:schemeClr>
                </a:solidFill>
                <a:latin typeface="Source Sans Pro" panose="020B0503030403020204" pitchFamily="34" charset="0"/>
                <a:ea typeface="Source Sans Pro" panose="020B0503030403020204" pitchFamily="34" charset="0"/>
              </a:rPr>
              <a:t> </a:t>
            </a:r>
            <a:r>
              <a:rPr lang="en-US" sz="2200" b="1" dirty="0" err="1">
                <a:solidFill>
                  <a:schemeClr val="tx1">
                    <a:lumMod val="75000"/>
                    <a:lumOff val="25000"/>
                  </a:schemeClr>
                </a:solidFill>
                <a:latin typeface="Source Sans Pro" panose="020B0503030403020204" pitchFamily="34" charset="0"/>
                <a:ea typeface="Source Sans Pro" panose="020B0503030403020204" pitchFamily="34" charset="0"/>
              </a:rPr>
              <a:t>desconocida</a:t>
            </a:r>
            <a:endParaRPr sz="2400" b="1" dirty="0">
              <a:solidFill>
                <a:schemeClr val="tx1">
                  <a:lumMod val="75000"/>
                  <a:lumOff val="25000"/>
                </a:schemeClr>
              </a:solidFill>
              <a:latin typeface="Source Sans Pro" panose="020B0503030403020204" pitchFamily="34" charset="0"/>
              <a:ea typeface="Source Sans Pro" panose="020B0503030403020204" pitchFamily="34" charset="0"/>
            </a:endParaRPr>
          </a:p>
        </p:txBody>
      </p:sp>
      <p:pic>
        <p:nvPicPr>
          <p:cNvPr id="162" name="Google Shape;162;g366511a41e0_0_11"/>
          <p:cNvPicPr preferRelativeResize="0"/>
          <p:nvPr/>
        </p:nvPicPr>
        <p:blipFill>
          <a:blip r:embed="rId3">
            <a:alphaModFix/>
          </a:blip>
          <a:stretch>
            <a:fillRect/>
          </a:stretch>
        </p:blipFill>
        <p:spPr>
          <a:xfrm>
            <a:off x="1127615" y="2077907"/>
            <a:ext cx="5686296" cy="5514062"/>
          </a:xfrm>
          <a:prstGeom prst="rect">
            <a:avLst/>
          </a:prstGeom>
          <a:noFill/>
          <a:ln>
            <a:noFill/>
          </a:ln>
        </p:spPr>
      </p:pic>
      <p:pic>
        <p:nvPicPr>
          <p:cNvPr id="2" name="Google Shape;93;p1" descr="No hay ninguna descripción de la foto disponible.">
            <a:extLst>
              <a:ext uri="{FF2B5EF4-FFF2-40B4-BE49-F238E27FC236}">
                <a16:creationId xmlns:a16="http://schemas.microsoft.com/office/drawing/2014/main" id="{1AA6085C-10DD-3F84-8BCC-4E1C249D0C59}"/>
              </a:ext>
            </a:extLst>
          </p:cNvPr>
          <p:cNvPicPr preferRelativeResize="0"/>
          <p:nvPr/>
        </p:nvPicPr>
        <p:blipFill rotWithShape="1">
          <a:blip r:embed="rId4">
            <a:alphaModFix/>
          </a:blip>
          <a:srcRect l="26238" t="22935" r="26586" b="20031"/>
          <a:stretch>
            <a:fillRect/>
          </a:stretch>
        </p:blipFill>
        <p:spPr>
          <a:xfrm>
            <a:off x="15572314" y="9188181"/>
            <a:ext cx="1432577" cy="744819"/>
          </a:xfrm>
          <a:prstGeom prst="rect">
            <a:avLst/>
          </a:prstGeom>
          <a:noFill/>
          <a:ln>
            <a:noFill/>
          </a:ln>
        </p:spPr>
      </p:pic>
      <p:pic>
        <p:nvPicPr>
          <p:cNvPr id="3" name="Google Shape;94;p1" descr="Universidad El Bosque in Colombia : Reviews &amp; Rankings | Student ...">
            <a:extLst>
              <a:ext uri="{FF2B5EF4-FFF2-40B4-BE49-F238E27FC236}">
                <a16:creationId xmlns:a16="http://schemas.microsoft.com/office/drawing/2014/main" id="{496F72FC-834F-A0C5-F5BC-70015CC2E7B9}"/>
              </a:ext>
            </a:extLst>
          </p:cNvPr>
          <p:cNvPicPr preferRelativeResize="0"/>
          <p:nvPr/>
        </p:nvPicPr>
        <p:blipFill rotWithShape="1">
          <a:blip r:embed="rId5">
            <a:alphaModFix/>
          </a:blip>
          <a:srcRect l="14020" t="34765" r="17993" b="25071"/>
          <a:stretch>
            <a:fillRect/>
          </a:stretch>
        </p:blipFill>
        <p:spPr>
          <a:xfrm>
            <a:off x="13472494" y="9291254"/>
            <a:ext cx="1978341" cy="641746"/>
          </a:xfrm>
          <a:prstGeom prst="rect">
            <a:avLst/>
          </a:prstGeom>
          <a:noFill/>
          <a:ln>
            <a:noFill/>
          </a:ln>
        </p:spPr>
      </p:pic>
      <p:sp>
        <p:nvSpPr>
          <p:cNvPr id="4" name="CuadroTexto 3">
            <a:extLst>
              <a:ext uri="{FF2B5EF4-FFF2-40B4-BE49-F238E27FC236}">
                <a16:creationId xmlns:a16="http://schemas.microsoft.com/office/drawing/2014/main" id="{AE382DAF-9C85-9F6F-FD9E-572AA74F3A22}"/>
              </a:ext>
            </a:extLst>
          </p:cNvPr>
          <p:cNvSpPr txBox="1"/>
          <p:nvPr/>
        </p:nvSpPr>
        <p:spPr>
          <a:xfrm>
            <a:off x="11498163" y="1671615"/>
            <a:ext cx="6780489" cy="492955"/>
          </a:xfrm>
          <a:prstGeom prst="rect">
            <a:avLst/>
          </a:prstGeom>
          <a:noFill/>
        </p:spPr>
        <p:txBody>
          <a:bodyPr wrap="square">
            <a:spAutoFit/>
          </a:bodyPr>
          <a:lstStyle/>
          <a:p>
            <a:pPr marL="0" marR="0" lvl="0" indent="0" algn="ctr" rtl="0">
              <a:lnSpc>
                <a:spcPct val="80357"/>
              </a:lnSpc>
              <a:spcBef>
                <a:spcPts val="0"/>
              </a:spcBef>
              <a:spcAft>
                <a:spcPts val="0"/>
              </a:spcAft>
              <a:buClr>
                <a:srgbClr val="1B1B1B"/>
              </a:buClr>
              <a:buSzPts val="2800"/>
              <a:buFont typeface="Calibri"/>
              <a:buNone/>
            </a:pPr>
            <a:r>
              <a:rPr lang="es-ES" sz="3200" b="1" dirty="0">
                <a:solidFill>
                  <a:schemeClr val="tx1">
                    <a:lumMod val="75000"/>
                    <a:lumOff val="25000"/>
                  </a:schemeClr>
                </a:solidFill>
                <a:latin typeface="Calibri"/>
                <a:ea typeface="Calibri"/>
                <a:cs typeface="Calibri"/>
                <a:sym typeface="Calibri"/>
              </a:rPr>
              <a:t>Papel de la </a:t>
            </a:r>
            <a:r>
              <a:rPr lang="es-ES" sz="3200" b="1" i="1" dirty="0" err="1">
                <a:solidFill>
                  <a:schemeClr val="tx1">
                    <a:lumMod val="75000"/>
                    <a:lumOff val="25000"/>
                  </a:schemeClr>
                </a:solidFill>
                <a:latin typeface="Calibri"/>
                <a:ea typeface="Calibri"/>
                <a:cs typeface="Calibri"/>
                <a:sym typeface="Calibri"/>
              </a:rPr>
              <a:t>SIgA</a:t>
            </a:r>
            <a:endParaRPr lang="es-ES" sz="3200" i="1" dirty="0">
              <a:solidFill>
                <a:schemeClr val="tx1">
                  <a:lumMod val="75000"/>
                  <a:lumOff val="25000"/>
                </a:schemeClr>
              </a:solidFill>
            </a:endParaRPr>
          </a:p>
        </p:txBody>
      </p:sp>
      <p:pic>
        <p:nvPicPr>
          <p:cNvPr id="6" name="Imagen 5">
            <a:extLst>
              <a:ext uri="{FF2B5EF4-FFF2-40B4-BE49-F238E27FC236}">
                <a16:creationId xmlns:a16="http://schemas.microsoft.com/office/drawing/2014/main" id="{8858E59A-3AEB-0D3E-9790-8720A8C22936}"/>
              </a:ext>
            </a:extLst>
          </p:cNvPr>
          <p:cNvPicPr>
            <a:picLocks noChangeAspect="1"/>
          </p:cNvPicPr>
          <p:nvPr/>
        </p:nvPicPr>
        <p:blipFill>
          <a:blip r:embed="rId6"/>
          <a:srcRect t="627"/>
          <a:stretch>
            <a:fillRect/>
          </a:stretch>
        </p:blipFill>
        <p:spPr>
          <a:xfrm>
            <a:off x="974011" y="1080859"/>
            <a:ext cx="10560642" cy="7374711"/>
          </a:xfrm>
          <a:prstGeom prst="rect">
            <a:avLst/>
          </a:prstGeom>
        </p:spPr>
      </p:pic>
      <p:sp>
        <p:nvSpPr>
          <p:cNvPr id="8" name="CuadroTexto 7">
            <a:extLst>
              <a:ext uri="{FF2B5EF4-FFF2-40B4-BE49-F238E27FC236}">
                <a16:creationId xmlns:a16="http://schemas.microsoft.com/office/drawing/2014/main" id="{84E673E9-C09B-1ECA-EE40-A837843ED217}"/>
              </a:ext>
            </a:extLst>
          </p:cNvPr>
          <p:cNvSpPr txBox="1"/>
          <p:nvPr/>
        </p:nvSpPr>
        <p:spPr>
          <a:xfrm>
            <a:off x="12268532" y="2512020"/>
            <a:ext cx="5239753" cy="1938992"/>
          </a:xfrm>
          <a:prstGeom prst="rect">
            <a:avLst/>
          </a:prstGeom>
          <a:noFill/>
          <a:ln>
            <a:solidFill>
              <a:schemeClr val="tx1"/>
            </a:solidFill>
            <a:prstDash val="dashDot"/>
          </a:ln>
        </p:spPr>
        <p:txBody>
          <a:bodyPr wrap="square">
            <a:spAutoFit/>
          </a:bodyPr>
          <a:lstStyle/>
          <a:p>
            <a:pPr marL="285750" indent="-285750" algn="ctr">
              <a:buFont typeface="Arial" panose="020B0604020202020204" pitchFamily="34" charset="0"/>
              <a:buChar char="•"/>
            </a:pPr>
            <a:r>
              <a:rPr lang="es-ES" sz="2400" dirty="0">
                <a:latin typeface="Source Sans Pro" panose="020B0503030403020204" pitchFamily="34" charset="0"/>
                <a:ea typeface="Source Sans Pro" panose="020B0503030403020204" pitchFamily="34" charset="0"/>
              </a:rPr>
              <a:t>Limita </a:t>
            </a:r>
            <a:r>
              <a:rPr lang="es-ES" sz="2400" b="0" i="0" u="none" strike="noStrike" baseline="0" dirty="0">
                <a:solidFill>
                  <a:srgbClr val="000000"/>
                </a:solidFill>
                <a:latin typeface="Source Sans Pro" panose="020B0503030403020204" pitchFamily="34" charset="0"/>
                <a:ea typeface="Source Sans Pro" panose="020B0503030403020204" pitchFamily="34" charset="0"/>
              </a:rPr>
              <a:t> la exposición sistémica a microbios comensales</a:t>
            </a:r>
            <a:endParaRPr lang="es-ES" sz="2400" dirty="0">
              <a:latin typeface="Source Sans Pro" panose="020B0503030403020204" pitchFamily="34" charset="0"/>
              <a:ea typeface="Source Sans Pro" panose="020B0503030403020204" pitchFamily="34" charset="0"/>
            </a:endParaRPr>
          </a:p>
          <a:p>
            <a:pPr marL="285750" indent="-285750" algn="ctr">
              <a:buFont typeface="Arial" panose="020B0604020202020204" pitchFamily="34" charset="0"/>
              <a:buChar char="•"/>
            </a:pPr>
            <a:r>
              <a:rPr lang="es-ES" sz="2400" dirty="0">
                <a:latin typeface="Source Sans Pro" panose="020B0503030403020204" pitchFamily="34" charset="0"/>
                <a:ea typeface="Source Sans Pro" panose="020B0503030403020204" pitchFamily="34" charset="0"/>
              </a:rPr>
              <a:t>M</a:t>
            </a:r>
            <a:r>
              <a:rPr lang="es-ES" sz="2400" b="0" i="0" u="none" strike="noStrike" baseline="0" dirty="0">
                <a:solidFill>
                  <a:srgbClr val="000000"/>
                </a:solidFill>
                <a:latin typeface="Source Sans Pro" panose="020B0503030403020204" pitchFamily="34" charset="0"/>
                <a:ea typeface="Source Sans Pro" panose="020B0503030403020204" pitchFamily="34" charset="0"/>
              </a:rPr>
              <a:t>odula la inflamación </a:t>
            </a:r>
            <a:endParaRPr lang="es-ES" sz="2400" dirty="0">
              <a:latin typeface="Source Sans Pro" panose="020B0503030403020204" pitchFamily="34" charset="0"/>
              <a:ea typeface="Source Sans Pro" panose="020B0503030403020204" pitchFamily="34" charset="0"/>
            </a:endParaRPr>
          </a:p>
          <a:p>
            <a:pPr marL="285750" indent="-285750" algn="ctr">
              <a:buFont typeface="Arial" panose="020B0604020202020204" pitchFamily="34" charset="0"/>
              <a:buChar char="•"/>
            </a:pPr>
            <a:r>
              <a:rPr lang="es-ES" sz="2400" dirty="0">
                <a:latin typeface="Source Sans Pro" panose="020B0503030403020204" pitchFamily="34" charset="0"/>
                <a:ea typeface="Source Sans Pro" panose="020B0503030403020204" pitchFamily="34" charset="0"/>
              </a:rPr>
              <a:t>M</a:t>
            </a:r>
            <a:r>
              <a:rPr lang="es-ES" sz="2400" b="0" i="0" u="none" strike="noStrike" baseline="0" dirty="0">
                <a:solidFill>
                  <a:srgbClr val="000000"/>
                </a:solidFill>
                <a:latin typeface="Source Sans Pro" panose="020B0503030403020204" pitchFamily="34" charset="0"/>
                <a:ea typeface="Source Sans Pro" panose="020B0503030403020204" pitchFamily="34" charset="0"/>
              </a:rPr>
              <a:t>oldea la respuesta inmune adaptativa</a:t>
            </a:r>
            <a:endParaRPr lang="es-ES" sz="2400" dirty="0">
              <a:latin typeface="Source Sans Pro" panose="020B0503030403020204" pitchFamily="34" charset="0"/>
              <a:ea typeface="Source Sans Pro" panose="020B0503030403020204" pitchFamily="34" charset="0"/>
            </a:endParaRPr>
          </a:p>
        </p:txBody>
      </p:sp>
      <p:sp>
        <p:nvSpPr>
          <p:cNvPr id="5" name="CuadroTexto 4">
            <a:extLst>
              <a:ext uri="{FF2B5EF4-FFF2-40B4-BE49-F238E27FC236}">
                <a16:creationId xmlns:a16="http://schemas.microsoft.com/office/drawing/2014/main" id="{3114C4B4-907D-03CF-E4DC-1EA11B19190C}"/>
              </a:ext>
            </a:extLst>
          </p:cNvPr>
          <p:cNvSpPr txBox="1"/>
          <p:nvPr/>
        </p:nvSpPr>
        <p:spPr>
          <a:xfrm>
            <a:off x="4973781" y="7869881"/>
            <a:ext cx="1120897" cy="307777"/>
          </a:xfrm>
          <a:prstGeom prst="rect">
            <a:avLst/>
          </a:prstGeom>
          <a:noFill/>
        </p:spPr>
        <p:txBody>
          <a:bodyPr wrap="square" rtlCol="0">
            <a:spAutoFit/>
          </a:bodyPr>
          <a:lstStyle/>
          <a:p>
            <a:pPr algn="ctr"/>
            <a:r>
              <a:rPr lang="es-ES" dirty="0"/>
              <a:t>(TGF-B1)</a:t>
            </a:r>
          </a:p>
        </p:txBody>
      </p:sp>
      <p:sp>
        <p:nvSpPr>
          <p:cNvPr id="7" name="CuadroTexto 6">
            <a:extLst>
              <a:ext uri="{FF2B5EF4-FFF2-40B4-BE49-F238E27FC236}">
                <a16:creationId xmlns:a16="http://schemas.microsoft.com/office/drawing/2014/main" id="{0EAE4021-2DF9-38CC-3D73-F644EE5E6F28}"/>
              </a:ext>
            </a:extLst>
          </p:cNvPr>
          <p:cNvSpPr txBox="1"/>
          <p:nvPr/>
        </p:nvSpPr>
        <p:spPr>
          <a:xfrm>
            <a:off x="6813911" y="8301681"/>
            <a:ext cx="1120897" cy="307777"/>
          </a:xfrm>
          <a:prstGeom prst="rect">
            <a:avLst/>
          </a:prstGeom>
          <a:noFill/>
        </p:spPr>
        <p:txBody>
          <a:bodyPr wrap="square" rtlCol="0">
            <a:spAutoFit/>
          </a:bodyPr>
          <a:lstStyle/>
          <a:p>
            <a:pPr algn="ctr"/>
            <a:r>
              <a:rPr lang="es-ES" dirty="0"/>
              <a:t>IL5,IL6,IL10</a:t>
            </a:r>
          </a:p>
        </p:txBody>
      </p:sp>
      <p:sp>
        <p:nvSpPr>
          <p:cNvPr id="10" name="CuadroTexto 9">
            <a:extLst>
              <a:ext uri="{FF2B5EF4-FFF2-40B4-BE49-F238E27FC236}">
                <a16:creationId xmlns:a16="http://schemas.microsoft.com/office/drawing/2014/main" id="{248F922D-6AAA-BEC8-6971-4D429D68234A}"/>
              </a:ext>
            </a:extLst>
          </p:cNvPr>
          <p:cNvSpPr txBox="1"/>
          <p:nvPr/>
        </p:nvSpPr>
        <p:spPr>
          <a:xfrm>
            <a:off x="6590314" y="8655601"/>
            <a:ext cx="1568089" cy="523220"/>
          </a:xfrm>
          <a:prstGeom prst="rect">
            <a:avLst/>
          </a:prstGeom>
          <a:noFill/>
        </p:spPr>
        <p:txBody>
          <a:bodyPr wrap="square" rtlCol="0">
            <a:spAutoFit/>
          </a:bodyPr>
          <a:lstStyle/>
          <a:p>
            <a:pPr algn="ctr"/>
            <a:r>
              <a:rPr lang="es-ES" dirty="0"/>
              <a:t>BAFF,APRIL,</a:t>
            </a:r>
          </a:p>
          <a:p>
            <a:pPr algn="ctr"/>
            <a:r>
              <a:rPr lang="es-ES" dirty="0"/>
              <a:t>AC. RETINOICO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6" name="Rectángulo: esquinas diagonales redondeadas 5">
            <a:extLst>
              <a:ext uri="{FF2B5EF4-FFF2-40B4-BE49-F238E27FC236}">
                <a16:creationId xmlns:a16="http://schemas.microsoft.com/office/drawing/2014/main" id="{287ADB1F-20EC-41CD-0283-4725FEDEE57B}"/>
              </a:ext>
            </a:extLst>
          </p:cNvPr>
          <p:cNvSpPr/>
          <p:nvPr/>
        </p:nvSpPr>
        <p:spPr>
          <a:xfrm>
            <a:off x="473242" y="6156646"/>
            <a:ext cx="4592275" cy="1665057"/>
          </a:xfrm>
          <a:prstGeom prst="round2DiagRect">
            <a:avLst/>
          </a:prstGeom>
          <a:solidFill>
            <a:srgbClr val="FCBEA1"/>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s-ES" sz="2500">
              <a:latin typeface="Source Sans Pro" panose="020B0503030403020204" pitchFamily="34" charset="0"/>
              <a:ea typeface="Source Sans Pro" panose="020B0503030403020204" pitchFamily="34" charset="0"/>
            </a:endParaRPr>
          </a:p>
        </p:txBody>
      </p:sp>
      <p:sp>
        <p:nvSpPr>
          <p:cNvPr id="5" name="Rectángulo: esquinas diagonales redondeadas 4">
            <a:extLst>
              <a:ext uri="{FF2B5EF4-FFF2-40B4-BE49-F238E27FC236}">
                <a16:creationId xmlns:a16="http://schemas.microsoft.com/office/drawing/2014/main" id="{1DF80FFE-1E42-D701-0A73-EA6CCFA8ECE6}"/>
              </a:ext>
            </a:extLst>
          </p:cNvPr>
          <p:cNvSpPr/>
          <p:nvPr/>
        </p:nvSpPr>
        <p:spPr>
          <a:xfrm>
            <a:off x="503774" y="3843818"/>
            <a:ext cx="4592275" cy="1665057"/>
          </a:xfrm>
          <a:prstGeom prst="round2DiagRect">
            <a:avLst/>
          </a:prstGeom>
          <a:solidFill>
            <a:srgbClr val="FCBEA1"/>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s-ES" sz="2500">
              <a:latin typeface="Source Sans Pro" panose="020B0503030403020204" pitchFamily="34" charset="0"/>
              <a:ea typeface="Source Sans Pro" panose="020B0503030403020204" pitchFamily="34" charset="0"/>
            </a:endParaRPr>
          </a:p>
        </p:txBody>
      </p:sp>
      <p:sp>
        <p:nvSpPr>
          <p:cNvPr id="9" name="Rectángulo: esquinas redondeadas 8">
            <a:extLst>
              <a:ext uri="{FF2B5EF4-FFF2-40B4-BE49-F238E27FC236}">
                <a16:creationId xmlns:a16="http://schemas.microsoft.com/office/drawing/2014/main" id="{A56ED6AF-3E69-E429-9ECE-93818910C736}"/>
              </a:ext>
            </a:extLst>
          </p:cNvPr>
          <p:cNvSpPr/>
          <p:nvPr/>
        </p:nvSpPr>
        <p:spPr>
          <a:xfrm>
            <a:off x="6426140" y="1395432"/>
            <a:ext cx="11377882" cy="2125504"/>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lvl="0">
              <a:buNone/>
            </a:pPr>
            <a:endParaRPr lang="es-ES" sz="2500" dirty="0">
              <a:latin typeface="Source Sans Pro" panose="020B0503030403020204" pitchFamily="34" charset="0"/>
              <a:ea typeface="Source Sans Pro" panose="020B0503030403020204" pitchFamily="34" charset="0"/>
            </a:endParaRPr>
          </a:p>
          <a:p>
            <a:pPr lvl="0">
              <a:buNone/>
            </a:pPr>
            <a:r>
              <a:rPr lang="es-ES" sz="2300" dirty="0">
                <a:latin typeface="Source Sans Pro" panose="020B0503030403020204" pitchFamily="34" charset="0"/>
                <a:ea typeface="Source Sans Pro" panose="020B0503030403020204" pitchFamily="34" charset="0"/>
              </a:rPr>
              <a:t>Valores de </a:t>
            </a:r>
            <a:r>
              <a:rPr lang="es-ES" sz="2300" dirty="0" err="1">
                <a:latin typeface="Source Sans Pro" panose="020B0503030403020204" pitchFamily="34" charset="0"/>
                <a:ea typeface="Source Sans Pro" panose="020B0503030403020204" pitchFamily="34" charset="0"/>
              </a:rPr>
              <a:t>SIgA</a:t>
            </a:r>
            <a:r>
              <a:rPr lang="es-ES" sz="2300" dirty="0">
                <a:latin typeface="Source Sans Pro" panose="020B0503030403020204" pitchFamily="34" charset="0"/>
                <a:ea typeface="Source Sans Pro" panose="020B0503030403020204" pitchFamily="34" charset="0"/>
              </a:rPr>
              <a:t> reportados en suero (sangre): </a:t>
            </a:r>
            <a:r>
              <a:rPr lang="en-US" sz="2300" dirty="0">
                <a:solidFill>
                  <a:srgbClr val="000000"/>
                </a:solidFill>
                <a:latin typeface="Source Sans Pro" panose="020B0503030403020204" pitchFamily="34" charset="0"/>
                <a:ea typeface="Source Sans Pro" panose="020B0503030403020204" pitchFamily="34" charset="0"/>
                <a:cs typeface="Arial"/>
              </a:rPr>
              <a:t>Arias, </a:t>
            </a:r>
            <a:r>
              <a:rPr lang="en-US" sz="2300" i="1" dirty="0">
                <a:solidFill>
                  <a:srgbClr val="000000"/>
                </a:solidFill>
                <a:latin typeface="Source Sans Pro" panose="020B0503030403020204" pitchFamily="34" charset="0"/>
                <a:ea typeface="Source Sans Pro" panose="020B0503030403020204" pitchFamily="34" charset="0"/>
                <a:cs typeface="Arial"/>
              </a:rPr>
              <a:t>et al </a:t>
            </a:r>
            <a:r>
              <a:rPr lang="en-US" sz="2300" dirty="0">
                <a:solidFill>
                  <a:srgbClr val="000000"/>
                </a:solidFill>
                <a:latin typeface="Source Sans Pro" panose="020B0503030403020204" pitchFamily="34" charset="0"/>
                <a:ea typeface="Source Sans Pro" panose="020B0503030403020204" pitchFamily="34" charset="0"/>
                <a:cs typeface="Arial"/>
              </a:rPr>
              <a:t>2021</a:t>
            </a:r>
            <a:endParaRPr lang="es-ES" sz="2300" dirty="0">
              <a:latin typeface="Source Sans Pro" panose="020B0503030403020204" pitchFamily="34" charset="0"/>
              <a:ea typeface="Source Sans Pro" panose="020B0503030403020204" pitchFamily="34" charset="0"/>
            </a:endParaRPr>
          </a:p>
          <a:p>
            <a:pPr lvl="0">
              <a:buNone/>
            </a:pPr>
            <a:r>
              <a:rPr lang="es-ES" sz="2500" dirty="0">
                <a:latin typeface="Source Sans Pro" panose="020B0503030403020204" pitchFamily="34" charset="0"/>
                <a:ea typeface="Source Sans Pro" panose="020B0503030403020204" pitchFamily="34" charset="0"/>
              </a:rPr>
              <a:t>Pacientes con </a:t>
            </a:r>
            <a:r>
              <a:rPr lang="es-ES" sz="2500" dirty="0" err="1">
                <a:latin typeface="Source Sans Pro" panose="020B0503030403020204" pitchFamily="34" charset="0"/>
                <a:ea typeface="Source Sans Pro" panose="020B0503030403020204" pitchFamily="34" charset="0"/>
              </a:rPr>
              <a:t>SpA</a:t>
            </a:r>
            <a:r>
              <a:rPr lang="es-ES" sz="2500" dirty="0">
                <a:latin typeface="Source Sans Pro" panose="020B0503030403020204" pitchFamily="34" charset="0"/>
                <a:ea typeface="Source Sans Pro" panose="020B0503030403020204" pitchFamily="34" charset="0"/>
              </a:rPr>
              <a:t>: 19.4 µg/ml (media).</a:t>
            </a:r>
          </a:p>
          <a:p>
            <a:pPr lvl="0">
              <a:buNone/>
            </a:pPr>
            <a:r>
              <a:rPr lang="es-ES" sz="2500" dirty="0">
                <a:latin typeface="Source Sans Pro" panose="020B0503030403020204" pitchFamily="34" charset="0"/>
                <a:ea typeface="Source Sans Pro" panose="020B0503030403020204" pitchFamily="34" charset="0"/>
              </a:rPr>
              <a:t>Controles sanos (HV): 9.4 µg/ml (p &lt; 0.0001).</a:t>
            </a:r>
          </a:p>
          <a:p>
            <a:pPr lvl="0">
              <a:buNone/>
            </a:pPr>
            <a:r>
              <a:rPr lang="es-ES" sz="2500" dirty="0">
                <a:latin typeface="Source Sans Pro" panose="020B0503030403020204" pitchFamily="34" charset="0"/>
                <a:ea typeface="Source Sans Pro" panose="020B0503030403020204" pitchFamily="34" charset="0"/>
              </a:rPr>
              <a:t>Pacientes con IBD: también mostraron niveles más altos que HV (</a:t>
            </a:r>
            <a:r>
              <a:rPr lang="es-ES" sz="2500" i="1" dirty="0">
                <a:latin typeface="Source Sans Pro" panose="020B0503030403020204" pitchFamily="34" charset="0"/>
                <a:ea typeface="Source Sans Pro" panose="020B0503030403020204" pitchFamily="34" charset="0"/>
              </a:rPr>
              <a:t>p</a:t>
            </a:r>
            <a:r>
              <a:rPr lang="es-ES" sz="2500" dirty="0">
                <a:latin typeface="Source Sans Pro" panose="020B0503030403020204" pitchFamily="34" charset="0"/>
                <a:ea typeface="Source Sans Pro" panose="020B0503030403020204" pitchFamily="34" charset="0"/>
              </a:rPr>
              <a:t> = 0.004), pero menores que los de </a:t>
            </a:r>
            <a:r>
              <a:rPr lang="es-ES" sz="2500" dirty="0" err="1">
                <a:latin typeface="Source Sans Pro" panose="020B0503030403020204" pitchFamily="34" charset="0"/>
                <a:ea typeface="Source Sans Pro" panose="020B0503030403020204" pitchFamily="34" charset="0"/>
              </a:rPr>
              <a:t>SpA</a:t>
            </a:r>
            <a:r>
              <a:rPr lang="es-ES" sz="2500" dirty="0">
                <a:latin typeface="Source Sans Pro" panose="020B0503030403020204" pitchFamily="34" charset="0"/>
                <a:ea typeface="Source Sans Pro" panose="020B0503030403020204" pitchFamily="34" charset="0"/>
              </a:rPr>
              <a:t> (</a:t>
            </a:r>
            <a:r>
              <a:rPr lang="es-ES" sz="2500" i="1" dirty="0">
                <a:latin typeface="Source Sans Pro" panose="020B0503030403020204" pitchFamily="34" charset="0"/>
                <a:ea typeface="Source Sans Pro" panose="020B0503030403020204" pitchFamily="34" charset="0"/>
              </a:rPr>
              <a:t>p</a:t>
            </a:r>
            <a:r>
              <a:rPr lang="es-ES" sz="2500" dirty="0">
                <a:latin typeface="Source Sans Pro" panose="020B0503030403020204" pitchFamily="34" charset="0"/>
                <a:ea typeface="Source Sans Pro" panose="020B0503030403020204" pitchFamily="34" charset="0"/>
              </a:rPr>
              <a:t> = 0.0476)</a:t>
            </a:r>
          </a:p>
          <a:p>
            <a:pPr algn="ctr"/>
            <a:endParaRPr lang="es-ES" sz="2500" dirty="0">
              <a:latin typeface="Source Sans Pro" panose="020B0503030403020204" pitchFamily="34" charset="0"/>
              <a:ea typeface="Source Sans Pro" panose="020B0503030403020204" pitchFamily="34" charset="0"/>
            </a:endParaRPr>
          </a:p>
        </p:txBody>
      </p:sp>
      <p:sp>
        <p:nvSpPr>
          <p:cNvPr id="13" name="Flecha: a la derecha 12">
            <a:extLst>
              <a:ext uri="{FF2B5EF4-FFF2-40B4-BE49-F238E27FC236}">
                <a16:creationId xmlns:a16="http://schemas.microsoft.com/office/drawing/2014/main" id="{D5B5601E-5BF7-59EE-EDE3-6151A219A8E8}"/>
              </a:ext>
            </a:extLst>
          </p:cNvPr>
          <p:cNvSpPr/>
          <p:nvPr/>
        </p:nvSpPr>
        <p:spPr>
          <a:xfrm>
            <a:off x="5274398" y="2186980"/>
            <a:ext cx="973393" cy="545690"/>
          </a:xfrm>
          <a:prstGeom prst="rightArrow">
            <a:avLst/>
          </a:prstGeom>
          <a:solidFill>
            <a:srgbClr val="EF8970"/>
          </a:solidFill>
          <a:ln>
            <a:solidFill>
              <a:srgbClr val="EF897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s-ES" sz="2500">
              <a:latin typeface="Source Sans Pro" panose="020B0503030403020204" pitchFamily="34" charset="0"/>
              <a:ea typeface="Source Sans Pro" panose="020B0503030403020204" pitchFamily="34" charset="0"/>
            </a:endParaRPr>
          </a:p>
        </p:txBody>
      </p:sp>
      <p:sp>
        <p:nvSpPr>
          <p:cNvPr id="14" name="Rectángulo: esquinas diagonales redondeadas 13">
            <a:extLst>
              <a:ext uri="{FF2B5EF4-FFF2-40B4-BE49-F238E27FC236}">
                <a16:creationId xmlns:a16="http://schemas.microsoft.com/office/drawing/2014/main" id="{955BF60A-28F3-2309-E48B-902195C2C06D}"/>
              </a:ext>
            </a:extLst>
          </p:cNvPr>
          <p:cNvSpPr/>
          <p:nvPr/>
        </p:nvSpPr>
        <p:spPr>
          <a:xfrm>
            <a:off x="483978" y="1625655"/>
            <a:ext cx="4592275" cy="1665057"/>
          </a:xfrm>
          <a:prstGeom prst="round2DiagRect">
            <a:avLst/>
          </a:prstGeom>
          <a:solidFill>
            <a:srgbClr val="FCBEA1"/>
          </a:solidFill>
        </p:spPr>
        <p:style>
          <a:lnRef idx="1">
            <a:schemeClr val="accent2"/>
          </a:lnRef>
          <a:fillRef idx="2">
            <a:schemeClr val="accent2"/>
          </a:fillRef>
          <a:effectRef idx="1">
            <a:schemeClr val="accent2"/>
          </a:effectRef>
          <a:fontRef idx="minor">
            <a:schemeClr val="dk1"/>
          </a:fontRef>
        </p:style>
        <p:txBody>
          <a:bodyPr rtlCol="0" anchor="ctr"/>
          <a:lstStyle/>
          <a:p>
            <a:pPr algn="ctr"/>
            <a:endParaRPr lang="es-ES" sz="2500">
              <a:latin typeface="Source Sans Pro" panose="020B0503030403020204" pitchFamily="34" charset="0"/>
              <a:ea typeface="Source Sans Pro" panose="020B0503030403020204" pitchFamily="34" charset="0"/>
            </a:endParaRPr>
          </a:p>
        </p:txBody>
      </p:sp>
      <p:sp>
        <p:nvSpPr>
          <p:cNvPr id="16" name="CuadroTexto 15">
            <a:extLst>
              <a:ext uri="{FF2B5EF4-FFF2-40B4-BE49-F238E27FC236}">
                <a16:creationId xmlns:a16="http://schemas.microsoft.com/office/drawing/2014/main" id="{AA5BF9EA-34F8-E14C-DD8E-8D48C11D93EC}"/>
              </a:ext>
            </a:extLst>
          </p:cNvPr>
          <p:cNvSpPr txBox="1"/>
          <p:nvPr/>
        </p:nvSpPr>
        <p:spPr>
          <a:xfrm>
            <a:off x="473242" y="1792285"/>
            <a:ext cx="4702083" cy="1323439"/>
          </a:xfrm>
          <a:prstGeom prst="rect">
            <a:avLst/>
          </a:prstGeom>
          <a:noFill/>
        </p:spPr>
        <p:txBody>
          <a:bodyPr wrap="square">
            <a:spAutoFit/>
          </a:bodyPr>
          <a:lstStyle/>
          <a:p>
            <a:pPr lvl="0" algn="ctr"/>
            <a:r>
              <a:rPr lang="es-ES" sz="2000" b="1" i="1" dirty="0">
                <a:latin typeface="Source Sans Pro" panose="020B0503030403020204" pitchFamily="34" charset="0"/>
                <a:ea typeface="Source Sans Pro" panose="020B0503030403020204" pitchFamily="34" charset="0"/>
              </a:rPr>
              <a:t>Aumento de los niveles séricos de </a:t>
            </a:r>
            <a:r>
              <a:rPr lang="es-ES" sz="2000" b="1" i="1" dirty="0" err="1">
                <a:latin typeface="Source Sans Pro" panose="020B0503030403020204" pitchFamily="34" charset="0"/>
                <a:ea typeface="Source Sans Pro" panose="020B0503030403020204" pitchFamily="34" charset="0"/>
              </a:rPr>
              <a:t>SIgA</a:t>
            </a:r>
            <a:r>
              <a:rPr lang="es-ES" sz="2000" b="1" i="1" dirty="0">
                <a:latin typeface="Source Sans Pro" panose="020B0503030403020204" pitchFamily="34" charset="0"/>
                <a:ea typeface="Source Sans Pro" panose="020B0503030403020204" pitchFamily="34" charset="0"/>
              </a:rPr>
              <a:t> puede reflejar afectación intestinal subclínica en la </a:t>
            </a:r>
            <a:r>
              <a:rPr lang="es-ES" sz="2000" b="1" i="1" dirty="0" err="1">
                <a:latin typeface="Source Sans Pro" panose="020B0503030403020204" pitchFamily="34" charset="0"/>
                <a:ea typeface="Source Sans Pro" panose="020B0503030403020204" pitchFamily="34" charset="0"/>
              </a:rPr>
              <a:t>espondiloartritis</a:t>
            </a:r>
            <a:r>
              <a:rPr lang="es-ES" sz="2000" b="1" i="1" dirty="0">
                <a:latin typeface="Source Sans Pro" panose="020B0503030403020204" pitchFamily="34" charset="0"/>
                <a:ea typeface="Source Sans Pro" panose="020B0503030403020204" pitchFamily="34" charset="0"/>
              </a:rPr>
              <a:t> axial y periférica no </a:t>
            </a:r>
            <a:r>
              <a:rPr lang="es-ES" sz="2000" b="1" i="1" dirty="0" err="1">
                <a:latin typeface="Source Sans Pro" panose="020B0503030403020204" pitchFamily="34" charset="0"/>
                <a:ea typeface="Source Sans Pro" panose="020B0503030403020204" pitchFamily="34" charset="0"/>
              </a:rPr>
              <a:t>radiografica</a:t>
            </a:r>
            <a:endParaRPr lang="es-ES" sz="2000" b="1" i="1" dirty="0">
              <a:latin typeface="Source Sans Pro" panose="020B0503030403020204" pitchFamily="34" charset="0"/>
              <a:ea typeface="Source Sans Pro" panose="020B0503030403020204" pitchFamily="34" charset="0"/>
            </a:endParaRPr>
          </a:p>
        </p:txBody>
      </p:sp>
      <p:sp>
        <p:nvSpPr>
          <p:cNvPr id="19" name="Rectángulo: esquinas redondeadas 18">
            <a:extLst>
              <a:ext uri="{FF2B5EF4-FFF2-40B4-BE49-F238E27FC236}">
                <a16:creationId xmlns:a16="http://schemas.microsoft.com/office/drawing/2014/main" id="{D7DFC11E-5A79-9644-6841-579079E55CA9}"/>
              </a:ext>
            </a:extLst>
          </p:cNvPr>
          <p:cNvSpPr/>
          <p:nvPr/>
        </p:nvSpPr>
        <p:spPr>
          <a:xfrm>
            <a:off x="6426140" y="3636368"/>
            <a:ext cx="11413375" cy="2125503"/>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r>
              <a:rPr lang="es-ES" sz="2300" dirty="0">
                <a:latin typeface="Source Sans Pro" panose="020B0503030403020204" pitchFamily="34" charset="0"/>
                <a:ea typeface="Source Sans Pro" panose="020B0503030403020204" pitchFamily="34" charset="0"/>
              </a:rPr>
              <a:t>Valores de </a:t>
            </a:r>
            <a:r>
              <a:rPr lang="es-ES" sz="2300" dirty="0" err="1">
                <a:latin typeface="Source Sans Pro" panose="020B0503030403020204" pitchFamily="34" charset="0"/>
                <a:ea typeface="Source Sans Pro" panose="020B0503030403020204" pitchFamily="34" charset="0"/>
              </a:rPr>
              <a:t>SIgA</a:t>
            </a:r>
            <a:r>
              <a:rPr lang="es-ES" sz="2300" dirty="0">
                <a:latin typeface="Source Sans Pro" panose="020B0503030403020204" pitchFamily="34" charset="0"/>
                <a:ea typeface="Source Sans Pro" panose="020B0503030403020204" pitchFamily="34" charset="0"/>
              </a:rPr>
              <a:t> reportados en suero (sangre): Li L, </a:t>
            </a:r>
            <a:r>
              <a:rPr lang="es-ES" sz="2300" i="1" dirty="0">
                <a:latin typeface="Source Sans Pro" panose="020B0503030403020204" pitchFamily="34" charset="0"/>
                <a:ea typeface="Source Sans Pro" panose="020B0503030403020204" pitchFamily="34" charset="0"/>
              </a:rPr>
              <a:t>et al. </a:t>
            </a:r>
            <a:r>
              <a:rPr lang="es-ES" sz="2300" dirty="0">
                <a:latin typeface="Source Sans Pro" panose="020B0503030403020204" pitchFamily="34" charset="0"/>
                <a:ea typeface="Source Sans Pro" panose="020B0503030403020204" pitchFamily="34" charset="0"/>
              </a:rPr>
              <a:t>2025</a:t>
            </a:r>
          </a:p>
          <a:p>
            <a:r>
              <a:rPr lang="es-ES" sz="2500" dirty="0">
                <a:latin typeface="Source Sans Pro" panose="020B0503030403020204" pitchFamily="34" charset="0"/>
                <a:ea typeface="Source Sans Pro" panose="020B0503030403020204" pitchFamily="34" charset="0"/>
              </a:rPr>
              <a:t>Pacientes con </a:t>
            </a:r>
            <a:r>
              <a:rPr lang="es-ES" sz="2500" dirty="0" err="1">
                <a:latin typeface="Source Sans Pro" panose="020B0503030403020204" pitchFamily="34" charset="0"/>
                <a:ea typeface="Source Sans Pro" panose="020B0503030403020204" pitchFamily="34" charset="0"/>
              </a:rPr>
              <a:t>axSpA</a:t>
            </a:r>
            <a:r>
              <a:rPr lang="es-ES" sz="2500" dirty="0">
                <a:latin typeface="Source Sans Pro" panose="020B0503030403020204" pitchFamily="34" charset="0"/>
                <a:ea typeface="Source Sans Pro" panose="020B0503030403020204" pitchFamily="34" charset="0"/>
              </a:rPr>
              <a:t>: niveles séricos de </a:t>
            </a:r>
            <a:r>
              <a:rPr lang="es-ES" sz="2500" dirty="0" err="1">
                <a:latin typeface="Source Sans Pro" panose="020B0503030403020204" pitchFamily="34" charset="0"/>
                <a:ea typeface="Source Sans Pro" panose="020B0503030403020204" pitchFamily="34" charset="0"/>
              </a:rPr>
              <a:t>SIgA</a:t>
            </a:r>
            <a:r>
              <a:rPr lang="es-ES" sz="2500" dirty="0">
                <a:latin typeface="Source Sans Pro" panose="020B0503030403020204" pitchFamily="34" charset="0"/>
                <a:ea typeface="Source Sans Pro" panose="020B0503030403020204" pitchFamily="34" charset="0"/>
              </a:rPr>
              <a:t> significativamente más altos que los controles sanos (mediana 16.5 µg/ml vs. 9.4 µg/ml; p &lt; 0.0001).</a:t>
            </a:r>
          </a:p>
        </p:txBody>
      </p:sp>
      <p:sp>
        <p:nvSpPr>
          <p:cNvPr id="21" name="CuadroTexto 20">
            <a:extLst>
              <a:ext uri="{FF2B5EF4-FFF2-40B4-BE49-F238E27FC236}">
                <a16:creationId xmlns:a16="http://schemas.microsoft.com/office/drawing/2014/main" id="{EC3C369B-8DFB-5EDD-09F6-D4B78DBF7730}"/>
              </a:ext>
            </a:extLst>
          </p:cNvPr>
          <p:cNvSpPr txBox="1"/>
          <p:nvPr/>
        </p:nvSpPr>
        <p:spPr>
          <a:xfrm>
            <a:off x="547941" y="4252254"/>
            <a:ext cx="4592275" cy="1015663"/>
          </a:xfrm>
          <a:prstGeom prst="rect">
            <a:avLst/>
          </a:prstGeom>
          <a:noFill/>
        </p:spPr>
        <p:txBody>
          <a:bodyPr wrap="square">
            <a:spAutoFit/>
          </a:bodyPr>
          <a:lstStyle/>
          <a:p>
            <a:pPr algn="ctr"/>
            <a:r>
              <a:rPr lang="es-ES" sz="2000" b="1" dirty="0" err="1">
                <a:latin typeface="Source Sans Pro" panose="020B0503030403020204" pitchFamily="34" charset="0"/>
                <a:ea typeface="Source Sans Pro" panose="020B0503030403020204" pitchFamily="34" charset="0"/>
              </a:rPr>
              <a:t>SIgA</a:t>
            </a:r>
            <a:r>
              <a:rPr lang="es-ES" sz="2000" b="1" dirty="0">
                <a:latin typeface="Source Sans Pro" panose="020B0503030403020204" pitchFamily="34" charset="0"/>
                <a:ea typeface="Source Sans Pro" panose="020B0503030403020204" pitchFamily="34" charset="0"/>
              </a:rPr>
              <a:t> </a:t>
            </a:r>
            <a:r>
              <a:rPr lang="es-ES" sz="2000" b="1" dirty="0" err="1">
                <a:latin typeface="Source Sans Pro" panose="020B0503030403020204" pitchFamily="34" charset="0"/>
                <a:ea typeface="Source Sans Pro" panose="020B0503030403020204" pitchFamily="34" charset="0"/>
              </a:rPr>
              <a:t>serica</a:t>
            </a:r>
            <a:r>
              <a:rPr lang="es-ES" sz="2000" b="1" dirty="0">
                <a:latin typeface="Source Sans Pro" panose="020B0503030403020204" pitchFamily="34" charset="0"/>
                <a:ea typeface="Source Sans Pro" panose="020B0503030403020204" pitchFamily="34" charset="0"/>
              </a:rPr>
              <a:t> como biomarcador de inflamación intestinal subclínica en la </a:t>
            </a:r>
            <a:r>
              <a:rPr lang="es-ES" sz="2000" b="1" dirty="0" err="1">
                <a:latin typeface="Source Sans Pro" panose="020B0503030403020204" pitchFamily="34" charset="0"/>
                <a:ea typeface="Source Sans Pro" panose="020B0503030403020204" pitchFamily="34" charset="0"/>
              </a:rPr>
              <a:t>espondiloartritis</a:t>
            </a:r>
            <a:r>
              <a:rPr lang="es-ES" sz="2000" b="1" dirty="0">
                <a:latin typeface="Source Sans Pro" panose="020B0503030403020204" pitchFamily="34" charset="0"/>
                <a:ea typeface="Source Sans Pro" panose="020B0503030403020204" pitchFamily="34" charset="0"/>
              </a:rPr>
              <a:t> axial</a:t>
            </a:r>
          </a:p>
        </p:txBody>
      </p:sp>
      <p:sp>
        <p:nvSpPr>
          <p:cNvPr id="22" name="Rectángulo: esquinas redondeadas 21">
            <a:extLst>
              <a:ext uri="{FF2B5EF4-FFF2-40B4-BE49-F238E27FC236}">
                <a16:creationId xmlns:a16="http://schemas.microsoft.com/office/drawing/2014/main" id="{B22D5EE0-4843-153C-DD73-210EB6A6B972}"/>
              </a:ext>
            </a:extLst>
          </p:cNvPr>
          <p:cNvSpPr/>
          <p:nvPr/>
        </p:nvSpPr>
        <p:spPr>
          <a:xfrm>
            <a:off x="6426140" y="5881777"/>
            <a:ext cx="11413375" cy="2125503"/>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r>
              <a:rPr lang="es-ES" sz="2300" dirty="0">
                <a:latin typeface="Source Sans Pro" panose="020B0503030403020204" pitchFamily="34" charset="0"/>
                <a:ea typeface="Source Sans Pro" panose="020B0503030403020204" pitchFamily="34" charset="0"/>
              </a:rPr>
              <a:t>Valores de </a:t>
            </a:r>
            <a:r>
              <a:rPr lang="es-ES" sz="2300" dirty="0" err="1">
                <a:latin typeface="Source Sans Pro" panose="020B0503030403020204" pitchFamily="34" charset="0"/>
                <a:ea typeface="Source Sans Pro" panose="020B0503030403020204" pitchFamily="34" charset="0"/>
              </a:rPr>
              <a:t>SIgA</a:t>
            </a:r>
            <a:r>
              <a:rPr lang="es-ES" sz="2300" dirty="0">
                <a:latin typeface="Source Sans Pro" panose="020B0503030403020204" pitchFamily="34" charset="0"/>
                <a:ea typeface="Source Sans Pro" panose="020B0503030403020204" pitchFamily="34" charset="0"/>
              </a:rPr>
              <a:t> reportados en  suero (sangre): </a:t>
            </a:r>
            <a:r>
              <a:rPr lang="es-ES" sz="2300" dirty="0" err="1">
                <a:latin typeface="Source Sans Pro" panose="020B0503030403020204" pitchFamily="34" charset="0"/>
                <a:ea typeface="Source Sans Pro" panose="020B0503030403020204" pitchFamily="34" charset="0"/>
              </a:rPr>
              <a:t>Cypers</a:t>
            </a:r>
            <a:r>
              <a:rPr lang="es-ES" sz="2300" dirty="0">
                <a:latin typeface="Source Sans Pro" panose="020B0503030403020204" pitchFamily="34" charset="0"/>
                <a:ea typeface="Source Sans Pro" panose="020B0503030403020204" pitchFamily="34" charset="0"/>
              </a:rPr>
              <a:t> H</a:t>
            </a:r>
            <a:r>
              <a:rPr lang="es-ES" sz="2300" i="1" dirty="0">
                <a:latin typeface="Source Sans Pro" panose="020B0503030403020204" pitchFamily="34" charset="0"/>
                <a:ea typeface="Source Sans Pro" panose="020B0503030403020204" pitchFamily="34" charset="0"/>
              </a:rPr>
              <a:t>, et al </a:t>
            </a:r>
            <a:r>
              <a:rPr lang="es-ES" sz="2300" dirty="0">
                <a:latin typeface="Source Sans Pro" panose="020B0503030403020204" pitchFamily="34" charset="0"/>
                <a:ea typeface="Source Sans Pro" panose="020B0503030403020204" pitchFamily="34" charset="0"/>
              </a:rPr>
              <a:t>2017</a:t>
            </a:r>
          </a:p>
          <a:p>
            <a:pPr lvl="1"/>
            <a:r>
              <a:rPr lang="es-ES" sz="2500" dirty="0">
                <a:latin typeface="Source Sans Pro" panose="020B0503030403020204" pitchFamily="34" charset="0"/>
                <a:ea typeface="Source Sans Pro" panose="020B0503030403020204" pitchFamily="34" charset="0"/>
              </a:rPr>
              <a:t>Pacientes con </a:t>
            </a:r>
            <a:r>
              <a:rPr lang="es-ES" sz="2500" dirty="0" err="1">
                <a:latin typeface="Source Sans Pro" panose="020B0503030403020204" pitchFamily="34" charset="0"/>
                <a:ea typeface="Source Sans Pro" panose="020B0503030403020204" pitchFamily="34" charset="0"/>
              </a:rPr>
              <a:t>axSpA</a:t>
            </a:r>
            <a:r>
              <a:rPr lang="es-ES" sz="2500" dirty="0">
                <a:latin typeface="Source Sans Pro" panose="020B0503030403020204" pitchFamily="34" charset="0"/>
                <a:ea typeface="Source Sans Pro" panose="020B0503030403020204" pitchFamily="34" charset="0"/>
              </a:rPr>
              <a:t> presentaron niveles séricos de </a:t>
            </a:r>
            <a:r>
              <a:rPr lang="es-ES" sz="2500" dirty="0" err="1">
                <a:latin typeface="Source Sans Pro" panose="020B0503030403020204" pitchFamily="34" charset="0"/>
                <a:ea typeface="Source Sans Pro" panose="020B0503030403020204" pitchFamily="34" charset="0"/>
              </a:rPr>
              <a:t>SIgA</a:t>
            </a:r>
            <a:r>
              <a:rPr lang="es-ES" sz="2500" dirty="0">
                <a:latin typeface="Source Sans Pro" panose="020B0503030403020204" pitchFamily="34" charset="0"/>
                <a:ea typeface="Source Sans Pro" panose="020B0503030403020204" pitchFamily="34" charset="0"/>
              </a:rPr>
              <a:t> significativamente más altos que los controles (mediana 17.8 µg/ml vs. 9.4 µg/ml; </a:t>
            </a:r>
            <a:r>
              <a:rPr lang="es-ES" sz="2500" i="1" dirty="0">
                <a:latin typeface="Source Sans Pro" panose="020B0503030403020204" pitchFamily="34" charset="0"/>
                <a:ea typeface="Source Sans Pro" panose="020B0503030403020204" pitchFamily="34" charset="0"/>
              </a:rPr>
              <a:t>p</a:t>
            </a:r>
            <a:r>
              <a:rPr lang="es-ES" sz="2500" dirty="0">
                <a:latin typeface="Source Sans Pro" panose="020B0503030403020204" pitchFamily="34" charset="0"/>
                <a:ea typeface="Source Sans Pro" panose="020B0503030403020204" pitchFamily="34" charset="0"/>
              </a:rPr>
              <a:t> &lt; 0.0001).</a:t>
            </a:r>
          </a:p>
        </p:txBody>
      </p:sp>
      <p:sp>
        <p:nvSpPr>
          <p:cNvPr id="26" name="CuadroTexto 25">
            <a:extLst>
              <a:ext uri="{FF2B5EF4-FFF2-40B4-BE49-F238E27FC236}">
                <a16:creationId xmlns:a16="http://schemas.microsoft.com/office/drawing/2014/main" id="{F563953A-7384-8A13-4992-DC76F5140A29}"/>
              </a:ext>
            </a:extLst>
          </p:cNvPr>
          <p:cNvSpPr txBox="1"/>
          <p:nvPr/>
        </p:nvSpPr>
        <p:spPr>
          <a:xfrm>
            <a:off x="698346" y="6329897"/>
            <a:ext cx="4100050" cy="1323439"/>
          </a:xfrm>
          <a:prstGeom prst="rect">
            <a:avLst/>
          </a:prstGeom>
          <a:solidFill>
            <a:srgbClr val="FCBEA1"/>
          </a:solidFill>
        </p:spPr>
        <p:txBody>
          <a:bodyPr wrap="square">
            <a:spAutoFit/>
          </a:bodyPr>
          <a:lstStyle/>
          <a:p>
            <a:pPr algn="ctr"/>
            <a:r>
              <a:rPr lang="es-ES" sz="2000" b="1" i="1" dirty="0">
                <a:latin typeface="Source Sans Pro" panose="020B0503030403020204" pitchFamily="34" charset="0"/>
                <a:ea typeface="Source Sans Pro" panose="020B0503030403020204" pitchFamily="34" charset="0"/>
              </a:rPr>
              <a:t>Niveles séricos elevados de </a:t>
            </a:r>
            <a:r>
              <a:rPr lang="es-ES" sz="2000" b="1" i="1" dirty="0" err="1">
                <a:latin typeface="Source Sans Pro" panose="020B0503030403020204" pitchFamily="34" charset="0"/>
                <a:ea typeface="Source Sans Pro" panose="020B0503030403020204" pitchFamily="34" charset="0"/>
              </a:rPr>
              <a:t>SIgA</a:t>
            </a:r>
            <a:r>
              <a:rPr lang="es-ES" sz="2000" b="1" i="1" dirty="0">
                <a:latin typeface="Source Sans Pro" panose="020B0503030403020204" pitchFamily="34" charset="0"/>
                <a:ea typeface="Source Sans Pro" panose="020B0503030403020204" pitchFamily="34" charset="0"/>
              </a:rPr>
              <a:t> en la </a:t>
            </a:r>
            <a:r>
              <a:rPr lang="es-ES" sz="2000" b="1" i="1" dirty="0" err="1">
                <a:latin typeface="Source Sans Pro" panose="020B0503030403020204" pitchFamily="34" charset="0"/>
                <a:ea typeface="Source Sans Pro" panose="020B0503030403020204" pitchFamily="34" charset="0"/>
              </a:rPr>
              <a:t>espondiloartritis</a:t>
            </a:r>
            <a:r>
              <a:rPr lang="es-ES" sz="2000" b="1" i="1" dirty="0">
                <a:latin typeface="Source Sans Pro" panose="020B0503030403020204" pitchFamily="34" charset="0"/>
                <a:ea typeface="Source Sans Pro" panose="020B0503030403020204" pitchFamily="34" charset="0"/>
              </a:rPr>
              <a:t> axial: un posible biomarcador que refleja la inflamación intestinal </a:t>
            </a:r>
            <a:r>
              <a:rPr lang="es-ES" sz="2000" b="1" i="1" dirty="0" err="1">
                <a:latin typeface="Source Sans Pro" panose="020B0503030403020204" pitchFamily="34" charset="0"/>
                <a:ea typeface="Source Sans Pro" panose="020B0503030403020204" pitchFamily="34" charset="0"/>
              </a:rPr>
              <a:t>subclinica</a:t>
            </a:r>
            <a:endParaRPr lang="es-ES" sz="2000" b="1" i="1" dirty="0">
              <a:latin typeface="Source Sans Pro" panose="020B0503030403020204" pitchFamily="34" charset="0"/>
              <a:ea typeface="Source Sans Pro" panose="020B0503030403020204" pitchFamily="34" charset="0"/>
            </a:endParaRPr>
          </a:p>
        </p:txBody>
      </p:sp>
      <p:sp>
        <p:nvSpPr>
          <p:cNvPr id="28" name="CuadroTexto 27">
            <a:extLst>
              <a:ext uri="{FF2B5EF4-FFF2-40B4-BE49-F238E27FC236}">
                <a16:creationId xmlns:a16="http://schemas.microsoft.com/office/drawing/2014/main" id="{62D3065F-3218-DF51-61BD-EF2C959B8D8E}"/>
              </a:ext>
            </a:extLst>
          </p:cNvPr>
          <p:cNvSpPr txBox="1"/>
          <p:nvPr/>
        </p:nvSpPr>
        <p:spPr>
          <a:xfrm>
            <a:off x="547941" y="9496600"/>
            <a:ext cx="17421404" cy="553998"/>
          </a:xfrm>
          <a:prstGeom prst="rect">
            <a:avLst/>
          </a:prstGeom>
          <a:noFill/>
        </p:spPr>
        <p:txBody>
          <a:bodyPr wrap="square">
            <a:spAutoFit/>
          </a:bodyPr>
          <a:lstStyle/>
          <a:p>
            <a:r>
              <a:rPr lang="es-ES" sz="1000" dirty="0"/>
              <a:t>Arias I, Herrera D, Bautista-Molano W, Bello-Gualtero JM, De </a:t>
            </a:r>
            <a:r>
              <a:rPr lang="es-ES" sz="1000" dirty="0" err="1"/>
              <a:t>Avila</a:t>
            </a:r>
            <a:r>
              <a:rPr lang="es-ES" sz="1000" dirty="0"/>
              <a:t> J, Salas-Cuestas F, et al. El aumento de los niveles séricos de </a:t>
            </a:r>
            <a:r>
              <a:rPr lang="es-ES" sz="1000" dirty="0" err="1"/>
              <a:t>SIgA</a:t>
            </a:r>
            <a:r>
              <a:rPr lang="es-ES" sz="1000" dirty="0"/>
              <a:t> puede reflejar la afectación intestinal subclínica en la </a:t>
            </a:r>
            <a:r>
              <a:rPr lang="es-ES" sz="1000" dirty="0" err="1"/>
              <a:t>espondiloartritis</a:t>
            </a:r>
            <a:r>
              <a:rPr lang="es-ES" sz="1000" dirty="0"/>
              <a:t> axial y periférica no radiográfica. Reumatología clínica. 2 de septiembre de 2020; 40(4):1343–51.</a:t>
            </a:r>
          </a:p>
          <a:p>
            <a:r>
              <a:rPr lang="en-US" sz="1000" dirty="0"/>
              <a:t>Li Y, Jin L, Chen T. The effects of secretory </a:t>
            </a:r>
            <a:r>
              <a:rPr lang="en-US" sz="1000" dirty="0" err="1"/>
              <a:t>iga</a:t>
            </a:r>
            <a:r>
              <a:rPr lang="en-US" sz="1000" dirty="0"/>
              <a:t> in the mucosal immune system. BioMed Research International. 2020 Jan 8;2020(1):1–6.</a:t>
            </a:r>
          </a:p>
          <a:p>
            <a:r>
              <a:rPr lang="es-ES" sz="1000" dirty="0"/>
              <a:t> Salas-Cuestas F, Bautista-Molano W, Bello-Gualtero JM, Arias I, Castillo DM, Chila-Moreno L, et al. </a:t>
            </a:r>
            <a:r>
              <a:rPr lang="es-ES" sz="1000" dirty="0" err="1"/>
              <a:t>Higher</a:t>
            </a:r>
            <a:r>
              <a:rPr lang="es-ES" sz="1000" dirty="0"/>
              <a:t> </a:t>
            </a:r>
            <a:r>
              <a:rPr lang="es-ES" sz="1000" dirty="0" err="1"/>
              <a:t>Levels</a:t>
            </a:r>
            <a:r>
              <a:rPr lang="es-ES" sz="1000" dirty="0"/>
              <a:t> </a:t>
            </a:r>
            <a:r>
              <a:rPr lang="es-ES" sz="1000" dirty="0" err="1"/>
              <a:t>of</a:t>
            </a:r>
            <a:r>
              <a:rPr lang="es-ES" sz="1000" dirty="0"/>
              <a:t> </a:t>
            </a:r>
            <a:r>
              <a:rPr lang="es-ES" sz="1000" dirty="0" err="1"/>
              <a:t>Secretory</a:t>
            </a:r>
            <a:r>
              <a:rPr lang="es-ES" sz="1000" dirty="0"/>
              <a:t> IgA Are </a:t>
            </a:r>
            <a:r>
              <a:rPr lang="es-ES" sz="1000" dirty="0" err="1"/>
              <a:t>Associated</a:t>
            </a:r>
            <a:r>
              <a:rPr lang="es-ES" sz="1000" dirty="0"/>
              <a:t> </a:t>
            </a:r>
            <a:r>
              <a:rPr lang="es-ES" sz="1000" dirty="0" err="1"/>
              <a:t>with</a:t>
            </a:r>
            <a:r>
              <a:rPr lang="es-ES" sz="1000" dirty="0"/>
              <a:t> Low </a:t>
            </a:r>
            <a:r>
              <a:rPr lang="es-ES" sz="1000" dirty="0" err="1"/>
              <a:t>Disease</a:t>
            </a:r>
            <a:r>
              <a:rPr lang="es-ES" sz="1000" dirty="0"/>
              <a:t> </a:t>
            </a:r>
            <a:r>
              <a:rPr lang="es-ES" sz="1000" dirty="0" err="1"/>
              <a:t>Activity</a:t>
            </a:r>
            <a:r>
              <a:rPr lang="es-ES" sz="1000" dirty="0"/>
              <a:t> </a:t>
            </a:r>
            <a:r>
              <a:rPr lang="es-ES" sz="1000" dirty="0" err="1"/>
              <a:t>Index</a:t>
            </a:r>
            <a:r>
              <a:rPr lang="es-ES" sz="1000" dirty="0"/>
              <a:t> in </a:t>
            </a:r>
            <a:r>
              <a:rPr lang="es-ES" sz="1000" dirty="0" err="1"/>
              <a:t>Patients</a:t>
            </a:r>
            <a:r>
              <a:rPr lang="es-ES" sz="1000" dirty="0"/>
              <a:t> </a:t>
            </a:r>
            <a:r>
              <a:rPr lang="es-ES" sz="1000" dirty="0" err="1"/>
              <a:t>with</a:t>
            </a:r>
            <a:r>
              <a:rPr lang="es-ES" sz="1000" dirty="0"/>
              <a:t> Reactive </a:t>
            </a:r>
            <a:r>
              <a:rPr lang="es-ES" sz="1000" dirty="0" err="1"/>
              <a:t>Arthritis</a:t>
            </a:r>
            <a:r>
              <a:rPr lang="es-ES" sz="1000" dirty="0"/>
              <a:t> and </a:t>
            </a:r>
            <a:r>
              <a:rPr lang="es-ES" sz="1000" dirty="0" err="1"/>
              <a:t>Undifferentiated</a:t>
            </a:r>
            <a:r>
              <a:rPr lang="es-ES" sz="1000" dirty="0"/>
              <a:t> </a:t>
            </a:r>
            <a:r>
              <a:rPr lang="es-ES" sz="1000" dirty="0" err="1"/>
              <a:t>Spondyloarthritis</a:t>
            </a:r>
            <a:r>
              <a:rPr lang="es-ES" sz="1000" dirty="0"/>
              <a:t>. </a:t>
            </a:r>
            <a:r>
              <a:rPr lang="es-ES" sz="1000" dirty="0" err="1"/>
              <a:t>Frontiers</a:t>
            </a:r>
            <a:r>
              <a:rPr lang="es-ES" sz="1000" dirty="0"/>
              <a:t> in </a:t>
            </a:r>
            <a:r>
              <a:rPr lang="es-ES" sz="1000" dirty="0" err="1"/>
              <a:t>Immunology</a:t>
            </a:r>
            <a:r>
              <a:rPr lang="es-ES" sz="1000" dirty="0"/>
              <a:t>. 2017 </a:t>
            </a:r>
            <a:r>
              <a:rPr lang="es-ES" sz="1000" dirty="0" err="1"/>
              <a:t>Apr</a:t>
            </a:r>
            <a:r>
              <a:rPr lang="es-ES" sz="1000" dirty="0"/>
              <a:t> 27;8.</a:t>
            </a:r>
          </a:p>
        </p:txBody>
      </p:sp>
      <p:sp>
        <p:nvSpPr>
          <p:cNvPr id="2" name="CuadroTexto 1">
            <a:extLst>
              <a:ext uri="{FF2B5EF4-FFF2-40B4-BE49-F238E27FC236}">
                <a16:creationId xmlns:a16="http://schemas.microsoft.com/office/drawing/2014/main" id="{B840DC08-6971-8F0C-88DA-D2BDFB205A4A}"/>
              </a:ext>
            </a:extLst>
          </p:cNvPr>
          <p:cNvSpPr txBox="1"/>
          <p:nvPr/>
        </p:nvSpPr>
        <p:spPr>
          <a:xfrm>
            <a:off x="5206658" y="490318"/>
            <a:ext cx="7874683" cy="593111"/>
          </a:xfrm>
          <a:prstGeom prst="rect">
            <a:avLst/>
          </a:prstGeom>
          <a:noFill/>
        </p:spPr>
        <p:txBody>
          <a:bodyPr wrap="square">
            <a:spAutoFit/>
          </a:bodyPr>
          <a:lstStyle/>
          <a:p>
            <a:pPr marL="0" marR="0" lvl="0" indent="0" algn="ctr" rtl="0">
              <a:lnSpc>
                <a:spcPct val="80357"/>
              </a:lnSpc>
              <a:spcBef>
                <a:spcPts val="0"/>
              </a:spcBef>
              <a:spcAft>
                <a:spcPts val="0"/>
              </a:spcAft>
              <a:buClr>
                <a:srgbClr val="1B1B1B"/>
              </a:buClr>
              <a:buSzPts val="2800"/>
              <a:buFont typeface="Calibri"/>
              <a:buNone/>
            </a:pPr>
            <a:r>
              <a:rPr lang="es-ES" sz="4000" b="1" dirty="0">
                <a:solidFill>
                  <a:schemeClr val="tx1">
                    <a:lumMod val="75000"/>
                    <a:lumOff val="25000"/>
                  </a:schemeClr>
                </a:solidFill>
                <a:latin typeface="Calibri"/>
                <a:ea typeface="Calibri"/>
                <a:cs typeface="Calibri"/>
                <a:sym typeface="Calibri"/>
              </a:rPr>
              <a:t>Niveles de </a:t>
            </a:r>
            <a:r>
              <a:rPr lang="es-ES" sz="4000" b="1" i="1" dirty="0" err="1">
                <a:solidFill>
                  <a:schemeClr val="tx1">
                    <a:lumMod val="75000"/>
                    <a:lumOff val="25000"/>
                  </a:schemeClr>
                </a:solidFill>
                <a:latin typeface="Calibri"/>
                <a:ea typeface="Calibri"/>
                <a:cs typeface="Calibri"/>
                <a:sym typeface="Calibri"/>
              </a:rPr>
              <a:t>SIgA</a:t>
            </a:r>
            <a:r>
              <a:rPr lang="es-ES" sz="4000" b="1" i="1" dirty="0">
                <a:solidFill>
                  <a:schemeClr val="tx1">
                    <a:lumMod val="75000"/>
                    <a:lumOff val="25000"/>
                  </a:schemeClr>
                </a:solidFill>
                <a:latin typeface="Calibri"/>
                <a:ea typeface="Calibri"/>
                <a:cs typeface="Calibri"/>
                <a:sym typeface="Calibri"/>
              </a:rPr>
              <a:t> </a:t>
            </a:r>
            <a:r>
              <a:rPr lang="es-ES" sz="4000" b="1" dirty="0">
                <a:solidFill>
                  <a:schemeClr val="tx1">
                    <a:lumMod val="75000"/>
                    <a:lumOff val="25000"/>
                  </a:schemeClr>
                </a:solidFill>
                <a:latin typeface="Calibri"/>
                <a:ea typeface="Calibri"/>
                <a:cs typeface="Calibri"/>
                <a:sym typeface="Calibri"/>
              </a:rPr>
              <a:t>reportados en suero</a:t>
            </a:r>
            <a:endParaRPr lang="es-ES" sz="4000" dirty="0">
              <a:solidFill>
                <a:schemeClr val="tx1">
                  <a:lumMod val="75000"/>
                  <a:lumOff val="25000"/>
                </a:schemeClr>
              </a:solidFill>
            </a:endParaRPr>
          </a:p>
        </p:txBody>
      </p:sp>
      <p:sp>
        <p:nvSpPr>
          <p:cNvPr id="3" name="Flecha: a la derecha 2">
            <a:extLst>
              <a:ext uri="{FF2B5EF4-FFF2-40B4-BE49-F238E27FC236}">
                <a16:creationId xmlns:a16="http://schemas.microsoft.com/office/drawing/2014/main" id="{DAFFC5C7-20E3-5A4E-AAA0-73130504FEEA}"/>
              </a:ext>
            </a:extLst>
          </p:cNvPr>
          <p:cNvSpPr/>
          <p:nvPr/>
        </p:nvSpPr>
        <p:spPr>
          <a:xfrm>
            <a:off x="5274398" y="4429331"/>
            <a:ext cx="973393" cy="545690"/>
          </a:xfrm>
          <a:prstGeom prst="rightArrow">
            <a:avLst/>
          </a:prstGeom>
          <a:solidFill>
            <a:srgbClr val="EF8970"/>
          </a:solidFill>
          <a:ln>
            <a:solidFill>
              <a:srgbClr val="EF897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s-ES" sz="2500">
              <a:latin typeface="Source Sans Pro" panose="020B0503030403020204" pitchFamily="34" charset="0"/>
              <a:ea typeface="Source Sans Pro" panose="020B0503030403020204" pitchFamily="34" charset="0"/>
            </a:endParaRPr>
          </a:p>
        </p:txBody>
      </p:sp>
      <p:sp>
        <p:nvSpPr>
          <p:cNvPr id="4" name="Flecha: a la derecha 3">
            <a:extLst>
              <a:ext uri="{FF2B5EF4-FFF2-40B4-BE49-F238E27FC236}">
                <a16:creationId xmlns:a16="http://schemas.microsoft.com/office/drawing/2014/main" id="{3A332CBA-BE2A-0E79-5017-9A5D5C651156}"/>
              </a:ext>
            </a:extLst>
          </p:cNvPr>
          <p:cNvSpPr/>
          <p:nvPr/>
        </p:nvSpPr>
        <p:spPr>
          <a:xfrm>
            <a:off x="5265174" y="6671683"/>
            <a:ext cx="973393" cy="545690"/>
          </a:xfrm>
          <a:prstGeom prst="rightArrow">
            <a:avLst/>
          </a:prstGeom>
          <a:solidFill>
            <a:srgbClr val="EF8970"/>
          </a:solidFill>
          <a:ln>
            <a:solidFill>
              <a:srgbClr val="EF897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s-ES" sz="2500">
              <a:latin typeface="Source Sans Pro" panose="020B0503030403020204" pitchFamily="34" charset="0"/>
              <a:ea typeface="Source Sans Pro" panose="020B0503030403020204" pitchFamily="34" charset="0"/>
            </a:endParaRPr>
          </a:p>
        </p:txBody>
      </p:sp>
      <p:sp>
        <p:nvSpPr>
          <p:cNvPr id="7" name="CuadroTexto 6">
            <a:extLst>
              <a:ext uri="{FF2B5EF4-FFF2-40B4-BE49-F238E27FC236}">
                <a16:creationId xmlns:a16="http://schemas.microsoft.com/office/drawing/2014/main" id="{E9B9A3FB-2F6B-15BC-B2D5-C8D662F8FE0F}"/>
              </a:ext>
            </a:extLst>
          </p:cNvPr>
          <p:cNvSpPr txBox="1"/>
          <p:nvPr/>
        </p:nvSpPr>
        <p:spPr>
          <a:xfrm>
            <a:off x="5439960" y="8448134"/>
            <a:ext cx="7117799" cy="954107"/>
          </a:xfrm>
          <a:prstGeom prst="rect">
            <a:avLst/>
          </a:prstGeom>
          <a:noFill/>
          <a:ln>
            <a:solidFill>
              <a:schemeClr val="tx1"/>
            </a:solidFill>
            <a:prstDash val="sysDash"/>
          </a:ln>
        </p:spPr>
        <p:txBody>
          <a:bodyPr wrap="square" rtlCol="0">
            <a:spAutoFit/>
          </a:bodyPr>
          <a:lstStyle/>
          <a:p>
            <a:pPr algn="ctr"/>
            <a:r>
              <a:rPr lang="es-ES" sz="2800" dirty="0" err="1">
                <a:latin typeface="Source Sans Pro" panose="020B0503030403020204" pitchFamily="34" charset="0"/>
                <a:ea typeface="Source Sans Pro" panose="020B0503030403020204" pitchFamily="34" charset="0"/>
              </a:rPr>
              <a:t>SIgA</a:t>
            </a:r>
            <a:r>
              <a:rPr lang="es-ES" sz="2800" dirty="0">
                <a:latin typeface="Source Sans Pro" panose="020B0503030403020204" pitchFamily="34" charset="0"/>
                <a:ea typeface="Source Sans Pro" panose="020B0503030403020204" pitchFamily="34" charset="0"/>
              </a:rPr>
              <a:t> es clave para reducir la respuesta mediada por la inflamación </a:t>
            </a:r>
          </a:p>
        </p:txBody>
      </p:sp>
      <p:pic>
        <p:nvPicPr>
          <p:cNvPr id="8" name="Google Shape;93;p1" descr="No hay ninguna descripción de la foto disponible.">
            <a:extLst>
              <a:ext uri="{FF2B5EF4-FFF2-40B4-BE49-F238E27FC236}">
                <a16:creationId xmlns:a16="http://schemas.microsoft.com/office/drawing/2014/main" id="{3CCB861C-4913-131F-0DDC-E154BCF27503}"/>
              </a:ext>
            </a:extLst>
          </p:cNvPr>
          <p:cNvPicPr preferRelativeResize="0"/>
          <p:nvPr/>
        </p:nvPicPr>
        <p:blipFill rotWithShape="1">
          <a:blip r:embed="rId3">
            <a:alphaModFix/>
          </a:blip>
          <a:srcRect l="26238" t="22935" r="26586" b="20031"/>
          <a:stretch>
            <a:fillRect/>
          </a:stretch>
        </p:blipFill>
        <p:spPr>
          <a:xfrm>
            <a:off x="2465914" y="304209"/>
            <a:ext cx="1432577" cy="744819"/>
          </a:xfrm>
          <a:prstGeom prst="rect">
            <a:avLst/>
          </a:prstGeom>
          <a:noFill/>
          <a:ln>
            <a:noFill/>
          </a:ln>
        </p:spPr>
      </p:pic>
      <p:pic>
        <p:nvPicPr>
          <p:cNvPr id="10" name="Google Shape;94;p1" descr="Universidad El Bosque in Colombia : Reviews &amp; Rankings | Student ...">
            <a:extLst>
              <a:ext uri="{FF2B5EF4-FFF2-40B4-BE49-F238E27FC236}">
                <a16:creationId xmlns:a16="http://schemas.microsoft.com/office/drawing/2014/main" id="{4A2DED3F-26F4-1BDD-C8A2-A1D5147EE20D}"/>
              </a:ext>
            </a:extLst>
          </p:cNvPr>
          <p:cNvPicPr preferRelativeResize="0"/>
          <p:nvPr/>
        </p:nvPicPr>
        <p:blipFill rotWithShape="1">
          <a:blip r:embed="rId4">
            <a:alphaModFix/>
          </a:blip>
          <a:srcRect l="14020" t="34765" r="17993" b="25071"/>
          <a:stretch>
            <a:fillRect/>
          </a:stretch>
        </p:blipFill>
        <p:spPr>
          <a:xfrm>
            <a:off x="366094" y="407282"/>
            <a:ext cx="1978341" cy="64174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6" name="Rectángulo 5">
            <a:extLst>
              <a:ext uri="{FF2B5EF4-FFF2-40B4-BE49-F238E27FC236}">
                <a16:creationId xmlns:a16="http://schemas.microsoft.com/office/drawing/2014/main" id="{2C2205A9-CE70-DF2A-7ABC-3B9EA92E6AF2}"/>
              </a:ext>
            </a:extLst>
          </p:cNvPr>
          <p:cNvSpPr/>
          <p:nvPr/>
        </p:nvSpPr>
        <p:spPr>
          <a:xfrm>
            <a:off x="0" y="0"/>
            <a:ext cx="6946490" cy="1028700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7" name="Google Shape;167;p15"/>
          <p:cNvSpPr txBox="1"/>
          <p:nvPr/>
        </p:nvSpPr>
        <p:spPr>
          <a:xfrm>
            <a:off x="7113718" y="9793841"/>
            <a:ext cx="11091579" cy="236988"/>
          </a:xfrm>
          <a:prstGeom prst="rect">
            <a:avLst/>
          </a:prstGeom>
          <a:noFill/>
          <a:ln>
            <a:noFill/>
          </a:ln>
        </p:spPr>
        <p:txBody>
          <a:bodyPr spcFirstLastPara="1" wrap="square" lIns="0" tIns="0" rIns="0" bIns="0" anchor="t" anchorCtr="0">
            <a:spAutoFit/>
          </a:bodyPr>
          <a:lstStyle/>
          <a:p>
            <a:pPr lvl="0">
              <a:lnSpc>
                <a:spcPct val="140040"/>
              </a:lnSpc>
            </a:pPr>
            <a:r>
              <a:rPr lang="en-US" sz="1100" dirty="0"/>
              <a:t>Yan L, Gu C, Gao S, Wei B. Epigenetic regulation and therapeutic strategies in ulcerative colitis. Frontiers in Genetics. 2023 Dec 15;14.</a:t>
            </a:r>
            <a:endParaRPr sz="1100" dirty="0"/>
          </a:p>
        </p:txBody>
      </p:sp>
      <p:sp>
        <p:nvSpPr>
          <p:cNvPr id="2" name="CuadroTexto 1">
            <a:extLst>
              <a:ext uri="{FF2B5EF4-FFF2-40B4-BE49-F238E27FC236}">
                <a16:creationId xmlns:a16="http://schemas.microsoft.com/office/drawing/2014/main" id="{DA9612A6-46FE-0457-2D7E-9D84ED014A43}"/>
              </a:ext>
            </a:extLst>
          </p:cNvPr>
          <p:cNvSpPr txBox="1"/>
          <p:nvPr/>
        </p:nvSpPr>
        <p:spPr>
          <a:xfrm>
            <a:off x="8722169" y="1125970"/>
            <a:ext cx="7874683" cy="492955"/>
          </a:xfrm>
          <a:prstGeom prst="rect">
            <a:avLst/>
          </a:prstGeom>
          <a:noFill/>
        </p:spPr>
        <p:txBody>
          <a:bodyPr wrap="square">
            <a:spAutoFit/>
          </a:bodyPr>
          <a:lstStyle/>
          <a:p>
            <a:pPr marL="0" marR="0" lvl="0" indent="0" algn="ctr" rtl="0">
              <a:lnSpc>
                <a:spcPct val="80357"/>
              </a:lnSpc>
              <a:spcBef>
                <a:spcPts val="0"/>
              </a:spcBef>
              <a:spcAft>
                <a:spcPts val="0"/>
              </a:spcAft>
              <a:buClr>
                <a:srgbClr val="1B1B1B"/>
              </a:buClr>
              <a:buSzPts val="2800"/>
              <a:buFont typeface="Calibri"/>
              <a:buNone/>
            </a:pPr>
            <a:r>
              <a:rPr lang="es-ES" sz="3200" b="1" dirty="0">
                <a:solidFill>
                  <a:schemeClr val="tx1">
                    <a:lumMod val="75000"/>
                    <a:lumOff val="25000"/>
                  </a:schemeClr>
                </a:solidFill>
                <a:latin typeface="Calibri"/>
                <a:ea typeface="Calibri"/>
                <a:cs typeface="Calibri"/>
                <a:sym typeface="Calibri"/>
              </a:rPr>
              <a:t>En la CU ocurre un desequilibrio epigenético</a:t>
            </a:r>
            <a:endParaRPr lang="es-ES" sz="3200" b="1" dirty="0">
              <a:solidFill>
                <a:schemeClr val="tx1">
                  <a:lumMod val="75000"/>
                  <a:lumOff val="25000"/>
                </a:schemeClr>
              </a:solidFill>
            </a:endParaRPr>
          </a:p>
        </p:txBody>
      </p:sp>
      <p:pic>
        <p:nvPicPr>
          <p:cNvPr id="4" name="Google Shape;183;p10">
            <a:extLst>
              <a:ext uri="{FF2B5EF4-FFF2-40B4-BE49-F238E27FC236}">
                <a16:creationId xmlns:a16="http://schemas.microsoft.com/office/drawing/2014/main" id="{F97354F0-057A-8D49-5E68-F6BDC94692B1}"/>
              </a:ext>
            </a:extLst>
          </p:cNvPr>
          <p:cNvPicPr preferRelativeResize="0"/>
          <p:nvPr/>
        </p:nvPicPr>
        <p:blipFill>
          <a:blip r:embed="rId3">
            <a:alphaModFix/>
          </a:blip>
          <a:stretch>
            <a:fillRect/>
          </a:stretch>
        </p:blipFill>
        <p:spPr>
          <a:xfrm>
            <a:off x="206477" y="221226"/>
            <a:ext cx="6740013" cy="4922273"/>
          </a:xfrm>
          <a:prstGeom prst="rect">
            <a:avLst/>
          </a:prstGeom>
          <a:noFill/>
          <a:ln>
            <a:noFill/>
          </a:ln>
        </p:spPr>
      </p:pic>
      <p:sp>
        <p:nvSpPr>
          <p:cNvPr id="5" name="Google Shape;159;g366511a41e0_0_11">
            <a:extLst>
              <a:ext uri="{FF2B5EF4-FFF2-40B4-BE49-F238E27FC236}">
                <a16:creationId xmlns:a16="http://schemas.microsoft.com/office/drawing/2014/main" id="{5168DB62-F603-72DC-0F1A-81F832BFCCFD}"/>
              </a:ext>
            </a:extLst>
          </p:cNvPr>
          <p:cNvSpPr txBox="1"/>
          <p:nvPr/>
        </p:nvSpPr>
        <p:spPr>
          <a:xfrm>
            <a:off x="-379501" y="1188078"/>
            <a:ext cx="3553967" cy="430847"/>
          </a:xfrm>
          <a:prstGeom prst="rect">
            <a:avLst/>
          </a:prstGeom>
          <a:solidFill>
            <a:schemeClr val="accent5">
              <a:lumMod val="20000"/>
              <a:lumOff val="80000"/>
            </a:schemeClr>
          </a:solidFill>
          <a:ln w="25400" cap="flat" cmpd="sng">
            <a:noFill/>
            <a:prstDash val="solid"/>
            <a:round/>
            <a:headEnd type="none" w="sm" len="sm"/>
            <a:tailEnd type="none" w="sm" len="sm"/>
          </a:ln>
        </p:spPr>
        <p:txBody>
          <a:bodyPr spcFirstLastPara="1" wrap="square" lIns="91425" tIns="45700" rIns="91425" bIns="45700" anchor="t" anchorCtr="0">
            <a:spAutoFit/>
          </a:bodyPr>
          <a:lstStyle/>
          <a:p>
            <a:pPr marL="0" lvl="0" indent="0" algn="ctr" rtl="0">
              <a:spcBef>
                <a:spcPts val="0"/>
              </a:spcBef>
              <a:spcAft>
                <a:spcPts val="0"/>
              </a:spcAft>
              <a:buClr>
                <a:schemeClr val="dk1"/>
              </a:buClr>
              <a:buSzPts val="1100"/>
              <a:buFont typeface="Arial"/>
              <a:buNone/>
            </a:pPr>
            <a:r>
              <a:rPr lang="en-US" sz="2200" b="1" dirty="0" err="1">
                <a:solidFill>
                  <a:schemeClr val="tx1">
                    <a:lumMod val="75000"/>
                    <a:lumOff val="25000"/>
                  </a:schemeClr>
                </a:solidFill>
                <a:latin typeface="Source Sans Pro" panose="020B0503030403020204" pitchFamily="34" charset="0"/>
                <a:ea typeface="Source Sans Pro" panose="020B0503030403020204" pitchFamily="34" charset="0"/>
              </a:rPr>
              <a:t>Metilación</a:t>
            </a:r>
            <a:endParaRPr sz="2400" b="1" dirty="0">
              <a:solidFill>
                <a:schemeClr val="tx1">
                  <a:lumMod val="75000"/>
                  <a:lumOff val="25000"/>
                </a:schemeClr>
              </a:solidFill>
              <a:latin typeface="Source Sans Pro" panose="020B0503030403020204" pitchFamily="34" charset="0"/>
              <a:ea typeface="Source Sans Pro" panose="020B0503030403020204" pitchFamily="34" charset="0"/>
            </a:endParaRPr>
          </a:p>
        </p:txBody>
      </p:sp>
      <p:sp>
        <p:nvSpPr>
          <p:cNvPr id="7" name="CuadroTexto 6">
            <a:extLst>
              <a:ext uri="{FF2B5EF4-FFF2-40B4-BE49-F238E27FC236}">
                <a16:creationId xmlns:a16="http://schemas.microsoft.com/office/drawing/2014/main" id="{62656DC8-4B39-78CE-59F3-94D256D43DBE}"/>
              </a:ext>
            </a:extLst>
          </p:cNvPr>
          <p:cNvSpPr txBox="1"/>
          <p:nvPr/>
        </p:nvSpPr>
        <p:spPr>
          <a:xfrm>
            <a:off x="693175" y="6474541"/>
            <a:ext cx="6017342" cy="1815882"/>
          </a:xfrm>
          <a:prstGeom prst="rect">
            <a:avLst/>
          </a:prstGeom>
          <a:noFill/>
        </p:spPr>
        <p:txBody>
          <a:bodyPr wrap="square" rtlCol="0">
            <a:spAutoFit/>
          </a:bodyPr>
          <a:lstStyle/>
          <a:p>
            <a:pPr algn="ctr"/>
            <a:r>
              <a:rPr lang="es-ES" sz="2800" b="1" i="1" dirty="0">
                <a:latin typeface="Source Sans Pro" panose="020B0503030403020204" pitchFamily="34" charset="0"/>
                <a:ea typeface="Source Sans Pro" panose="020B0503030403020204" pitchFamily="34" charset="0"/>
              </a:rPr>
              <a:t>Mecanismo clave </a:t>
            </a:r>
          </a:p>
          <a:p>
            <a:pPr algn="ctr"/>
            <a:endParaRPr lang="es-ES" sz="2800" dirty="0">
              <a:latin typeface="Source Sans Pro" panose="020B0503030403020204" pitchFamily="34" charset="0"/>
              <a:ea typeface="Source Sans Pro" panose="020B0503030403020204" pitchFamily="34" charset="0"/>
            </a:endParaRPr>
          </a:p>
          <a:p>
            <a:pPr algn="ctr"/>
            <a:r>
              <a:rPr lang="es-ES" sz="2800" dirty="0">
                <a:latin typeface="Source Sans Pro" panose="020B0503030403020204" pitchFamily="34" charset="0"/>
                <a:ea typeface="Source Sans Pro" panose="020B0503030403020204" pitchFamily="34" charset="0"/>
              </a:rPr>
              <a:t>Regula expresión génica</a:t>
            </a:r>
          </a:p>
          <a:p>
            <a:pPr algn="ctr"/>
            <a:r>
              <a:rPr lang="es-ES" sz="2800" dirty="0">
                <a:latin typeface="Source Sans Pro" panose="020B0503030403020204" pitchFamily="34" charset="0"/>
                <a:ea typeface="Source Sans Pro" panose="020B0503030403020204" pitchFamily="34" charset="0"/>
              </a:rPr>
              <a:t>Mantiene la estabilidad del genoma</a:t>
            </a:r>
          </a:p>
        </p:txBody>
      </p:sp>
      <p:pic>
        <p:nvPicPr>
          <p:cNvPr id="8" name="Google Shape;93;p1" descr="No hay ninguna descripción de la foto disponible.">
            <a:extLst>
              <a:ext uri="{FF2B5EF4-FFF2-40B4-BE49-F238E27FC236}">
                <a16:creationId xmlns:a16="http://schemas.microsoft.com/office/drawing/2014/main" id="{9A830565-42FB-A477-105F-DBDE6A736483}"/>
              </a:ext>
            </a:extLst>
          </p:cNvPr>
          <p:cNvPicPr preferRelativeResize="0"/>
          <p:nvPr/>
        </p:nvPicPr>
        <p:blipFill rotWithShape="1">
          <a:blip r:embed="rId4">
            <a:alphaModFix/>
          </a:blip>
          <a:srcRect l="26238" t="22935" r="26586" b="20031"/>
          <a:stretch>
            <a:fillRect/>
          </a:stretch>
        </p:blipFill>
        <p:spPr>
          <a:xfrm>
            <a:off x="16855423" y="88465"/>
            <a:ext cx="1432577" cy="744819"/>
          </a:xfrm>
          <a:prstGeom prst="rect">
            <a:avLst/>
          </a:prstGeom>
          <a:noFill/>
          <a:ln>
            <a:noFill/>
          </a:ln>
        </p:spPr>
      </p:pic>
      <p:pic>
        <p:nvPicPr>
          <p:cNvPr id="9" name="Google Shape;94;p1" descr="Universidad El Bosque in Colombia : Reviews &amp; Rankings | Student ...">
            <a:extLst>
              <a:ext uri="{FF2B5EF4-FFF2-40B4-BE49-F238E27FC236}">
                <a16:creationId xmlns:a16="http://schemas.microsoft.com/office/drawing/2014/main" id="{92E793B7-5778-1A99-461F-E66370AA5C2C}"/>
              </a:ext>
            </a:extLst>
          </p:cNvPr>
          <p:cNvPicPr preferRelativeResize="0"/>
          <p:nvPr/>
        </p:nvPicPr>
        <p:blipFill rotWithShape="1">
          <a:blip r:embed="rId5">
            <a:alphaModFix/>
          </a:blip>
          <a:srcRect l="14020" t="34765" r="17993" b="25071"/>
          <a:stretch>
            <a:fillRect/>
          </a:stretch>
        </p:blipFill>
        <p:spPr>
          <a:xfrm>
            <a:off x="14755603" y="191538"/>
            <a:ext cx="1978341" cy="641746"/>
          </a:xfrm>
          <a:prstGeom prst="rect">
            <a:avLst/>
          </a:prstGeom>
          <a:noFill/>
          <a:ln>
            <a:noFill/>
          </a:ln>
        </p:spPr>
      </p:pic>
      <p:sp>
        <p:nvSpPr>
          <p:cNvPr id="14" name="CuadroTexto 13">
            <a:extLst>
              <a:ext uri="{FF2B5EF4-FFF2-40B4-BE49-F238E27FC236}">
                <a16:creationId xmlns:a16="http://schemas.microsoft.com/office/drawing/2014/main" id="{04E01085-7802-14B0-3760-550F462C7CF3}"/>
              </a:ext>
            </a:extLst>
          </p:cNvPr>
          <p:cNvSpPr txBox="1"/>
          <p:nvPr/>
        </p:nvSpPr>
        <p:spPr>
          <a:xfrm>
            <a:off x="8240675" y="8576255"/>
            <a:ext cx="9331036" cy="584775"/>
          </a:xfrm>
          <a:prstGeom prst="rect">
            <a:avLst/>
          </a:prstGeom>
          <a:noFill/>
          <a:ln>
            <a:solidFill>
              <a:schemeClr val="tx1"/>
            </a:solidFill>
            <a:prstDash val="dash"/>
          </a:ln>
        </p:spPr>
        <p:txBody>
          <a:bodyPr wrap="square">
            <a:spAutoFit/>
          </a:bodyPr>
          <a:lstStyle/>
          <a:p>
            <a:pPr algn="ctr"/>
            <a:r>
              <a:rPr lang="es-ES" sz="1600" dirty="0"/>
              <a:t>La metilación del ADN influye en la inflamación al modular la expresión de genes clave en la </a:t>
            </a:r>
            <a:r>
              <a:rPr lang="es-ES" sz="1600" i="1" u="sng" dirty="0"/>
              <a:t>respuesta inmune - la homeostasis y la defensa</a:t>
            </a:r>
          </a:p>
        </p:txBody>
      </p:sp>
      <p:grpSp>
        <p:nvGrpSpPr>
          <p:cNvPr id="12" name="Grupo 11">
            <a:extLst>
              <a:ext uri="{FF2B5EF4-FFF2-40B4-BE49-F238E27FC236}">
                <a16:creationId xmlns:a16="http://schemas.microsoft.com/office/drawing/2014/main" id="{9E13F380-56AB-C7A2-8DED-31EE194AAC08}"/>
              </a:ext>
            </a:extLst>
          </p:cNvPr>
          <p:cNvGrpSpPr/>
          <p:nvPr/>
        </p:nvGrpSpPr>
        <p:grpSpPr>
          <a:xfrm>
            <a:off x="7532463" y="1841706"/>
            <a:ext cx="10254087" cy="6363918"/>
            <a:chOff x="7532463" y="1841706"/>
            <a:chExt cx="10254087" cy="6363918"/>
          </a:xfrm>
        </p:grpSpPr>
        <p:pic>
          <p:nvPicPr>
            <p:cNvPr id="168" name="Google Shape;168;p15"/>
            <p:cNvPicPr preferRelativeResize="0"/>
            <p:nvPr/>
          </p:nvPicPr>
          <p:blipFill>
            <a:blip r:embed="rId6">
              <a:alphaModFix/>
            </a:blip>
            <a:srcRect l="2149" t="637" r="1132" b="2062"/>
            <a:stretch>
              <a:fillRect/>
            </a:stretch>
          </p:blipFill>
          <p:spPr>
            <a:xfrm>
              <a:off x="7532463" y="1841706"/>
              <a:ext cx="10254087" cy="6363918"/>
            </a:xfrm>
            <a:prstGeom prst="rect">
              <a:avLst/>
            </a:prstGeom>
            <a:ln>
              <a:noFill/>
            </a:ln>
            <a:effectLst>
              <a:outerShdw blurRad="190500" algn="tl" rotWithShape="0">
                <a:srgbClr val="000000">
                  <a:alpha val="70000"/>
                </a:srgbClr>
              </a:outerShdw>
            </a:effectLst>
          </p:spPr>
        </p:pic>
        <p:sp>
          <p:nvSpPr>
            <p:cNvPr id="10" name="CuadroTexto 9">
              <a:extLst>
                <a:ext uri="{FF2B5EF4-FFF2-40B4-BE49-F238E27FC236}">
                  <a16:creationId xmlns:a16="http://schemas.microsoft.com/office/drawing/2014/main" id="{07F19813-4FDB-82B0-F6D3-B81BB29C536E}"/>
                </a:ext>
              </a:extLst>
            </p:cNvPr>
            <p:cNvSpPr txBox="1"/>
            <p:nvPr/>
          </p:nvSpPr>
          <p:spPr>
            <a:xfrm>
              <a:off x="7779776" y="3868346"/>
              <a:ext cx="3473244" cy="523220"/>
            </a:xfrm>
            <a:prstGeom prst="rect">
              <a:avLst/>
            </a:prstGeom>
            <a:noFill/>
            <a:ln>
              <a:solidFill>
                <a:schemeClr val="tx1"/>
              </a:solidFill>
              <a:prstDash val="dash"/>
            </a:ln>
          </p:spPr>
          <p:txBody>
            <a:bodyPr wrap="square">
              <a:spAutoFit/>
            </a:bodyPr>
            <a:lstStyle/>
            <a:p>
              <a:pPr algn="ctr"/>
              <a:r>
                <a:rPr lang="es-ES" dirty="0">
                  <a:latin typeface="Source Sans Pro" panose="020B0503030403020204" pitchFamily="34" charset="0"/>
                  <a:ea typeface="Source Sans Pro" panose="020B0503030403020204" pitchFamily="34" charset="0"/>
                </a:rPr>
                <a:t>Esto debilita la respuesta protectora intestinal.</a:t>
              </a:r>
            </a:p>
          </p:txBody>
        </p:sp>
        <p:sp>
          <p:nvSpPr>
            <p:cNvPr id="11" name="CuadroTexto 10">
              <a:extLst>
                <a:ext uri="{FF2B5EF4-FFF2-40B4-BE49-F238E27FC236}">
                  <a16:creationId xmlns:a16="http://schemas.microsoft.com/office/drawing/2014/main" id="{EBF38AD9-6B3C-CF0A-03E6-136DA1763CC6}"/>
                </a:ext>
              </a:extLst>
            </p:cNvPr>
            <p:cNvSpPr txBox="1"/>
            <p:nvPr/>
          </p:nvSpPr>
          <p:spPr>
            <a:xfrm>
              <a:off x="15482831" y="4830512"/>
              <a:ext cx="2088880" cy="954107"/>
            </a:xfrm>
            <a:prstGeom prst="rect">
              <a:avLst/>
            </a:prstGeom>
            <a:noFill/>
            <a:ln>
              <a:solidFill>
                <a:schemeClr val="tx1"/>
              </a:solidFill>
              <a:prstDash val="dash"/>
            </a:ln>
          </p:spPr>
          <p:txBody>
            <a:bodyPr wrap="square">
              <a:spAutoFit/>
            </a:bodyPr>
            <a:lstStyle/>
            <a:p>
              <a:pPr algn="ctr"/>
              <a:r>
                <a:rPr lang="es-ES" dirty="0"/>
                <a:t>Favorece la inflamación crónica característica de la CU.</a:t>
              </a:r>
            </a:p>
            <a:p>
              <a:pPr algn="ctr"/>
              <a:endParaRPr lang="es-ES" dirty="0">
                <a:latin typeface="Source Sans Pro" panose="020B0503030403020204" pitchFamily="34" charset="0"/>
                <a:ea typeface="Source Sans Pro" panose="020B0503030403020204" pitchFamily="34" charset="0"/>
              </a:endParaRPr>
            </a:p>
          </p:txBody>
        </p:sp>
      </p:grpSp>
      <p:sp>
        <p:nvSpPr>
          <p:cNvPr id="13" name="Rectángulo 12">
            <a:extLst>
              <a:ext uri="{FF2B5EF4-FFF2-40B4-BE49-F238E27FC236}">
                <a16:creationId xmlns:a16="http://schemas.microsoft.com/office/drawing/2014/main" id="{413A2030-0435-545D-CF27-39D621A2EF05}"/>
              </a:ext>
            </a:extLst>
          </p:cNvPr>
          <p:cNvSpPr/>
          <p:nvPr/>
        </p:nvSpPr>
        <p:spPr>
          <a:xfrm>
            <a:off x="7779777" y="6687671"/>
            <a:ext cx="3318530" cy="5232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Rectángulo 14">
            <a:extLst>
              <a:ext uri="{FF2B5EF4-FFF2-40B4-BE49-F238E27FC236}">
                <a16:creationId xmlns:a16="http://schemas.microsoft.com/office/drawing/2014/main" id="{CC3D4D42-9A3A-D2CD-E0B0-3BC14BBBC504}"/>
              </a:ext>
            </a:extLst>
          </p:cNvPr>
          <p:cNvSpPr/>
          <p:nvPr/>
        </p:nvSpPr>
        <p:spPr>
          <a:xfrm>
            <a:off x="7779776" y="7185037"/>
            <a:ext cx="1364224" cy="5232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8" name="Google Shape;258;p16"/>
          <p:cNvSpPr txBox="1"/>
          <p:nvPr/>
        </p:nvSpPr>
        <p:spPr>
          <a:xfrm>
            <a:off x="375025" y="9739932"/>
            <a:ext cx="16860029" cy="236988"/>
          </a:xfrm>
          <a:prstGeom prst="rect">
            <a:avLst/>
          </a:prstGeom>
          <a:noFill/>
          <a:ln>
            <a:noFill/>
          </a:ln>
        </p:spPr>
        <p:txBody>
          <a:bodyPr spcFirstLastPara="1" wrap="square" lIns="0" tIns="0" rIns="0" bIns="0" anchor="t" anchorCtr="0">
            <a:spAutoFit/>
          </a:bodyPr>
          <a:lstStyle/>
          <a:p>
            <a:pPr lvl="0">
              <a:lnSpc>
                <a:spcPct val="140000"/>
              </a:lnSpc>
            </a:pPr>
            <a:r>
              <a:rPr lang="en-US" sz="1100" dirty="0">
                <a:latin typeface="Open Sans"/>
                <a:ea typeface="Open Sans"/>
                <a:cs typeface="Open Sans"/>
                <a:sym typeface="Open Sans"/>
              </a:rPr>
              <a:t>Agliata I, Fernandez-Jimenez N, Goldsmith C, Marie JC, Bilbao JR, Dante R, et al. The DNA methylome of inflammatory bowel disease (IBD) reflects intrinsic and extrinsic factors in intestinal mucosal cells. Epigenetics. 2020 Apr 12;15(10):1068–82.</a:t>
            </a:r>
            <a:endParaRPr lang="en-US" sz="1100" dirty="0"/>
          </a:p>
        </p:txBody>
      </p:sp>
      <p:sp>
        <p:nvSpPr>
          <p:cNvPr id="3" name="Google Shape;265;p17">
            <a:extLst>
              <a:ext uri="{FF2B5EF4-FFF2-40B4-BE49-F238E27FC236}">
                <a16:creationId xmlns:a16="http://schemas.microsoft.com/office/drawing/2014/main" id="{5B5C7DA6-4752-860D-3431-4E0536B44AB9}"/>
              </a:ext>
            </a:extLst>
          </p:cNvPr>
          <p:cNvSpPr/>
          <p:nvPr/>
        </p:nvSpPr>
        <p:spPr>
          <a:xfrm>
            <a:off x="10488051" y="448892"/>
            <a:ext cx="3909288" cy="4026126"/>
          </a:xfrm>
          <a:custGeom>
            <a:avLst/>
            <a:gdLst/>
            <a:ahLst/>
            <a:cxnLst/>
            <a:rect l="l" t="t" r="r" b="b"/>
            <a:pathLst>
              <a:path w="5434143" h="5483856" extrusionOk="0">
                <a:moveTo>
                  <a:pt x="0" y="0"/>
                </a:moveTo>
                <a:lnTo>
                  <a:pt x="5434143" y="0"/>
                </a:lnTo>
                <a:lnTo>
                  <a:pt x="5434143" y="5483856"/>
                </a:lnTo>
                <a:lnTo>
                  <a:pt x="0" y="5483856"/>
                </a:lnTo>
                <a:lnTo>
                  <a:pt x="0" y="0"/>
                </a:lnTo>
                <a:close/>
              </a:path>
            </a:pathLst>
          </a:custGeom>
          <a:blipFill rotWithShape="1">
            <a:blip r:embed="rId3">
              <a:alphaModFix/>
            </a:blip>
            <a:stretch>
              <a:fillRect l="-7756" t="-1040" r="-524" b="-224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 name="CuadroTexto 4">
            <a:extLst>
              <a:ext uri="{FF2B5EF4-FFF2-40B4-BE49-F238E27FC236}">
                <a16:creationId xmlns:a16="http://schemas.microsoft.com/office/drawing/2014/main" id="{F7B79B53-03B3-EDD5-51A8-C9ECFEA90680}"/>
              </a:ext>
            </a:extLst>
          </p:cNvPr>
          <p:cNvSpPr txBox="1"/>
          <p:nvPr/>
        </p:nvSpPr>
        <p:spPr>
          <a:xfrm>
            <a:off x="1512186" y="280643"/>
            <a:ext cx="7874683" cy="593111"/>
          </a:xfrm>
          <a:prstGeom prst="rect">
            <a:avLst/>
          </a:prstGeom>
          <a:noFill/>
        </p:spPr>
        <p:txBody>
          <a:bodyPr wrap="square">
            <a:spAutoFit/>
          </a:bodyPr>
          <a:lstStyle/>
          <a:p>
            <a:pPr marL="0" marR="0" lvl="0" indent="0" algn="ctr" rtl="0">
              <a:lnSpc>
                <a:spcPct val="80357"/>
              </a:lnSpc>
              <a:spcBef>
                <a:spcPts val="0"/>
              </a:spcBef>
              <a:spcAft>
                <a:spcPts val="0"/>
              </a:spcAft>
              <a:buClr>
                <a:srgbClr val="1B1B1B"/>
              </a:buClr>
              <a:buSzPts val="2800"/>
              <a:buFont typeface="Calibri"/>
              <a:buNone/>
            </a:pPr>
            <a:r>
              <a:rPr lang="es-ES" sz="4000" b="1" dirty="0">
                <a:solidFill>
                  <a:schemeClr val="tx1">
                    <a:lumMod val="75000"/>
                    <a:lumOff val="25000"/>
                  </a:schemeClr>
                </a:solidFill>
                <a:latin typeface="Calibri"/>
                <a:ea typeface="Calibri"/>
                <a:cs typeface="Calibri"/>
                <a:sym typeface="Calibri"/>
              </a:rPr>
              <a:t>Metilación reportada en EII</a:t>
            </a:r>
            <a:endParaRPr lang="es-ES" sz="4000" dirty="0">
              <a:solidFill>
                <a:schemeClr val="tx1">
                  <a:lumMod val="75000"/>
                  <a:lumOff val="25000"/>
                </a:schemeClr>
              </a:solidFill>
            </a:endParaRPr>
          </a:p>
        </p:txBody>
      </p:sp>
      <p:sp>
        <p:nvSpPr>
          <p:cNvPr id="6" name="CuadroTexto 5">
            <a:extLst>
              <a:ext uri="{FF2B5EF4-FFF2-40B4-BE49-F238E27FC236}">
                <a16:creationId xmlns:a16="http://schemas.microsoft.com/office/drawing/2014/main" id="{642656C2-2740-81EF-26DD-702BF8A96B90}"/>
              </a:ext>
            </a:extLst>
          </p:cNvPr>
          <p:cNvSpPr txBox="1"/>
          <p:nvPr/>
        </p:nvSpPr>
        <p:spPr>
          <a:xfrm>
            <a:off x="1415844" y="1054534"/>
            <a:ext cx="9144000" cy="707886"/>
          </a:xfrm>
          <a:prstGeom prst="rect">
            <a:avLst/>
          </a:prstGeom>
          <a:noFill/>
        </p:spPr>
        <p:txBody>
          <a:bodyPr wrap="square">
            <a:spAutoFit/>
          </a:bodyPr>
          <a:lstStyle/>
          <a:p>
            <a:pPr algn="ctr"/>
            <a:r>
              <a:rPr lang="es-ES" sz="2000" u="sng" dirty="0">
                <a:solidFill>
                  <a:srgbClr val="212121"/>
                </a:solidFill>
                <a:latin typeface="Source Sans Pro" panose="020B0503030403020204" pitchFamily="34" charset="0"/>
                <a:ea typeface="Source Sans Pro" panose="020B0503030403020204" pitchFamily="34" charset="0"/>
              </a:rPr>
              <a:t>M</a:t>
            </a:r>
            <a:r>
              <a:rPr lang="es-ES" sz="2000" b="0" i="0" u="sng" dirty="0">
                <a:solidFill>
                  <a:srgbClr val="212121"/>
                </a:solidFill>
                <a:effectLst/>
                <a:latin typeface="Source Sans Pro" panose="020B0503030403020204" pitchFamily="34" charset="0"/>
                <a:ea typeface="Source Sans Pro" panose="020B0503030403020204" pitchFamily="34" charset="0"/>
              </a:rPr>
              <a:t>etilación anormal del ADN en afecciones inflamatorias humanas del tracto gastrointestinal EII</a:t>
            </a:r>
            <a:endParaRPr lang="es-ES" sz="2000" u="sng" dirty="0">
              <a:latin typeface="Source Sans Pro" panose="020B0503030403020204" pitchFamily="34" charset="0"/>
              <a:ea typeface="Source Sans Pro" panose="020B0503030403020204" pitchFamily="34" charset="0"/>
            </a:endParaRPr>
          </a:p>
        </p:txBody>
      </p:sp>
      <p:sp>
        <p:nvSpPr>
          <p:cNvPr id="8" name="CuadroTexto 7">
            <a:extLst>
              <a:ext uri="{FF2B5EF4-FFF2-40B4-BE49-F238E27FC236}">
                <a16:creationId xmlns:a16="http://schemas.microsoft.com/office/drawing/2014/main" id="{FC6E6A46-444E-B34C-8EA3-465D682260CD}"/>
              </a:ext>
            </a:extLst>
          </p:cNvPr>
          <p:cNvSpPr txBox="1"/>
          <p:nvPr/>
        </p:nvSpPr>
        <p:spPr>
          <a:xfrm>
            <a:off x="623455" y="8093720"/>
            <a:ext cx="9144000" cy="1015663"/>
          </a:xfrm>
          <a:prstGeom prst="rect">
            <a:avLst/>
          </a:prstGeom>
          <a:noFill/>
          <a:ln>
            <a:solidFill>
              <a:schemeClr val="tx1"/>
            </a:solidFill>
            <a:prstDash val="dashDot"/>
          </a:ln>
        </p:spPr>
        <p:txBody>
          <a:bodyPr wrap="square">
            <a:spAutoFit/>
          </a:bodyPr>
          <a:lstStyle/>
          <a:p>
            <a:pPr algn="ctr"/>
            <a:r>
              <a:rPr lang="es-ES" sz="2000" dirty="0">
                <a:solidFill>
                  <a:srgbClr val="212121"/>
                </a:solidFill>
                <a:latin typeface="BlinkMacSystemFont"/>
              </a:rPr>
              <a:t>La</a:t>
            </a:r>
            <a:r>
              <a:rPr lang="es-ES" sz="2000" b="0" i="0" dirty="0">
                <a:solidFill>
                  <a:srgbClr val="212121"/>
                </a:solidFill>
                <a:effectLst/>
                <a:latin typeface="BlinkMacSystemFont"/>
              </a:rPr>
              <a:t> metilación del ADN puede ser la consecuencia (y el efector potencial) tanto de las variantes de susceptibilidad genética como señales ambientales y la exposición a citoquinas</a:t>
            </a:r>
            <a:endParaRPr lang="es-ES" sz="2000" dirty="0"/>
          </a:p>
        </p:txBody>
      </p:sp>
      <p:grpSp>
        <p:nvGrpSpPr>
          <p:cNvPr id="11" name="Grupo 10">
            <a:extLst>
              <a:ext uri="{FF2B5EF4-FFF2-40B4-BE49-F238E27FC236}">
                <a16:creationId xmlns:a16="http://schemas.microsoft.com/office/drawing/2014/main" id="{9C98185D-0F78-7D01-7C18-8258B668E67A}"/>
              </a:ext>
            </a:extLst>
          </p:cNvPr>
          <p:cNvGrpSpPr/>
          <p:nvPr/>
        </p:nvGrpSpPr>
        <p:grpSpPr>
          <a:xfrm>
            <a:off x="817418" y="1993311"/>
            <a:ext cx="8569451" cy="5556015"/>
            <a:chOff x="799987" y="1992030"/>
            <a:chExt cx="8569451" cy="5556015"/>
          </a:xfrm>
        </p:grpSpPr>
        <p:sp>
          <p:nvSpPr>
            <p:cNvPr id="257" name="Google Shape;257;p16"/>
            <p:cNvSpPr/>
            <p:nvPr/>
          </p:nvSpPr>
          <p:spPr>
            <a:xfrm>
              <a:off x="799987" y="1992030"/>
              <a:ext cx="4530436" cy="5556015"/>
            </a:xfrm>
            <a:custGeom>
              <a:avLst/>
              <a:gdLst/>
              <a:ahLst/>
              <a:cxnLst/>
              <a:rect l="l" t="t" r="r" b="b"/>
              <a:pathLst>
                <a:path w="14903166" h="6168165" extrusionOk="0">
                  <a:moveTo>
                    <a:pt x="0" y="0"/>
                  </a:moveTo>
                  <a:lnTo>
                    <a:pt x="14903166" y="0"/>
                  </a:lnTo>
                  <a:lnTo>
                    <a:pt x="14903166" y="6168165"/>
                  </a:lnTo>
                  <a:lnTo>
                    <a:pt x="0" y="6168165"/>
                  </a:lnTo>
                  <a:lnTo>
                    <a:pt x="0" y="0"/>
                  </a:lnTo>
                  <a:close/>
                </a:path>
              </a:pathLst>
            </a:custGeom>
            <a:blipFill rotWithShape="1">
              <a:blip r:embed="rId4">
                <a:alphaModFix/>
              </a:blip>
              <a:stretch>
                <a:fillRect l="-71532" t="-12437" r="-146842" b="-6203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 name="CuadroTexto 9">
              <a:extLst>
                <a:ext uri="{FF2B5EF4-FFF2-40B4-BE49-F238E27FC236}">
                  <a16:creationId xmlns:a16="http://schemas.microsoft.com/office/drawing/2014/main" id="{C4EC36CC-E2CA-49F2-CDD7-95022F175D79}"/>
                </a:ext>
              </a:extLst>
            </p:cNvPr>
            <p:cNvSpPr txBox="1"/>
            <p:nvPr/>
          </p:nvSpPr>
          <p:spPr>
            <a:xfrm>
              <a:off x="5517875" y="4012072"/>
              <a:ext cx="3851563" cy="923330"/>
            </a:xfrm>
            <a:prstGeom prst="rect">
              <a:avLst/>
            </a:prstGeom>
            <a:noFill/>
            <a:ln>
              <a:solidFill>
                <a:schemeClr val="tx1"/>
              </a:solidFill>
              <a:prstDash val="sysDash"/>
            </a:ln>
          </p:spPr>
          <p:txBody>
            <a:bodyPr wrap="square">
              <a:spAutoFit/>
            </a:bodyPr>
            <a:lstStyle/>
            <a:p>
              <a:pPr algn="ctr"/>
              <a:r>
                <a:rPr lang="es-ES" sz="1800" dirty="0">
                  <a:latin typeface="Source Sans Pro" panose="020B0503030403020204" pitchFamily="34" charset="0"/>
                  <a:ea typeface="Source Sans Pro" panose="020B0503030403020204" pitchFamily="34" charset="0"/>
                </a:rPr>
                <a:t>Mapa de calor  muestra las posiciones diferencialmente metiladas entre EII y control.</a:t>
              </a:r>
            </a:p>
          </p:txBody>
        </p:sp>
      </p:grpSp>
      <p:pic>
        <p:nvPicPr>
          <p:cNvPr id="13" name="Imagen 12">
            <a:extLst>
              <a:ext uri="{FF2B5EF4-FFF2-40B4-BE49-F238E27FC236}">
                <a16:creationId xmlns:a16="http://schemas.microsoft.com/office/drawing/2014/main" id="{70A8BF40-361E-784C-CBFA-50B180C48BAF}"/>
              </a:ext>
            </a:extLst>
          </p:cNvPr>
          <p:cNvPicPr>
            <a:picLocks noChangeAspect="1"/>
          </p:cNvPicPr>
          <p:nvPr/>
        </p:nvPicPr>
        <p:blipFill>
          <a:blip r:embed="rId5"/>
          <a:srcRect b="11349"/>
          <a:stretch>
            <a:fillRect/>
          </a:stretch>
        </p:blipFill>
        <p:spPr>
          <a:xfrm>
            <a:off x="14027641" y="2114708"/>
            <a:ext cx="4141291" cy="2169980"/>
          </a:xfrm>
          <a:prstGeom prst="rect">
            <a:avLst/>
          </a:prstGeom>
        </p:spPr>
      </p:pic>
      <p:grpSp>
        <p:nvGrpSpPr>
          <p:cNvPr id="24" name="Grupo 23">
            <a:extLst>
              <a:ext uri="{FF2B5EF4-FFF2-40B4-BE49-F238E27FC236}">
                <a16:creationId xmlns:a16="http://schemas.microsoft.com/office/drawing/2014/main" id="{ED83E272-047E-60E2-DCAE-8F20C30DF8A5}"/>
              </a:ext>
            </a:extLst>
          </p:cNvPr>
          <p:cNvGrpSpPr/>
          <p:nvPr/>
        </p:nvGrpSpPr>
        <p:grpSpPr>
          <a:xfrm>
            <a:off x="10425140" y="6001386"/>
            <a:ext cx="5833879" cy="3587830"/>
            <a:chOff x="10680739" y="5521553"/>
            <a:chExt cx="5833879" cy="3587830"/>
          </a:xfrm>
        </p:grpSpPr>
        <p:grpSp>
          <p:nvGrpSpPr>
            <p:cNvPr id="17" name="Grupo 16">
              <a:extLst>
                <a:ext uri="{FF2B5EF4-FFF2-40B4-BE49-F238E27FC236}">
                  <a16:creationId xmlns:a16="http://schemas.microsoft.com/office/drawing/2014/main" id="{93CBD165-719C-AE0C-8CBE-241AB13EC5E8}"/>
                </a:ext>
              </a:extLst>
            </p:cNvPr>
            <p:cNvGrpSpPr/>
            <p:nvPr/>
          </p:nvGrpSpPr>
          <p:grpSpPr>
            <a:xfrm>
              <a:off x="10680739" y="5521553"/>
              <a:ext cx="5833879" cy="3587830"/>
              <a:chOff x="10680739" y="5521553"/>
              <a:chExt cx="5833879" cy="3587830"/>
            </a:xfrm>
          </p:grpSpPr>
          <p:sp>
            <p:nvSpPr>
              <p:cNvPr id="4" name="Google Shape;264;p17">
                <a:extLst>
                  <a:ext uri="{FF2B5EF4-FFF2-40B4-BE49-F238E27FC236}">
                    <a16:creationId xmlns:a16="http://schemas.microsoft.com/office/drawing/2014/main" id="{AE4E6034-99CC-9AB6-5E76-F956FF14A002}"/>
                  </a:ext>
                </a:extLst>
              </p:cNvPr>
              <p:cNvSpPr/>
              <p:nvPr/>
            </p:nvSpPr>
            <p:spPr>
              <a:xfrm>
                <a:off x="10680739" y="5521553"/>
                <a:ext cx="5833879" cy="3587830"/>
              </a:xfrm>
              <a:custGeom>
                <a:avLst/>
                <a:gdLst/>
                <a:ahLst/>
                <a:cxnLst/>
                <a:rect l="l" t="t" r="r" b="b"/>
                <a:pathLst>
                  <a:path w="11301259" h="2938327" extrusionOk="0">
                    <a:moveTo>
                      <a:pt x="0" y="0"/>
                    </a:moveTo>
                    <a:lnTo>
                      <a:pt x="11301259" y="0"/>
                    </a:lnTo>
                    <a:lnTo>
                      <a:pt x="11301259" y="2938327"/>
                    </a:lnTo>
                    <a:lnTo>
                      <a:pt x="0" y="2938327"/>
                    </a:lnTo>
                    <a:lnTo>
                      <a:pt x="0" y="0"/>
                    </a:lnTo>
                    <a:close/>
                  </a:path>
                </a:pathLst>
              </a:custGeom>
              <a:blipFill rotWithShape="1">
                <a:blip r:embed="rId6">
                  <a:alphaModFix/>
                </a:blip>
                <a:stretch>
                  <a:fillRect l="1" t="-16118" r="-111673" b="-952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15" name="Conector recto de flecha 14">
                <a:extLst>
                  <a:ext uri="{FF2B5EF4-FFF2-40B4-BE49-F238E27FC236}">
                    <a16:creationId xmlns:a16="http://schemas.microsoft.com/office/drawing/2014/main" id="{804379C8-70AC-A6B4-A6B6-BFD18C0F657E}"/>
                  </a:ext>
                </a:extLst>
              </p:cNvPr>
              <p:cNvCxnSpPr/>
              <p:nvPr/>
            </p:nvCxnSpPr>
            <p:spPr>
              <a:xfrm>
                <a:off x="10986655" y="6996545"/>
                <a:ext cx="4932218"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6" name="Conector recto de flecha 15">
                <a:extLst>
                  <a:ext uri="{FF2B5EF4-FFF2-40B4-BE49-F238E27FC236}">
                    <a16:creationId xmlns:a16="http://schemas.microsoft.com/office/drawing/2014/main" id="{99B0BDFC-D367-B4C5-3CB8-D27FCA1C40B9}"/>
                  </a:ext>
                </a:extLst>
              </p:cNvPr>
              <p:cNvCxnSpPr/>
              <p:nvPr/>
            </p:nvCxnSpPr>
            <p:spPr>
              <a:xfrm>
                <a:off x="10986655" y="8714509"/>
                <a:ext cx="4932218"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grpSp>
        <p:cxnSp>
          <p:nvCxnSpPr>
            <p:cNvPr id="23" name="Conector recto de flecha 22">
              <a:extLst>
                <a:ext uri="{FF2B5EF4-FFF2-40B4-BE49-F238E27FC236}">
                  <a16:creationId xmlns:a16="http://schemas.microsoft.com/office/drawing/2014/main" id="{E37F5A6E-8B92-EA37-7669-25A5EF5AEE33}"/>
                </a:ext>
              </a:extLst>
            </p:cNvPr>
            <p:cNvCxnSpPr/>
            <p:nvPr/>
          </p:nvCxnSpPr>
          <p:spPr>
            <a:xfrm>
              <a:off x="10986655" y="7702111"/>
              <a:ext cx="5070068" cy="0"/>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grpSp>
      <p:sp>
        <p:nvSpPr>
          <p:cNvPr id="2" name="CuadroTexto 1">
            <a:extLst>
              <a:ext uri="{FF2B5EF4-FFF2-40B4-BE49-F238E27FC236}">
                <a16:creationId xmlns:a16="http://schemas.microsoft.com/office/drawing/2014/main" id="{5039D284-1491-0E9F-976B-ABDD2FDE5C59}"/>
              </a:ext>
            </a:extLst>
          </p:cNvPr>
          <p:cNvSpPr txBox="1"/>
          <p:nvPr/>
        </p:nvSpPr>
        <p:spPr>
          <a:xfrm>
            <a:off x="10897231" y="4591336"/>
            <a:ext cx="7012397" cy="707886"/>
          </a:xfrm>
          <a:prstGeom prst="rect">
            <a:avLst/>
          </a:prstGeom>
          <a:noFill/>
          <a:ln>
            <a:solidFill>
              <a:schemeClr val="tx1"/>
            </a:solidFill>
            <a:prstDash val="sysDash"/>
          </a:ln>
        </p:spPr>
        <p:txBody>
          <a:bodyPr wrap="square">
            <a:spAutoFit/>
          </a:bodyPr>
          <a:lstStyle/>
          <a:p>
            <a:pPr algn="ctr"/>
            <a:r>
              <a:rPr lang="es-ES" sz="2000" dirty="0">
                <a:latin typeface="Source Sans Pro" panose="020B0503030403020204" pitchFamily="34" charset="0"/>
                <a:ea typeface="Source Sans Pro" panose="020B0503030403020204" pitchFamily="34" charset="0"/>
              </a:rPr>
              <a:t>Sugiere que genes claves están alterados de manera múltiple, resaltando su potencial como biomarcadores - enfermedad.</a:t>
            </a:r>
          </a:p>
        </p:txBody>
      </p:sp>
      <p:sp>
        <p:nvSpPr>
          <p:cNvPr id="7" name="CuadroTexto 6">
            <a:extLst>
              <a:ext uri="{FF2B5EF4-FFF2-40B4-BE49-F238E27FC236}">
                <a16:creationId xmlns:a16="http://schemas.microsoft.com/office/drawing/2014/main" id="{7EE3BE3F-DD4F-CEC5-F690-C0E42FC17ABF}"/>
              </a:ext>
            </a:extLst>
          </p:cNvPr>
          <p:cNvSpPr txBox="1"/>
          <p:nvPr/>
        </p:nvSpPr>
        <p:spPr>
          <a:xfrm>
            <a:off x="15801124" y="7322489"/>
            <a:ext cx="1849669" cy="307777"/>
          </a:xfrm>
          <a:prstGeom prst="rect">
            <a:avLst/>
          </a:prstGeom>
          <a:noFill/>
        </p:spPr>
        <p:txBody>
          <a:bodyPr wrap="square" rtlCol="0">
            <a:spAutoFit/>
          </a:bodyPr>
          <a:lstStyle/>
          <a:p>
            <a:r>
              <a:rPr lang="es-ES" dirty="0"/>
              <a:t>Inflamación crónica</a:t>
            </a:r>
          </a:p>
        </p:txBody>
      </p:sp>
      <p:sp>
        <p:nvSpPr>
          <p:cNvPr id="9" name="CuadroTexto 8">
            <a:extLst>
              <a:ext uri="{FF2B5EF4-FFF2-40B4-BE49-F238E27FC236}">
                <a16:creationId xmlns:a16="http://schemas.microsoft.com/office/drawing/2014/main" id="{76C13EB6-4843-839F-945D-125A9DBBAECA}"/>
              </a:ext>
            </a:extLst>
          </p:cNvPr>
          <p:cNvSpPr txBox="1"/>
          <p:nvPr/>
        </p:nvSpPr>
        <p:spPr>
          <a:xfrm>
            <a:off x="15801123" y="7832110"/>
            <a:ext cx="1849669" cy="523220"/>
          </a:xfrm>
          <a:prstGeom prst="rect">
            <a:avLst/>
          </a:prstGeom>
          <a:noFill/>
        </p:spPr>
        <p:txBody>
          <a:bodyPr wrap="square" rtlCol="0">
            <a:spAutoFit/>
          </a:bodyPr>
          <a:lstStyle/>
          <a:p>
            <a:r>
              <a:rPr lang="es-ES" dirty="0"/>
              <a:t>Pérdida integridad epitelial intestinal</a:t>
            </a:r>
          </a:p>
        </p:txBody>
      </p:sp>
      <p:sp>
        <p:nvSpPr>
          <p:cNvPr id="12" name="CuadroTexto 11">
            <a:extLst>
              <a:ext uri="{FF2B5EF4-FFF2-40B4-BE49-F238E27FC236}">
                <a16:creationId xmlns:a16="http://schemas.microsoft.com/office/drawing/2014/main" id="{C6E9308A-E1D3-1F45-34D7-28336F201273}"/>
              </a:ext>
            </a:extLst>
          </p:cNvPr>
          <p:cNvSpPr txBox="1"/>
          <p:nvPr/>
        </p:nvSpPr>
        <p:spPr>
          <a:xfrm>
            <a:off x="15608569" y="8787302"/>
            <a:ext cx="2285286" cy="738664"/>
          </a:xfrm>
          <a:prstGeom prst="rect">
            <a:avLst/>
          </a:prstGeom>
          <a:noFill/>
        </p:spPr>
        <p:txBody>
          <a:bodyPr wrap="square" rtlCol="0">
            <a:spAutoFit/>
          </a:bodyPr>
          <a:lstStyle/>
          <a:p>
            <a:r>
              <a:rPr lang="es-ES" dirty="0"/>
              <a:t>Precursores de cáncer con cambios epigenéticos en EII</a:t>
            </a:r>
          </a:p>
        </p:txBody>
      </p:sp>
      <p:pic>
        <p:nvPicPr>
          <p:cNvPr id="14" name="Google Shape;93;p1" descr="No hay ninguna descripción de la foto disponible.">
            <a:extLst>
              <a:ext uri="{FF2B5EF4-FFF2-40B4-BE49-F238E27FC236}">
                <a16:creationId xmlns:a16="http://schemas.microsoft.com/office/drawing/2014/main" id="{7B6DCFD9-808D-A58E-53E6-C86C84A2FB71}"/>
              </a:ext>
            </a:extLst>
          </p:cNvPr>
          <p:cNvPicPr preferRelativeResize="0"/>
          <p:nvPr/>
        </p:nvPicPr>
        <p:blipFill rotWithShape="1">
          <a:blip r:embed="rId7">
            <a:alphaModFix/>
          </a:blip>
          <a:srcRect l="26238" t="22935" r="26586" b="20031"/>
          <a:stretch>
            <a:fillRect/>
          </a:stretch>
        </p:blipFill>
        <p:spPr>
          <a:xfrm>
            <a:off x="16719218" y="91628"/>
            <a:ext cx="1432577" cy="744819"/>
          </a:xfrm>
          <a:prstGeom prst="rect">
            <a:avLst/>
          </a:prstGeom>
          <a:noFill/>
          <a:ln>
            <a:noFill/>
          </a:ln>
        </p:spPr>
      </p:pic>
      <p:pic>
        <p:nvPicPr>
          <p:cNvPr id="18" name="Google Shape;94;p1" descr="Universidad El Bosque in Colombia : Reviews &amp; Rankings | Student ...">
            <a:extLst>
              <a:ext uri="{FF2B5EF4-FFF2-40B4-BE49-F238E27FC236}">
                <a16:creationId xmlns:a16="http://schemas.microsoft.com/office/drawing/2014/main" id="{C2533284-DD26-9842-BD51-8E4497CF5CD6}"/>
              </a:ext>
            </a:extLst>
          </p:cNvPr>
          <p:cNvPicPr preferRelativeResize="0"/>
          <p:nvPr/>
        </p:nvPicPr>
        <p:blipFill rotWithShape="1">
          <a:blip r:embed="rId8">
            <a:alphaModFix/>
          </a:blip>
          <a:srcRect l="14020" t="34765" r="17993" b="25071"/>
          <a:stretch>
            <a:fillRect/>
          </a:stretch>
        </p:blipFill>
        <p:spPr>
          <a:xfrm>
            <a:off x="14619398" y="194701"/>
            <a:ext cx="1978341" cy="64174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13" name="Rectángulo 12">
            <a:extLst>
              <a:ext uri="{FF2B5EF4-FFF2-40B4-BE49-F238E27FC236}">
                <a16:creationId xmlns:a16="http://schemas.microsoft.com/office/drawing/2014/main" id="{D240F090-BA9C-6406-AF14-5E49FD62035C}"/>
              </a:ext>
            </a:extLst>
          </p:cNvPr>
          <p:cNvSpPr/>
          <p:nvPr/>
        </p:nvSpPr>
        <p:spPr>
          <a:xfrm>
            <a:off x="0" y="8020526"/>
            <a:ext cx="18288000" cy="2266474"/>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72" name="Google Shape;272;p18"/>
          <p:cNvSpPr txBox="1"/>
          <p:nvPr/>
        </p:nvSpPr>
        <p:spPr>
          <a:xfrm>
            <a:off x="167543" y="9892784"/>
            <a:ext cx="17483148" cy="236988"/>
          </a:xfrm>
          <a:prstGeom prst="rect">
            <a:avLst/>
          </a:prstGeom>
          <a:noFill/>
          <a:ln>
            <a:noFill/>
          </a:ln>
        </p:spPr>
        <p:txBody>
          <a:bodyPr spcFirstLastPara="1" wrap="square" lIns="0" tIns="0" rIns="0" bIns="0" anchor="t" anchorCtr="0">
            <a:spAutoFit/>
          </a:bodyPr>
          <a:lstStyle/>
          <a:p>
            <a:pPr marL="0" marR="0" lvl="0" indent="0" rtl="0">
              <a:lnSpc>
                <a:spcPct val="140000"/>
              </a:lnSpc>
              <a:spcBef>
                <a:spcPts val="0"/>
              </a:spcBef>
              <a:spcAft>
                <a:spcPts val="0"/>
              </a:spcAft>
              <a:buNone/>
            </a:pPr>
            <a:r>
              <a:rPr lang="en-US" sz="1100" dirty="0">
                <a:solidFill>
                  <a:srgbClr val="000000"/>
                </a:solidFill>
                <a:latin typeface="Arial"/>
                <a:ea typeface="Arial"/>
                <a:cs typeface="Arial"/>
                <a:sym typeface="Arial"/>
              </a:rPr>
              <a:t>14. Kang K, Bae JH, Han K, Kim E, Kim TO, Yi J. A Genome-Wide Methylation Approach Identifies a New Hypermethylated Gene Panel in Ulcerative Colitis. International Journal of Molecular Sciences. 2016 Aug 9;17(8):1291.</a:t>
            </a:r>
            <a:endParaRPr sz="1100" dirty="0"/>
          </a:p>
        </p:txBody>
      </p:sp>
      <p:sp>
        <p:nvSpPr>
          <p:cNvPr id="3" name="CuadroTexto 2">
            <a:extLst>
              <a:ext uri="{FF2B5EF4-FFF2-40B4-BE49-F238E27FC236}">
                <a16:creationId xmlns:a16="http://schemas.microsoft.com/office/drawing/2014/main" id="{1D5CC64F-4C6F-7478-B1EC-D83C11910B28}"/>
              </a:ext>
            </a:extLst>
          </p:cNvPr>
          <p:cNvSpPr txBox="1"/>
          <p:nvPr/>
        </p:nvSpPr>
        <p:spPr>
          <a:xfrm>
            <a:off x="4532868" y="275722"/>
            <a:ext cx="7874683" cy="593111"/>
          </a:xfrm>
          <a:prstGeom prst="rect">
            <a:avLst/>
          </a:prstGeom>
          <a:noFill/>
        </p:spPr>
        <p:txBody>
          <a:bodyPr wrap="square">
            <a:spAutoFit/>
          </a:bodyPr>
          <a:lstStyle/>
          <a:p>
            <a:pPr marL="0" marR="0" lvl="0" indent="0" algn="ctr" rtl="0">
              <a:lnSpc>
                <a:spcPct val="80357"/>
              </a:lnSpc>
              <a:spcBef>
                <a:spcPts val="0"/>
              </a:spcBef>
              <a:spcAft>
                <a:spcPts val="0"/>
              </a:spcAft>
              <a:buClr>
                <a:srgbClr val="1B1B1B"/>
              </a:buClr>
              <a:buSzPts val="2800"/>
              <a:buFont typeface="Calibri"/>
              <a:buNone/>
            </a:pPr>
            <a:r>
              <a:rPr lang="es-ES" sz="4000" b="1" dirty="0">
                <a:solidFill>
                  <a:schemeClr val="tx1">
                    <a:lumMod val="75000"/>
                    <a:lumOff val="25000"/>
                  </a:schemeClr>
                </a:solidFill>
                <a:latin typeface="Calibri"/>
                <a:ea typeface="Calibri"/>
                <a:cs typeface="Calibri"/>
                <a:sym typeface="Calibri"/>
              </a:rPr>
              <a:t>Metilación </a:t>
            </a:r>
            <a:r>
              <a:rPr lang="es-ES" sz="4000" b="1" i="1" dirty="0">
                <a:solidFill>
                  <a:schemeClr val="tx1">
                    <a:lumMod val="75000"/>
                    <a:lumOff val="25000"/>
                  </a:schemeClr>
                </a:solidFill>
                <a:latin typeface="Calibri"/>
                <a:ea typeface="Calibri"/>
                <a:cs typeface="Calibri"/>
                <a:sym typeface="Calibri"/>
              </a:rPr>
              <a:t>GWAS </a:t>
            </a:r>
            <a:r>
              <a:rPr lang="es-ES" sz="4000" b="1" dirty="0">
                <a:solidFill>
                  <a:schemeClr val="tx1">
                    <a:lumMod val="75000"/>
                    <a:lumOff val="25000"/>
                  </a:schemeClr>
                </a:solidFill>
                <a:latin typeface="Calibri"/>
                <a:ea typeface="Calibri"/>
                <a:cs typeface="Calibri"/>
                <a:sym typeface="Calibri"/>
              </a:rPr>
              <a:t>reportada en CU</a:t>
            </a:r>
            <a:endParaRPr lang="es-ES" sz="4000" dirty="0">
              <a:solidFill>
                <a:schemeClr val="tx1">
                  <a:lumMod val="75000"/>
                  <a:lumOff val="25000"/>
                </a:schemeClr>
              </a:solidFill>
            </a:endParaRPr>
          </a:p>
        </p:txBody>
      </p:sp>
      <p:sp>
        <p:nvSpPr>
          <p:cNvPr id="8" name="CuadroTexto 7">
            <a:extLst>
              <a:ext uri="{FF2B5EF4-FFF2-40B4-BE49-F238E27FC236}">
                <a16:creationId xmlns:a16="http://schemas.microsoft.com/office/drawing/2014/main" id="{04A47DC1-77FF-78AE-E96B-D4CF05FE7285}"/>
              </a:ext>
            </a:extLst>
          </p:cNvPr>
          <p:cNvSpPr txBox="1"/>
          <p:nvPr/>
        </p:nvSpPr>
        <p:spPr>
          <a:xfrm>
            <a:off x="4337117" y="1076073"/>
            <a:ext cx="9144000" cy="1200329"/>
          </a:xfrm>
          <a:prstGeom prst="rect">
            <a:avLst/>
          </a:prstGeom>
          <a:noFill/>
          <a:ln>
            <a:solidFill>
              <a:schemeClr val="tx1"/>
            </a:solidFill>
            <a:prstDash val="dash"/>
          </a:ln>
        </p:spPr>
        <p:txBody>
          <a:bodyPr wrap="square">
            <a:spAutoFit/>
          </a:bodyPr>
          <a:lstStyle/>
          <a:p>
            <a:pPr algn="ctr"/>
            <a:r>
              <a:rPr lang="es-ES" sz="2400" dirty="0">
                <a:latin typeface="Source Sans Pro" panose="020B0503030403020204" pitchFamily="34" charset="0"/>
                <a:ea typeface="Source Sans Pro" panose="020B0503030403020204" pitchFamily="34" charset="0"/>
              </a:rPr>
              <a:t>La causa EII aún se desconoce, pero existe una creciente evidencia de que los factores ambientales como los cambios epigenéticos pueden contribuir a la etiología de la enfermedad.</a:t>
            </a:r>
          </a:p>
        </p:txBody>
      </p:sp>
      <p:sp>
        <p:nvSpPr>
          <p:cNvPr id="10" name="CuadroTexto 9">
            <a:extLst>
              <a:ext uri="{FF2B5EF4-FFF2-40B4-BE49-F238E27FC236}">
                <a16:creationId xmlns:a16="http://schemas.microsoft.com/office/drawing/2014/main" id="{8E234194-C77D-3727-9971-CCDB0C471279}"/>
              </a:ext>
            </a:extLst>
          </p:cNvPr>
          <p:cNvSpPr txBox="1"/>
          <p:nvPr/>
        </p:nvSpPr>
        <p:spPr>
          <a:xfrm>
            <a:off x="4007148" y="8223228"/>
            <a:ext cx="9803937" cy="1446550"/>
          </a:xfrm>
          <a:prstGeom prst="rect">
            <a:avLst/>
          </a:prstGeom>
          <a:noFill/>
          <a:ln>
            <a:solidFill>
              <a:schemeClr val="tx1"/>
            </a:solidFill>
            <a:prstDash val="dash"/>
          </a:ln>
        </p:spPr>
        <p:txBody>
          <a:bodyPr wrap="square">
            <a:spAutoFit/>
          </a:bodyPr>
          <a:lstStyle/>
          <a:p>
            <a:pPr algn="ctr"/>
            <a:r>
              <a:rPr lang="es-ES" sz="2000" dirty="0">
                <a:latin typeface="Source Sans Pro" panose="020B0503030403020204" pitchFamily="34" charset="0"/>
                <a:ea typeface="Source Sans Pro" panose="020B0503030403020204" pitchFamily="34" charset="0"/>
              </a:rPr>
              <a:t>Los pacientes con CU presentan un perfil de metilación alterado que se diferencia de colon normal y se asemeja parcialmente al observado en células de cáncer colorrectal. </a:t>
            </a:r>
          </a:p>
          <a:p>
            <a:pPr algn="ctr"/>
            <a:r>
              <a:rPr lang="es-ES" sz="2400" b="1" u="sng" dirty="0">
                <a:latin typeface="Source Sans Pro" panose="020B0503030403020204" pitchFamily="34" charset="0"/>
                <a:ea typeface="Source Sans Pro" panose="020B0503030403020204" pitchFamily="34" charset="0"/>
              </a:rPr>
              <a:t>Esto apoya la idea de que los cambios epigenéticos en CU pueden contribuir al riesgo aumentado de cáncer</a:t>
            </a:r>
            <a:r>
              <a:rPr lang="es-ES" sz="2000" dirty="0">
                <a:latin typeface="Source Sans Pro" panose="020B0503030403020204" pitchFamily="34" charset="0"/>
                <a:ea typeface="Source Sans Pro" panose="020B0503030403020204" pitchFamily="34" charset="0"/>
              </a:rPr>
              <a:t>.</a:t>
            </a:r>
          </a:p>
        </p:txBody>
      </p:sp>
      <p:pic>
        <p:nvPicPr>
          <p:cNvPr id="12" name="Imagen 11">
            <a:extLst>
              <a:ext uri="{FF2B5EF4-FFF2-40B4-BE49-F238E27FC236}">
                <a16:creationId xmlns:a16="http://schemas.microsoft.com/office/drawing/2014/main" id="{607E63C4-623C-5641-C1E4-B448E1563856}"/>
              </a:ext>
            </a:extLst>
          </p:cNvPr>
          <p:cNvPicPr>
            <a:picLocks noChangeAspect="1"/>
          </p:cNvPicPr>
          <p:nvPr/>
        </p:nvPicPr>
        <p:blipFill>
          <a:blip r:embed="rId3"/>
          <a:stretch>
            <a:fillRect/>
          </a:stretch>
        </p:blipFill>
        <p:spPr>
          <a:xfrm>
            <a:off x="2050150" y="2428928"/>
            <a:ext cx="13120577" cy="5253331"/>
          </a:xfrm>
          <a:prstGeom prst="rect">
            <a:avLst/>
          </a:prstGeom>
        </p:spPr>
      </p:pic>
      <p:pic>
        <p:nvPicPr>
          <p:cNvPr id="2" name="Google Shape;93;p1" descr="No hay ninguna descripción de la foto disponible.">
            <a:extLst>
              <a:ext uri="{FF2B5EF4-FFF2-40B4-BE49-F238E27FC236}">
                <a16:creationId xmlns:a16="http://schemas.microsoft.com/office/drawing/2014/main" id="{719D12D7-3957-D2A0-D8D2-65FCADBAEE90}"/>
              </a:ext>
            </a:extLst>
          </p:cNvPr>
          <p:cNvPicPr preferRelativeResize="0"/>
          <p:nvPr/>
        </p:nvPicPr>
        <p:blipFill rotWithShape="1">
          <a:blip r:embed="rId4">
            <a:alphaModFix/>
          </a:blip>
          <a:srcRect l="26238" t="22935" r="26586" b="20031"/>
          <a:stretch>
            <a:fillRect/>
          </a:stretch>
        </p:blipFill>
        <p:spPr>
          <a:xfrm>
            <a:off x="16597550" y="172649"/>
            <a:ext cx="1432577" cy="744819"/>
          </a:xfrm>
          <a:prstGeom prst="rect">
            <a:avLst/>
          </a:prstGeom>
          <a:noFill/>
          <a:ln>
            <a:noFill/>
          </a:ln>
        </p:spPr>
      </p:pic>
      <p:pic>
        <p:nvPicPr>
          <p:cNvPr id="4" name="Google Shape;94;p1" descr="Universidad El Bosque in Colombia : Reviews &amp; Rankings | Student ...">
            <a:extLst>
              <a:ext uri="{FF2B5EF4-FFF2-40B4-BE49-F238E27FC236}">
                <a16:creationId xmlns:a16="http://schemas.microsoft.com/office/drawing/2014/main" id="{72C28D57-0125-85DF-7FE2-D3EC4E487CCC}"/>
              </a:ext>
            </a:extLst>
          </p:cNvPr>
          <p:cNvPicPr preferRelativeResize="0"/>
          <p:nvPr/>
        </p:nvPicPr>
        <p:blipFill rotWithShape="1">
          <a:blip r:embed="rId5">
            <a:alphaModFix/>
          </a:blip>
          <a:srcRect l="14020" t="34765" r="17993" b="25071"/>
          <a:stretch>
            <a:fillRect/>
          </a:stretch>
        </p:blipFill>
        <p:spPr>
          <a:xfrm>
            <a:off x="14497730" y="275722"/>
            <a:ext cx="1978341" cy="64174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1" name="Google Shape;211;p8"/>
          <p:cNvSpPr txBox="1"/>
          <p:nvPr/>
        </p:nvSpPr>
        <p:spPr>
          <a:xfrm>
            <a:off x="103238" y="9571704"/>
            <a:ext cx="8554065" cy="620939"/>
          </a:xfrm>
          <a:prstGeom prst="rect">
            <a:avLst/>
          </a:prstGeom>
          <a:noFill/>
          <a:ln>
            <a:noFill/>
          </a:ln>
        </p:spPr>
        <p:txBody>
          <a:bodyPr spcFirstLastPara="1" wrap="square" lIns="0" tIns="0" rIns="0" bIns="0" anchor="t" anchorCtr="0">
            <a:spAutoFit/>
          </a:bodyPr>
          <a:lstStyle/>
          <a:p>
            <a:pPr marL="0" marR="0" lvl="0" indent="0" algn="ctr" rtl="0">
              <a:lnSpc>
                <a:spcPct val="140025"/>
              </a:lnSpc>
              <a:spcBef>
                <a:spcPts val="0"/>
              </a:spcBef>
              <a:spcAft>
                <a:spcPts val="0"/>
              </a:spcAft>
              <a:buNone/>
            </a:pPr>
            <a:r>
              <a:rPr lang="en-US" sz="782" dirty="0">
                <a:solidFill>
                  <a:srgbClr val="000000"/>
                </a:solidFill>
                <a:latin typeface="Arial"/>
                <a:ea typeface="Arial"/>
                <a:cs typeface="Arial"/>
                <a:sym typeface="Arial"/>
              </a:rPr>
              <a:t>.</a:t>
            </a:r>
            <a:endParaRPr dirty="0"/>
          </a:p>
          <a:p>
            <a:pPr marL="0" marR="0" lvl="0" indent="0" algn="ctr" rtl="0">
              <a:lnSpc>
                <a:spcPct val="140025"/>
              </a:lnSpc>
              <a:spcBef>
                <a:spcPts val="0"/>
              </a:spcBef>
              <a:spcAft>
                <a:spcPts val="0"/>
              </a:spcAft>
              <a:buNone/>
            </a:pPr>
            <a:r>
              <a:rPr lang="en-US" sz="1050" dirty="0">
                <a:solidFill>
                  <a:srgbClr val="000000"/>
                </a:solidFill>
                <a:latin typeface="Arial"/>
                <a:ea typeface="Arial"/>
                <a:cs typeface="Arial"/>
                <a:sym typeface="Arial"/>
              </a:rPr>
              <a:t>15. Li L, Sun Y. Circulating tumor DNA methylation detection as biomarker and its application in tumor liquid biopsy: advances and challenges. </a:t>
            </a:r>
            <a:r>
              <a:rPr lang="en-US" sz="1050" dirty="0" err="1">
                <a:solidFill>
                  <a:srgbClr val="000000"/>
                </a:solidFill>
                <a:latin typeface="Arial"/>
                <a:ea typeface="Arial"/>
                <a:cs typeface="Arial"/>
                <a:sym typeface="Arial"/>
              </a:rPr>
              <a:t>MedComm</a:t>
            </a:r>
            <a:r>
              <a:rPr lang="en-US" sz="1050" dirty="0">
                <a:solidFill>
                  <a:srgbClr val="000000"/>
                </a:solidFill>
                <a:latin typeface="Arial"/>
                <a:ea typeface="Arial"/>
                <a:cs typeface="Arial"/>
                <a:sym typeface="Arial"/>
              </a:rPr>
              <a:t>. 2024 Nov 1;5(11).</a:t>
            </a:r>
            <a:endParaRPr sz="2400" dirty="0"/>
          </a:p>
        </p:txBody>
      </p:sp>
      <p:sp>
        <p:nvSpPr>
          <p:cNvPr id="3" name="CuadroTexto 2">
            <a:extLst>
              <a:ext uri="{FF2B5EF4-FFF2-40B4-BE49-F238E27FC236}">
                <a16:creationId xmlns:a16="http://schemas.microsoft.com/office/drawing/2014/main" id="{1EC68C2F-4505-0C32-A2D4-C1B0BC7FC727}"/>
              </a:ext>
            </a:extLst>
          </p:cNvPr>
          <p:cNvSpPr txBox="1"/>
          <p:nvPr/>
        </p:nvSpPr>
        <p:spPr>
          <a:xfrm>
            <a:off x="9387823" y="601003"/>
            <a:ext cx="7874683" cy="492955"/>
          </a:xfrm>
          <a:prstGeom prst="rect">
            <a:avLst/>
          </a:prstGeom>
          <a:solidFill>
            <a:schemeClr val="accent5">
              <a:lumMod val="20000"/>
              <a:lumOff val="80000"/>
            </a:schemeClr>
          </a:solidFill>
        </p:spPr>
        <p:txBody>
          <a:bodyPr wrap="square">
            <a:spAutoFit/>
          </a:bodyPr>
          <a:lstStyle/>
          <a:p>
            <a:pPr marL="0" marR="0" lvl="0" indent="0" algn="ctr" rtl="0">
              <a:lnSpc>
                <a:spcPct val="80357"/>
              </a:lnSpc>
              <a:spcBef>
                <a:spcPts val="0"/>
              </a:spcBef>
              <a:spcAft>
                <a:spcPts val="0"/>
              </a:spcAft>
              <a:buClr>
                <a:srgbClr val="1B1B1B"/>
              </a:buClr>
              <a:buSzPts val="2800"/>
              <a:buFont typeface="Calibri"/>
              <a:buNone/>
            </a:pPr>
            <a:r>
              <a:rPr lang="es-ES" sz="3200" b="1" i="1" dirty="0">
                <a:solidFill>
                  <a:schemeClr val="tx1">
                    <a:lumMod val="75000"/>
                    <a:lumOff val="25000"/>
                  </a:schemeClr>
                </a:solidFill>
                <a:latin typeface="Calibri"/>
                <a:ea typeface="Calibri"/>
                <a:cs typeface="Calibri"/>
                <a:sym typeface="Calibri"/>
              </a:rPr>
              <a:t>DNA </a:t>
            </a:r>
            <a:r>
              <a:rPr lang="es-ES" sz="3200" b="1" dirty="0">
                <a:solidFill>
                  <a:schemeClr val="tx1">
                    <a:lumMod val="75000"/>
                    <a:lumOff val="25000"/>
                  </a:schemeClr>
                </a:solidFill>
                <a:latin typeface="Calibri"/>
                <a:ea typeface="Calibri"/>
                <a:cs typeface="Calibri"/>
                <a:sym typeface="Calibri"/>
              </a:rPr>
              <a:t>Libre en plasma</a:t>
            </a:r>
            <a:endParaRPr lang="es-ES" sz="3200" i="1" dirty="0">
              <a:solidFill>
                <a:schemeClr val="tx1">
                  <a:lumMod val="75000"/>
                  <a:lumOff val="25000"/>
                </a:schemeClr>
              </a:solidFill>
            </a:endParaRPr>
          </a:p>
        </p:txBody>
      </p:sp>
      <p:sp>
        <p:nvSpPr>
          <p:cNvPr id="5" name="CuadroTexto 4">
            <a:extLst>
              <a:ext uri="{FF2B5EF4-FFF2-40B4-BE49-F238E27FC236}">
                <a16:creationId xmlns:a16="http://schemas.microsoft.com/office/drawing/2014/main" id="{A25D3071-3383-4AEC-D386-8353278C0B02}"/>
              </a:ext>
            </a:extLst>
          </p:cNvPr>
          <p:cNvSpPr txBox="1"/>
          <p:nvPr/>
        </p:nvSpPr>
        <p:spPr>
          <a:xfrm>
            <a:off x="9605128" y="1775110"/>
            <a:ext cx="7874682" cy="2640851"/>
          </a:xfrm>
          <a:prstGeom prst="rect">
            <a:avLst/>
          </a:prstGeom>
          <a:noFill/>
          <a:ln>
            <a:solidFill>
              <a:schemeClr val="tx1"/>
            </a:solidFill>
            <a:prstDash val="sysDot"/>
          </a:ln>
        </p:spPr>
        <p:txBody>
          <a:bodyPr wrap="square">
            <a:spAutoFit/>
          </a:bodyPr>
          <a:lstStyle/>
          <a:p>
            <a:pPr marL="0" marR="0" lvl="0" indent="0" algn="ctr" rtl="0">
              <a:lnSpc>
                <a:spcPct val="140000"/>
              </a:lnSpc>
              <a:spcBef>
                <a:spcPts val="0"/>
              </a:spcBef>
              <a:spcAft>
                <a:spcPts val="0"/>
              </a:spcAft>
              <a:buNone/>
            </a:pPr>
            <a:r>
              <a:rPr lang="es-ES" sz="2000" dirty="0">
                <a:latin typeface="Source Sans Pro" panose="020B0503030403020204" pitchFamily="34" charset="0"/>
                <a:ea typeface="Source Sans Pro" panose="020B0503030403020204" pitchFamily="34" charset="0"/>
              </a:rPr>
              <a:t>P</a:t>
            </a:r>
            <a:r>
              <a:rPr lang="es-ES" sz="2000" dirty="0">
                <a:solidFill>
                  <a:srgbClr val="000000"/>
                </a:solidFill>
                <a:latin typeface="Source Sans Pro" panose="020B0503030403020204" pitchFamily="34" charset="0"/>
                <a:ea typeface="Source Sans Pro" panose="020B0503030403020204" pitchFamily="34" charset="0"/>
                <a:sym typeface="Arial"/>
              </a:rPr>
              <a:t>erfil de metilación del </a:t>
            </a:r>
            <a:r>
              <a:rPr lang="es-ES" sz="2000" dirty="0" err="1">
                <a:solidFill>
                  <a:srgbClr val="000000"/>
                </a:solidFill>
                <a:latin typeface="Source Sans Pro" panose="020B0503030403020204" pitchFamily="34" charset="0"/>
                <a:ea typeface="Source Sans Pro" panose="020B0503030403020204" pitchFamily="34" charset="0"/>
                <a:sym typeface="Arial"/>
              </a:rPr>
              <a:t>ctDNA</a:t>
            </a:r>
            <a:r>
              <a:rPr lang="es-ES" sz="2000" dirty="0">
                <a:solidFill>
                  <a:srgbClr val="000000"/>
                </a:solidFill>
                <a:latin typeface="Source Sans Pro" panose="020B0503030403020204" pitchFamily="34" charset="0"/>
                <a:ea typeface="Source Sans Pro" panose="020B0503030403020204" pitchFamily="34" charset="0"/>
                <a:sym typeface="Arial"/>
              </a:rPr>
              <a:t> </a:t>
            </a:r>
            <a:r>
              <a:rPr lang="es-ES" sz="2000" dirty="0">
                <a:latin typeface="Source Sans Pro" panose="020B0503030403020204" pitchFamily="34" charset="0"/>
                <a:ea typeface="Source Sans Pro" panose="020B0503030403020204" pitchFamily="34" charset="0"/>
              </a:rPr>
              <a:t>es</a:t>
            </a:r>
            <a:r>
              <a:rPr lang="es-ES" sz="2000" dirty="0">
                <a:solidFill>
                  <a:srgbClr val="000000"/>
                </a:solidFill>
                <a:latin typeface="Source Sans Pro" panose="020B0503030403020204" pitchFamily="34" charset="0"/>
                <a:ea typeface="Source Sans Pro" panose="020B0503030403020204" pitchFamily="34" charset="0"/>
                <a:sym typeface="Arial"/>
              </a:rPr>
              <a:t> una herramienta </a:t>
            </a:r>
            <a:r>
              <a:rPr lang="es-ES" sz="2000" i="1" u="sng" dirty="0">
                <a:latin typeface="Source Sans Pro" panose="020B0503030403020204" pitchFamily="34" charset="0"/>
                <a:ea typeface="Source Sans Pro" panose="020B0503030403020204" pitchFamily="34" charset="0"/>
              </a:rPr>
              <a:t>FUNDAMENTAL</a:t>
            </a:r>
            <a:r>
              <a:rPr lang="es-ES" sz="2000" dirty="0">
                <a:solidFill>
                  <a:srgbClr val="000000"/>
                </a:solidFill>
                <a:latin typeface="Source Sans Pro" panose="020B0503030403020204" pitchFamily="34" charset="0"/>
                <a:ea typeface="Source Sans Pro" panose="020B0503030403020204" pitchFamily="34" charset="0"/>
                <a:sym typeface="Arial"/>
              </a:rPr>
              <a:t> para:</a:t>
            </a:r>
          </a:p>
          <a:p>
            <a:pPr marL="0" marR="0" lvl="0" indent="0" algn="ctr" rtl="0">
              <a:lnSpc>
                <a:spcPct val="140000"/>
              </a:lnSpc>
              <a:spcBef>
                <a:spcPts val="0"/>
              </a:spcBef>
              <a:spcAft>
                <a:spcPts val="0"/>
              </a:spcAft>
              <a:buNone/>
            </a:pPr>
            <a:endParaRPr lang="es-ES" sz="1000" dirty="0">
              <a:solidFill>
                <a:srgbClr val="000000"/>
              </a:solidFill>
              <a:latin typeface="Source Sans Pro" panose="020B0503030403020204" pitchFamily="34" charset="0"/>
              <a:ea typeface="Source Sans Pro" panose="020B0503030403020204" pitchFamily="34" charset="0"/>
              <a:sym typeface="Arial"/>
            </a:endParaRPr>
          </a:p>
          <a:p>
            <a:pPr marL="342900" marR="0" lvl="0" indent="-342900" algn="ctr" rtl="0">
              <a:lnSpc>
                <a:spcPct val="140000"/>
              </a:lnSpc>
              <a:spcBef>
                <a:spcPts val="0"/>
              </a:spcBef>
              <a:spcAft>
                <a:spcPts val="0"/>
              </a:spcAft>
              <a:buFont typeface="Wingdings" panose="05000000000000000000" pitchFamily="2" charset="2"/>
              <a:buChar char="ü"/>
            </a:pPr>
            <a:r>
              <a:rPr lang="es-ES" sz="1800" dirty="0">
                <a:latin typeface="Source Sans Pro" panose="020B0503030403020204" pitchFamily="34" charset="0"/>
                <a:ea typeface="Source Sans Pro" panose="020B0503030403020204" pitchFamily="34" charset="0"/>
              </a:rPr>
              <a:t>D</a:t>
            </a:r>
            <a:r>
              <a:rPr lang="es-ES" sz="1800" dirty="0">
                <a:solidFill>
                  <a:srgbClr val="000000"/>
                </a:solidFill>
                <a:latin typeface="Source Sans Pro" panose="020B0503030403020204" pitchFamily="34" charset="0"/>
                <a:ea typeface="Source Sans Pro" panose="020B0503030403020204" pitchFamily="34" charset="0"/>
                <a:sym typeface="Arial"/>
              </a:rPr>
              <a:t>etección temprana</a:t>
            </a:r>
            <a:endParaRPr lang="es-ES" sz="1800" dirty="0">
              <a:latin typeface="Source Sans Pro" panose="020B0503030403020204" pitchFamily="34" charset="0"/>
              <a:ea typeface="Source Sans Pro" panose="020B0503030403020204" pitchFamily="34" charset="0"/>
            </a:endParaRPr>
          </a:p>
          <a:p>
            <a:pPr marL="342900" marR="0" lvl="0" indent="-342900" algn="ctr" rtl="0">
              <a:lnSpc>
                <a:spcPct val="140000"/>
              </a:lnSpc>
              <a:spcBef>
                <a:spcPts val="0"/>
              </a:spcBef>
              <a:spcAft>
                <a:spcPts val="0"/>
              </a:spcAft>
              <a:buFont typeface="Wingdings" panose="05000000000000000000" pitchFamily="2" charset="2"/>
              <a:buChar char="ü"/>
            </a:pPr>
            <a:r>
              <a:rPr lang="es-ES" sz="1800" dirty="0">
                <a:solidFill>
                  <a:srgbClr val="000000"/>
                </a:solidFill>
                <a:latin typeface="Source Sans Pro" panose="020B0503030403020204" pitchFamily="34" charset="0"/>
                <a:ea typeface="Source Sans Pro" panose="020B0503030403020204" pitchFamily="34" charset="0"/>
                <a:sym typeface="Arial"/>
              </a:rPr>
              <a:t>Monitoreo de la recurrencia </a:t>
            </a:r>
          </a:p>
          <a:p>
            <a:pPr marL="342900" marR="0" lvl="0" indent="-342900" algn="ctr" rtl="0">
              <a:lnSpc>
                <a:spcPct val="140000"/>
              </a:lnSpc>
              <a:spcBef>
                <a:spcPts val="0"/>
              </a:spcBef>
              <a:spcAft>
                <a:spcPts val="0"/>
              </a:spcAft>
              <a:buFont typeface="Wingdings" panose="05000000000000000000" pitchFamily="2" charset="2"/>
              <a:buChar char="ü"/>
            </a:pPr>
            <a:r>
              <a:rPr lang="es-ES" sz="1800" dirty="0">
                <a:latin typeface="Source Sans Pro" panose="020B0503030403020204" pitchFamily="34" charset="0"/>
                <a:ea typeface="Source Sans Pro" panose="020B0503030403020204" pitchFamily="34" charset="0"/>
              </a:rPr>
              <a:t>P</a:t>
            </a:r>
            <a:r>
              <a:rPr lang="es-ES" sz="1800" dirty="0">
                <a:solidFill>
                  <a:srgbClr val="000000"/>
                </a:solidFill>
                <a:latin typeface="Source Sans Pro" panose="020B0503030403020204" pitchFamily="34" charset="0"/>
                <a:ea typeface="Source Sans Pro" panose="020B0503030403020204" pitchFamily="34" charset="0"/>
                <a:sym typeface="Arial"/>
              </a:rPr>
              <a:t>redicción pronóstica de enfermedades que puedan desarrollar varios tipos de cáncer</a:t>
            </a:r>
          </a:p>
          <a:p>
            <a:pPr marR="0" lvl="0" algn="ctr" rtl="0">
              <a:lnSpc>
                <a:spcPct val="140000"/>
              </a:lnSpc>
              <a:spcBef>
                <a:spcPts val="0"/>
              </a:spcBef>
              <a:spcAft>
                <a:spcPts val="0"/>
              </a:spcAft>
            </a:pPr>
            <a:endParaRPr lang="es-ES" sz="1800" dirty="0">
              <a:solidFill>
                <a:srgbClr val="000000"/>
              </a:solidFill>
              <a:latin typeface="Source Sans Pro" panose="020B0503030403020204" pitchFamily="34" charset="0"/>
              <a:ea typeface="Source Sans Pro" panose="020B0503030403020204" pitchFamily="34" charset="0"/>
              <a:sym typeface="Arial"/>
            </a:endParaRPr>
          </a:p>
        </p:txBody>
      </p:sp>
      <p:sp>
        <p:nvSpPr>
          <p:cNvPr id="6" name="Google Shape;210;p8">
            <a:extLst>
              <a:ext uri="{FF2B5EF4-FFF2-40B4-BE49-F238E27FC236}">
                <a16:creationId xmlns:a16="http://schemas.microsoft.com/office/drawing/2014/main" id="{B7266457-9423-7B72-1680-E3BC99394EF7}"/>
              </a:ext>
            </a:extLst>
          </p:cNvPr>
          <p:cNvSpPr/>
          <p:nvPr/>
        </p:nvSpPr>
        <p:spPr>
          <a:xfrm>
            <a:off x="8900177" y="5097114"/>
            <a:ext cx="9284585" cy="4474590"/>
          </a:xfrm>
          <a:custGeom>
            <a:avLst/>
            <a:gdLst/>
            <a:ahLst/>
            <a:cxnLst/>
            <a:rect l="l" t="t" r="r" b="b"/>
            <a:pathLst>
              <a:path w="5161345" h="6421580" extrusionOk="0">
                <a:moveTo>
                  <a:pt x="0" y="0"/>
                </a:moveTo>
                <a:lnTo>
                  <a:pt x="5161345" y="0"/>
                </a:lnTo>
                <a:lnTo>
                  <a:pt x="5161345" y="6421580"/>
                </a:lnTo>
                <a:lnTo>
                  <a:pt x="0" y="6421580"/>
                </a:lnTo>
                <a:lnTo>
                  <a:pt x="0" y="0"/>
                </a:lnTo>
                <a:close/>
              </a:path>
            </a:pathLst>
          </a:custGeom>
          <a:blipFill rotWithShape="1">
            <a:blip r:embed="rId3">
              <a:alphaModFix/>
            </a:blip>
            <a:stretch>
              <a:fillRect t="-131756" b="-1"/>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pic>
        <p:nvPicPr>
          <p:cNvPr id="10" name="Google Shape;93;p1" descr="No hay ninguna descripción de la foto disponible.">
            <a:extLst>
              <a:ext uri="{FF2B5EF4-FFF2-40B4-BE49-F238E27FC236}">
                <a16:creationId xmlns:a16="http://schemas.microsoft.com/office/drawing/2014/main" id="{1423946D-9CF1-D18A-3859-6A89272EB9BC}"/>
              </a:ext>
            </a:extLst>
          </p:cNvPr>
          <p:cNvPicPr preferRelativeResize="0"/>
          <p:nvPr/>
        </p:nvPicPr>
        <p:blipFill rotWithShape="1">
          <a:blip r:embed="rId4">
            <a:alphaModFix/>
          </a:blip>
          <a:srcRect l="26238" t="22935" r="26586" b="20031"/>
          <a:stretch>
            <a:fillRect/>
          </a:stretch>
        </p:blipFill>
        <p:spPr>
          <a:xfrm>
            <a:off x="4640150" y="8826885"/>
            <a:ext cx="1432577" cy="744819"/>
          </a:xfrm>
          <a:prstGeom prst="rect">
            <a:avLst/>
          </a:prstGeom>
          <a:noFill/>
          <a:ln>
            <a:noFill/>
          </a:ln>
        </p:spPr>
      </p:pic>
      <p:pic>
        <p:nvPicPr>
          <p:cNvPr id="11" name="Google Shape;94;p1" descr="Universidad El Bosque in Colombia : Reviews &amp; Rankings | Student ...">
            <a:extLst>
              <a:ext uri="{FF2B5EF4-FFF2-40B4-BE49-F238E27FC236}">
                <a16:creationId xmlns:a16="http://schemas.microsoft.com/office/drawing/2014/main" id="{C48FFF62-5CA7-FF10-371C-F79FB540CF3D}"/>
              </a:ext>
            </a:extLst>
          </p:cNvPr>
          <p:cNvPicPr preferRelativeResize="0"/>
          <p:nvPr/>
        </p:nvPicPr>
        <p:blipFill rotWithShape="1">
          <a:blip r:embed="rId5">
            <a:alphaModFix/>
          </a:blip>
          <a:srcRect l="14020" t="34765" r="17993" b="25071"/>
          <a:stretch>
            <a:fillRect/>
          </a:stretch>
        </p:blipFill>
        <p:spPr>
          <a:xfrm>
            <a:off x="2540330" y="8929958"/>
            <a:ext cx="1978341" cy="641746"/>
          </a:xfrm>
          <a:prstGeom prst="rect">
            <a:avLst/>
          </a:prstGeom>
          <a:noFill/>
          <a:ln>
            <a:noFill/>
          </a:ln>
        </p:spPr>
      </p:pic>
      <p:sp>
        <p:nvSpPr>
          <p:cNvPr id="4" name="CuadroTexto 3">
            <a:extLst>
              <a:ext uri="{FF2B5EF4-FFF2-40B4-BE49-F238E27FC236}">
                <a16:creationId xmlns:a16="http://schemas.microsoft.com/office/drawing/2014/main" id="{1EE6D095-7040-8144-D871-F1198A0F2DD9}"/>
              </a:ext>
            </a:extLst>
          </p:cNvPr>
          <p:cNvSpPr txBox="1"/>
          <p:nvPr/>
        </p:nvSpPr>
        <p:spPr>
          <a:xfrm>
            <a:off x="410085" y="7127661"/>
            <a:ext cx="8217172" cy="1200329"/>
          </a:xfrm>
          <a:prstGeom prst="rect">
            <a:avLst/>
          </a:prstGeom>
          <a:noFill/>
        </p:spPr>
        <p:txBody>
          <a:bodyPr wrap="square">
            <a:spAutoFit/>
          </a:bodyPr>
          <a:lstStyle/>
          <a:p>
            <a:pPr algn="ctr"/>
            <a:r>
              <a:rPr lang="es-ES" sz="2400" b="0" i="0" u="none" strike="noStrike" baseline="0" dirty="0">
                <a:solidFill>
                  <a:srgbClr val="000000"/>
                </a:solidFill>
                <a:latin typeface="Source Sans Pro" panose="020B0503030403020204" pitchFamily="34" charset="0"/>
                <a:ea typeface="Source Sans Pro" panose="020B0503030403020204" pitchFamily="34" charset="0"/>
              </a:rPr>
              <a:t>Se alinea con el interés por estudiar firmas epigenéticas y su utilidad en la estratificación de riesgo en pacientes con CU con alto riesgo de desarrollar CRR. </a:t>
            </a:r>
            <a:endParaRPr lang="es-ES" dirty="0"/>
          </a:p>
        </p:txBody>
      </p:sp>
      <p:grpSp>
        <p:nvGrpSpPr>
          <p:cNvPr id="9" name="Grupo 8">
            <a:extLst>
              <a:ext uri="{FF2B5EF4-FFF2-40B4-BE49-F238E27FC236}">
                <a16:creationId xmlns:a16="http://schemas.microsoft.com/office/drawing/2014/main" id="{5ACE912B-2714-FE1D-6865-02E3F498C7F8}"/>
              </a:ext>
            </a:extLst>
          </p:cNvPr>
          <p:cNvGrpSpPr/>
          <p:nvPr/>
        </p:nvGrpSpPr>
        <p:grpSpPr>
          <a:xfrm>
            <a:off x="0" y="179280"/>
            <a:ext cx="9284585" cy="6453927"/>
            <a:chOff x="0" y="0"/>
            <a:chExt cx="10028902" cy="6548284"/>
          </a:xfrm>
        </p:grpSpPr>
        <p:sp>
          <p:nvSpPr>
            <p:cNvPr id="210" name="Google Shape;210;p8"/>
            <p:cNvSpPr/>
            <p:nvPr/>
          </p:nvSpPr>
          <p:spPr>
            <a:xfrm>
              <a:off x="0" y="0"/>
              <a:ext cx="10028902" cy="6548284"/>
            </a:xfrm>
            <a:custGeom>
              <a:avLst/>
              <a:gdLst/>
              <a:ahLst/>
              <a:cxnLst/>
              <a:rect l="l" t="t" r="r" b="b"/>
              <a:pathLst>
                <a:path w="5161345" h="6421580" extrusionOk="0">
                  <a:moveTo>
                    <a:pt x="0" y="0"/>
                  </a:moveTo>
                  <a:lnTo>
                    <a:pt x="5161345" y="0"/>
                  </a:lnTo>
                  <a:lnTo>
                    <a:pt x="5161345" y="6421580"/>
                  </a:lnTo>
                  <a:lnTo>
                    <a:pt x="0" y="6421580"/>
                  </a:lnTo>
                  <a:lnTo>
                    <a:pt x="0" y="0"/>
                  </a:lnTo>
                  <a:close/>
                </a:path>
              </a:pathLst>
            </a:custGeom>
            <a:blipFill rotWithShape="1">
              <a:blip r:embed="rId3">
                <a:alphaModFix/>
              </a:blip>
              <a:stretch>
                <a:fillRect b="-7884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8" name="CuadroTexto 7">
              <a:extLst>
                <a:ext uri="{FF2B5EF4-FFF2-40B4-BE49-F238E27FC236}">
                  <a16:creationId xmlns:a16="http://schemas.microsoft.com/office/drawing/2014/main" id="{469F4EC0-72BF-CBD8-B88E-A9437E06A96E}"/>
                </a:ext>
              </a:extLst>
            </p:cNvPr>
            <p:cNvSpPr txBox="1"/>
            <p:nvPr/>
          </p:nvSpPr>
          <p:spPr>
            <a:xfrm>
              <a:off x="111514" y="3100453"/>
              <a:ext cx="2744781" cy="968056"/>
            </a:xfrm>
            <a:prstGeom prst="rect">
              <a:avLst/>
            </a:prstGeom>
            <a:noFill/>
            <a:ln>
              <a:solidFill>
                <a:schemeClr val="tx1"/>
              </a:solidFill>
              <a:prstDash val="sysDash"/>
            </a:ln>
          </p:spPr>
          <p:txBody>
            <a:bodyPr wrap="square">
              <a:spAutoFit/>
            </a:bodyPr>
            <a:lstStyle/>
            <a:p>
              <a:pPr algn="ctr"/>
              <a:r>
                <a:rPr lang="es-ES" sz="1400" b="0" i="0" u="none" strike="noStrike" baseline="0" dirty="0">
                  <a:solidFill>
                    <a:srgbClr val="000000"/>
                  </a:solidFill>
                  <a:latin typeface="Source Sans Pro" panose="020B0503030403020204" pitchFamily="34" charset="0"/>
                  <a:ea typeface="Source Sans Pro" panose="020B0503030403020204" pitchFamily="34" charset="0"/>
                </a:rPr>
                <a:t>Cada fragmento de </a:t>
              </a:r>
              <a:r>
                <a:rPr lang="es-ES" sz="1400" b="0" i="0" u="none" strike="noStrike" baseline="0" dirty="0" err="1">
                  <a:solidFill>
                    <a:srgbClr val="000000"/>
                  </a:solidFill>
                  <a:latin typeface="Source Sans Pro" panose="020B0503030403020204" pitchFamily="34" charset="0"/>
                  <a:ea typeface="Source Sans Pro" panose="020B0503030403020204" pitchFamily="34" charset="0"/>
                </a:rPr>
                <a:t>cfADN</a:t>
              </a:r>
              <a:r>
                <a:rPr lang="es-ES" sz="1400" b="0" i="0" u="none" strike="noStrike" baseline="0" dirty="0">
                  <a:solidFill>
                    <a:srgbClr val="000000"/>
                  </a:solidFill>
                  <a:latin typeface="Source Sans Pro" panose="020B0503030403020204" pitchFamily="34" charset="0"/>
                  <a:ea typeface="Source Sans Pro" panose="020B0503030403020204" pitchFamily="34" charset="0"/>
                </a:rPr>
                <a:t> lleva las firmas moleculares de su célula de origen, como el estado de metilación del ADN </a:t>
              </a:r>
              <a:endParaRPr lang="es-ES" dirty="0">
                <a:latin typeface="Source Sans Pro" panose="020B0503030403020204" pitchFamily="34" charset="0"/>
                <a:ea typeface="Source Sans Pro" panose="020B0503030403020204" pitchFamily="34" charset="0"/>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03"/>
        <p:cNvGrpSpPr/>
        <p:nvPr/>
      </p:nvGrpSpPr>
      <p:grpSpPr>
        <a:xfrm>
          <a:off x="0" y="0"/>
          <a:ext cx="0" cy="0"/>
          <a:chOff x="0" y="0"/>
          <a:chExt cx="0" cy="0"/>
        </a:xfrm>
      </p:grpSpPr>
      <p:sp>
        <p:nvSpPr>
          <p:cNvPr id="2" name="CuadroTexto 1">
            <a:extLst>
              <a:ext uri="{FF2B5EF4-FFF2-40B4-BE49-F238E27FC236}">
                <a16:creationId xmlns:a16="http://schemas.microsoft.com/office/drawing/2014/main" id="{4B746A82-1A52-96F6-3D17-33241B7A50B8}"/>
              </a:ext>
            </a:extLst>
          </p:cNvPr>
          <p:cNvSpPr txBox="1"/>
          <p:nvPr/>
        </p:nvSpPr>
        <p:spPr>
          <a:xfrm>
            <a:off x="1155279" y="8213863"/>
            <a:ext cx="7569294" cy="629597"/>
          </a:xfrm>
          <a:prstGeom prst="rect">
            <a:avLst/>
          </a:prstGeom>
        </p:spPr>
        <p:txBody>
          <a:bodyPr vert="horz" lIns="91440" tIns="45720" rIns="91440" bIns="45720" rtlCol="0" anchor="b">
            <a:normAutofit fontScale="92500" lnSpcReduction="20000"/>
          </a:bodyPr>
          <a:lstStyle/>
          <a:p>
            <a:pPr marL="0" marR="0" lvl="0" indent="0">
              <a:lnSpc>
                <a:spcPct val="90000"/>
              </a:lnSpc>
              <a:spcBef>
                <a:spcPct val="0"/>
              </a:spcBef>
              <a:spcAft>
                <a:spcPts val="600"/>
              </a:spcAft>
              <a:buClr>
                <a:srgbClr val="1B1B1B"/>
              </a:buClr>
              <a:buSzPts val="2800"/>
            </a:pPr>
            <a:r>
              <a:rPr lang="en-US" sz="4800" b="1" kern="12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sym typeface="Calibri"/>
              </a:rPr>
              <a:t>Planteamiento del problema</a:t>
            </a:r>
            <a:endParaRPr lang="en-US" sz="4800" i="1" kern="1200" dirty="0">
              <a:solidFill>
                <a:schemeClr val="tx1">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p:txBody>
      </p:sp>
      <p:pic>
        <p:nvPicPr>
          <p:cNvPr id="8" name="Imagen 7">
            <a:extLst>
              <a:ext uri="{FF2B5EF4-FFF2-40B4-BE49-F238E27FC236}">
                <a16:creationId xmlns:a16="http://schemas.microsoft.com/office/drawing/2014/main" id="{28715847-AD14-B55F-578E-AA1ED9065BA3}"/>
              </a:ext>
            </a:extLst>
          </p:cNvPr>
          <p:cNvPicPr>
            <a:picLocks noChangeAspect="1"/>
          </p:cNvPicPr>
          <p:nvPr/>
        </p:nvPicPr>
        <p:blipFill>
          <a:blip r:embed="rId3"/>
          <a:srcRect l="8643" r="12042" b="1"/>
          <a:stretch>
            <a:fillRect/>
          </a:stretch>
        </p:blipFill>
        <p:spPr>
          <a:xfrm>
            <a:off x="13595907" y="7447105"/>
            <a:ext cx="1670696" cy="1053197"/>
          </a:xfrm>
          <a:prstGeom prst="rect">
            <a:avLst/>
          </a:prstGeom>
        </p:spPr>
      </p:pic>
      <p:sp>
        <p:nvSpPr>
          <p:cNvPr id="2055" name="Freeform: Shape 2054">
            <a:extLst>
              <a:ext uri="{FF2B5EF4-FFF2-40B4-BE49-F238E27FC236}">
                <a16:creationId xmlns:a16="http://schemas.microsoft.com/office/drawing/2014/main" id="{7BC0F8B1-F985-469B-8332-13DBC76655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2687944" y="676566"/>
            <a:ext cx="3462875" cy="4111794"/>
          </a:xfrm>
          <a:custGeom>
            <a:avLst/>
            <a:gdLst>
              <a:gd name="connsiteX0" fmla="*/ 2308583 w 2308583"/>
              <a:gd name="connsiteY0" fmla="*/ 2741196 h 2741196"/>
              <a:gd name="connsiteX1" fmla="*/ 462 w 2308583"/>
              <a:gd name="connsiteY1" fmla="*/ 2741196 h 2741196"/>
              <a:gd name="connsiteX2" fmla="*/ 0 w 2308583"/>
              <a:gd name="connsiteY2" fmla="*/ 2469337 h 2741196"/>
              <a:gd name="connsiteX3" fmla="*/ 2022607 w 2308583"/>
              <a:gd name="connsiteY3" fmla="*/ 2470269 h 2741196"/>
              <a:gd name="connsiteX4" fmla="*/ 2022607 w 2308583"/>
              <a:gd name="connsiteY4" fmla="*/ 0 h 2741196"/>
              <a:gd name="connsiteX5" fmla="*/ 2308583 w 2308583"/>
              <a:gd name="connsiteY5" fmla="*/ 0 h 2741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8583" h="2741196">
                <a:moveTo>
                  <a:pt x="2308583" y="2741196"/>
                </a:moveTo>
                <a:lnTo>
                  <a:pt x="462" y="2741196"/>
                </a:lnTo>
                <a:cubicBezTo>
                  <a:pt x="-462" y="2647366"/>
                  <a:pt x="923" y="2563167"/>
                  <a:pt x="0" y="2469337"/>
                </a:cubicBezTo>
                <a:lnTo>
                  <a:pt x="2022607" y="2470269"/>
                </a:lnTo>
                <a:lnTo>
                  <a:pt x="2022607" y="0"/>
                </a:lnTo>
                <a:lnTo>
                  <a:pt x="2308583" y="0"/>
                </a:lnTo>
                <a:close/>
              </a:path>
            </a:pathLst>
          </a:custGeom>
          <a:solidFill>
            <a:schemeClr val="tx1">
              <a:lumMod val="95000"/>
              <a:lumOff val="5000"/>
              <a:alpha val="75000"/>
            </a:schemeClr>
          </a:solidFill>
          <a:ln w="0">
            <a:noFill/>
            <a:prstDash val="solid"/>
            <a:round/>
            <a:headEnd/>
            <a:tailEnd/>
          </a:ln>
        </p:spPr>
        <p:txBody>
          <a:bodyPr/>
          <a:lstStyle/>
          <a:p>
            <a:endParaRPr lang="es-ES"/>
          </a:p>
        </p:txBody>
      </p:sp>
      <p:pic>
        <p:nvPicPr>
          <p:cNvPr id="10" name="Imagen 9">
            <a:extLst>
              <a:ext uri="{FF2B5EF4-FFF2-40B4-BE49-F238E27FC236}">
                <a16:creationId xmlns:a16="http://schemas.microsoft.com/office/drawing/2014/main" id="{4ED4131B-72D1-FC2E-FEE9-06D1599D347C}"/>
              </a:ext>
            </a:extLst>
          </p:cNvPr>
          <p:cNvPicPr>
            <a:picLocks noChangeAspect="1"/>
          </p:cNvPicPr>
          <p:nvPr/>
        </p:nvPicPr>
        <p:blipFill>
          <a:blip r:embed="rId4"/>
          <a:srcRect t="17837" b="3035"/>
          <a:stretch>
            <a:fillRect/>
          </a:stretch>
        </p:blipFill>
        <p:spPr>
          <a:xfrm>
            <a:off x="848260" y="1270627"/>
            <a:ext cx="4525623" cy="3565446"/>
          </a:xfrm>
          <a:prstGeom prst="rect">
            <a:avLst/>
          </a:prstGeom>
        </p:spPr>
      </p:pic>
      <p:sp>
        <p:nvSpPr>
          <p:cNvPr id="2057" name="Freeform: Shape 2056">
            <a:extLst>
              <a:ext uri="{FF2B5EF4-FFF2-40B4-BE49-F238E27FC236}">
                <a16:creationId xmlns:a16="http://schemas.microsoft.com/office/drawing/2014/main" id="{89D15953-1642-4DD6-AD9E-01AA19247F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4200465" y="651000"/>
            <a:ext cx="3462875" cy="1671606"/>
          </a:xfrm>
          <a:custGeom>
            <a:avLst/>
            <a:gdLst>
              <a:gd name="connsiteX0" fmla="*/ 462 w 2308583"/>
              <a:gd name="connsiteY0" fmla="*/ 1114404 h 1114404"/>
              <a:gd name="connsiteX1" fmla="*/ 2308583 w 2308583"/>
              <a:gd name="connsiteY1" fmla="*/ 1114404 h 1114404"/>
              <a:gd name="connsiteX2" fmla="*/ 2308583 w 2308583"/>
              <a:gd name="connsiteY2" fmla="*/ 0 h 1114404"/>
              <a:gd name="connsiteX3" fmla="*/ 2022607 w 2308583"/>
              <a:gd name="connsiteY3" fmla="*/ 0 h 1114404"/>
              <a:gd name="connsiteX4" fmla="*/ 2022607 w 2308583"/>
              <a:gd name="connsiteY4" fmla="*/ 843477 h 1114404"/>
              <a:gd name="connsiteX5" fmla="*/ 0 w 2308583"/>
              <a:gd name="connsiteY5" fmla="*/ 842545 h 1114404"/>
              <a:gd name="connsiteX6" fmla="*/ 462 w 2308583"/>
              <a:gd name="connsiteY6" fmla="*/ 1114404 h 1114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8583" h="1114404">
                <a:moveTo>
                  <a:pt x="462" y="1114404"/>
                </a:moveTo>
                <a:lnTo>
                  <a:pt x="2308583" y="1114404"/>
                </a:lnTo>
                <a:lnTo>
                  <a:pt x="2308583" y="0"/>
                </a:lnTo>
                <a:lnTo>
                  <a:pt x="2022607" y="0"/>
                </a:lnTo>
                <a:lnTo>
                  <a:pt x="2022607" y="843477"/>
                </a:lnTo>
                <a:lnTo>
                  <a:pt x="0" y="842545"/>
                </a:lnTo>
                <a:cubicBezTo>
                  <a:pt x="923" y="936375"/>
                  <a:pt x="-462" y="1020574"/>
                  <a:pt x="462" y="1114404"/>
                </a:cubicBezTo>
                <a:close/>
              </a:path>
            </a:pathLst>
          </a:custGeom>
          <a:solidFill>
            <a:schemeClr val="tx1">
              <a:lumMod val="95000"/>
              <a:lumOff val="5000"/>
              <a:alpha val="75000"/>
            </a:schemeClr>
          </a:solidFill>
          <a:ln w="0">
            <a:noFill/>
            <a:prstDash val="solid"/>
            <a:round/>
            <a:headEnd/>
            <a:tailEnd/>
          </a:ln>
        </p:spPr>
        <p:txBody>
          <a:bodyPr/>
          <a:lstStyle/>
          <a:p>
            <a:endParaRPr lang="es-ES"/>
          </a:p>
        </p:txBody>
      </p:sp>
      <p:cxnSp>
        <p:nvCxnSpPr>
          <p:cNvPr id="2059" name="Straight Connector 2058">
            <a:extLst>
              <a:ext uri="{FF2B5EF4-FFF2-40B4-BE49-F238E27FC236}">
                <a16:creationId xmlns:a16="http://schemas.microsoft.com/office/drawing/2014/main" id="{1918D9D3-1370-4FF6-9DFC-9F87F90395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71600" y="8065827"/>
            <a:ext cx="6581632" cy="0"/>
          </a:xfrm>
          <a:prstGeom prst="line">
            <a:avLst/>
          </a:prstGeom>
          <a:ln w="158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6" name="Imagen 5">
            <a:extLst>
              <a:ext uri="{FF2B5EF4-FFF2-40B4-BE49-F238E27FC236}">
                <a16:creationId xmlns:a16="http://schemas.microsoft.com/office/drawing/2014/main" id="{AE1E5761-225F-1108-2960-E21EDB0235D1}"/>
              </a:ext>
            </a:extLst>
          </p:cNvPr>
          <p:cNvPicPr>
            <a:picLocks noChangeAspect="1"/>
          </p:cNvPicPr>
          <p:nvPr/>
        </p:nvPicPr>
        <p:blipFill>
          <a:blip r:embed="rId5"/>
          <a:srcRect l="2085" r="3820" b="1"/>
          <a:stretch>
            <a:fillRect/>
          </a:stretch>
        </p:blipFill>
        <p:spPr>
          <a:xfrm>
            <a:off x="15368886" y="6521752"/>
            <a:ext cx="2712890" cy="3292829"/>
          </a:xfrm>
          <a:prstGeom prst="rect">
            <a:avLst/>
          </a:prstGeom>
        </p:spPr>
      </p:pic>
      <p:pic>
        <p:nvPicPr>
          <p:cNvPr id="4" name="Imagen 3">
            <a:extLst>
              <a:ext uri="{FF2B5EF4-FFF2-40B4-BE49-F238E27FC236}">
                <a16:creationId xmlns:a16="http://schemas.microsoft.com/office/drawing/2014/main" id="{0C99202F-D00C-51A6-8324-89592A497C03}"/>
              </a:ext>
            </a:extLst>
          </p:cNvPr>
          <p:cNvPicPr>
            <a:picLocks noChangeAspect="1"/>
          </p:cNvPicPr>
          <p:nvPr/>
        </p:nvPicPr>
        <p:blipFill>
          <a:blip r:embed="rId6"/>
          <a:srcRect t="3851" b="11032"/>
          <a:stretch>
            <a:fillRect/>
          </a:stretch>
        </p:blipFill>
        <p:spPr>
          <a:xfrm>
            <a:off x="7248693" y="119531"/>
            <a:ext cx="4368682" cy="3947109"/>
          </a:xfrm>
          <a:prstGeom prst="rect">
            <a:avLst/>
          </a:prstGeom>
        </p:spPr>
      </p:pic>
      <p:sp>
        <p:nvSpPr>
          <p:cNvPr id="2061" name="Freeform 6">
            <a:extLst>
              <a:ext uri="{FF2B5EF4-FFF2-40B4-BE49-F238E27FC236}">
                <a16:creationId xmlns:a16="http://schemas.microsoft.com/office/drawing/2014/main" id="{FBF3780C-749F-4B50-9E1D-F2B1F6DBB7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a:off x="12715249" y="4378503"/>
            <a:ext cx="3787608" cy="5098491"/>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1">
              <a:lumMod val="95000"/>
              <a:lumOff val="5000"/>
              <a:alpha val="75000"/>
            </a:schemeClr>
          </a:solidFill>
          <a:ln w="0">
            <a:noFill/>
            <a:prstDash val="solid"/>
            <a:round/>
            <a:headEnd/>
            <a:tailEnd/>
          </a:ln>
        </p:spPr>
        <p:txBody>
          <a:bodyPr/>
          <a:lstStyle/>
          <a:p>
            <a:endParaRPr lang="es-ES"/>
          </a:p>
        </p:txBody>
      </p:sp>
      <p:sp>
        <p:nvSpPr>
          <p:cNvPr id="12" name="CuadroTexto 11">
            <a:extLst>
              <a:ext uri="{FF2B5EF4-FFF2-40B4-BE49-F238E27FC236}">
                <a16:creationId xmlns:a16="http://schemas.microsoft.com/office/drawing/2014/main" id="{7F1F1610-D5BE-6DF2-EBD5-237A6E559872}"/>
              </a:ext>
            </a:extLst>
          </p:cNvPr>
          <p:cNvSpPr txBox="1"/>
          <p:nvPr/>
        </p:nvSpPr>
        <p:spPr>
          <a:xfrm>
            <a:off x="11282057" y="1149871"/>
            <a:ext cx="5836815" cy="2246769"/>
          </a:xfrm>
          <a:prstGeom prst="rect">
            <a:avLst/>
          </a:prstGeom>
          <a:noFill/>
        </p:spPr>
        <p:txBody>
          <a:bodyPr wrap="square">
            <a:spAutoFit/>
          </a:bodyPr>
          <a:lstStyle/>
          <a:p>
            <a:pPr algn="ctr">
              <a:buNone/>
            </a:pPr>
            <a:r>
              <a:rPr lang="es-ES" sz="2800" b="0" i="0" u="none" strike="noStrike" dirty="0">
                <a:solidFill>
                  <a:srgbClr val="000000"/>
                </a:solidFill>
                <a:effectLst/>
                <a:latin typeface="Source Sans Pro" panose="020B0503030403020204" pitchFamily="34" charset="0"/>
                <a:ea typeface="Source Sans Pro" panose="020B0503030403020204" pitchFamily="34" charset="0"/>
              </a:rPr>
              <a:t>La CU inflamación crónica de la mucosa intestinal. </a:t>
            </a:r>
          </a:p>
          <a:p>
            <a:pPr algn="ctr">
              <a:buNone/>
            </a:pPr>
            <a:endParaRPr lang="es-ES" sz="2400" b="0" i="0" u="none" strike="noStrike" dirty="0">
              <a:solidFill>
                <a:srgbClr val="000000"/>
              </a:solidFill>
              <a:effectLst/>
              <a:latin typeface="Source Sans Pro" panose="020B0503030403020204" pitchFamily="34" charset="0"/>
              <a:ea typeface="Source Sans Pro" panose="020B0503030403020204" pitchFamily="34" charset="0"/>
            </a:endParaRPr>
          </a:p>
          <a:p>
            <a:pPr algn="ctr">
              <a:buNone/>
            </a:pPr>
            <a:r>
              <a:rPr lang="es-ES" sz="2000" b="0" i="0" u="none" strike="noStrike" dirty="0">
                <a:solidFill>
                  <a:srgbClr val="000000"/>
                </a:solidFill>
                <a:effectLst/>
                <a:latin typeface="Source Sans Pro" panose="020B0503030403020204" pitchFamily="34" charset="0"/>
                <a:ea typeface="Source Sans Pro" panose="020B0503030403020204" pitchFamily="34" charset="0"/>
              </a:rPr>
              <a:t>Se ha evidenciado que los pacientes de larga duración y/o de compromiso extenso presentan un </a:t>
            </a:r>
            <a:r>
              <a:rPr lang="es-ES" sz="2000" b="1" i="0" u="none" strike="noStrike" dirty="0">
                <a:solidFill>
                  <a:srgbClr val="000000"/>
                </a:solidFill>
                <a:effectLst/>
                <a:latin typeface="Source Sans Pro" panose="020B0503030403020204" pitchFamily="34" charset="0"/>
                <a:ea typeface="Source Sans Pro" panose="020B0503030403020204" pitchFamily="34" charset="0"/>
              </a:rPr>
              <a:t>mayor riesgo </a:t>
            </a:r>
            <a:r>
              <a:rPr lang="es-ES" sz="2000" b="0" i="0" u="none" strike="noStrike" dirty="0">
                <a:solidFill>
                  <a:srgbClr val="000000"/>
                </a:solidFill>
                <a:effectLst/>
                <a:latin typeface="Source Sans Pro" panose="020B0503030403020204" pitchFamily="34" charset="0"/>
                <a:ea typeface="Source Sans Pro" panose="020B0503030403020204" pitchFamily="34" charset="0"/>
              </a:rPr>
              <a:t>de desarrollar CCR</a:t>
            </a:r>
            <a:endParaRPr lang="es-ES" sz="2000" dirty="0">
              <a:latin typeface="Source Sans Pro" panose="020B0503030403020204" pitchFamily="34" charset="0"/>
              <a:ea typeface="Source Sans Pro" panose="020B0503030403020204" pitchFamily="34" charset="0"/>
            </a:endParaRPr>
          </a:p>
        </p:txBody>
      </p:sp>
      <p:sp>
        <p:nvSpPr>
          <p:cNvPr id="16" name="CuadroTexto 15">
            <a:extLst>
              <a:ext uri="{FF2B5EF4-FFF2-40B4-BE49-F238E27FC236}">
                <a16:creationId xmlns:a16="http://schemas.microsoft.com/office/drawing/2014/main" id="{B0721CC7-875E-EDCA-F518-C7068D409028}"/>
              </a:ext>
            </a:extLst>
          </p:cNvPr>
          <p:cNvSpPr txBox="1"/>
          <p:nvPr/>
        </p:nvSpPr>
        <p:spPr>
          <a:xfrm>
            <a:off x="13595907" y="4919662"/>
            <a:ext cx="4365214" cy="1569660"/>
          </a:xfrm>
          <a:prstGeom prst="rect">
            <a:avLst/>
          </a:prstGeom>
          <a:noFill/>
        </p:spPr>
        <p:txBody>
          <a:bodyPr wrap="square">
            <a:spAutoFit/>
          </a:bodyPr>
          <a:lstStyle/>
          <a:p>
            <a:pPr algn="ctr"/>
            <a:r>
              <a:rPr lang="es-ES" sz="2400" dirty="0">
                <a:latin typeface="Source Sans Pro" panose="020B0503030403020204" pitchFamily="34" charset="0"/>
                <a:ea typeface="Source Sans Pro" panose="020B0503030403020204" pitchFamily="34" charset="0"/>
              </a:rPr>
              <a:t>Métodos de diagnostico muchos son </a:t>
            </a:r>
            <a:r>
              <a:rPr lang="es-ES" sz="2400" b="1" i="1" dirty="0">
                <a:latin typeface="Source Sans Pro" panose="020B0503030403020204" pitchFamily="34" charset="0"/>
                <a:ea typeface="Source Sans Pro" panose="020B0503030403020204" pitchFamily="34" charset="0"/>
              </a:rPr>
              <a:t>invasivos</a:t>
            </a:r>
            <a:r>
              <a:rPr lang="es-ES" sz="2400" dirty="0">
                <a:latin typeface="Source Sans Pro" panose="020B0503030403020204" pitchFamily="34" charset="0"/>
                <a:ea typeface="Source Sans Pro" panose="020B0503030403020204" pitchFamily="34" charset="0"/>
              </a:rPr>
              <a:t> y carecen de precisión para predecir la progresión hacia el CCR</a:t>
            </a:r>
          </a:p>
        </p:txBody>
      </p:sp>
      <p:sp>
        <p:nvSpPr>
          <p:cNvPr id="20" name="CuadroTexto 19">
            <a:extLst>
              <a:ext uri="{FF2B5EF4-FFF2-40B4-BE49-F238E27FC236}">
                <a16:creationId xmlns:a16="http://schemas.microsoft.com/office/drawing/2014/main" id="{6B5D16D9-2A2E-2D29-3977-8401F607E828}"/>
              </a:ext>
            </a:extLst>
          </p:cNvPr>
          <p:cNvSpPr txBox="1"/>
          <p:nvPr/>
        </p:nvSpPr>
        <p:spPr>
          <a:xfrm>
            <a:off x="1426317" y="4919662"/>
            <a:ext cx="4146435" cy="830997"/>
          </a:xfrm>
          <a:prstGeom prst="rect">
            <a:avLst/>
          </a:prstGeom>
          <a:noFill/>
        </p:spPr>
        <p:txBody>
          <a:bodyPr wrap="square">
            <a:spAutoFit/>
          </a:bodyPr>
          <a:lstStyle/>
          <a:p>
            <a:pPr algn="ctr"/>
            <a:r>
              <a:rPr lang="es-ES" sz="2400" b="1" i="0" u="none" strike="noStrike" dirty="0">
                <a:solidFill>
                  <a:srgbClr val="000000"/>
                </a:solidFill>
                <a:effectLst/>
                <a:latin typeface="Source Sans Pro" panose="020B0503030403020204" pitchFamily="34" charset="0"/>
                <a:ea typeface="Source Sans Pro" panose="020B0503030403020204" pitchFamily="34" charset="0"/>
              </a:rPr>
              <a:t>Biomarcadores serológicos y de metilación del ADN </a:t>
            </a:r>
            <a:endParaRPr lang="es-ES" sz="2400" b="1" dirty="0"/>
          </a:p>
        </p:txBody>
      </p:sp>
      <p:sp>
        <p:nvSpPr>
          <p:cNvPr id="5" name="CuadroTexto 4">
            <a:extLst>
              <a:ext uri="{FF2B5EF4-FFF2-40B4-BE49-F238E27FC236}">
                <a16:creationId xmlns:a16="http://schemas.microsoft.com/office/drawing/2014/main" id="{E38C22DA-58FC-A64E-18E8-5B87DCB1E820}"/>
              </a:ext>
            </a:extLst>
          </p:cNvPr>
          <p:cNvSpPr txBox="1"/>
          <p:nvPr/>
        </p:nvSpPr>
        <p:spPr>
          <a:xfrm>
            <a:off x="160428" y="2276660"/>
            <a:ext cx="2017400" cy="954107"/>
          </a:xfrm>
          <a:prstGeom prst="rect">
            <a:avLst/>
          </a:prstGeom>
          <a:noFill/>
        </p:spPr>
        <p:txBody>
          <a:bodyPr wrap="square">
            <a:spAutoFit/>
          </a:bodyPr>
          <a:lstStyle/>
          <a:p>
            <a:pPr algn="ctr"/>
            <a:r>
              <a:rPr lang="es-ES" sz="2800" b="1" i="0" u="none" strike="noStrike" dirty="0">
                <a:solidFill>
                  <a:srgbClr val="000000"/>
                </a:solidFill>
                <a:effectLst/>
                <a:latin typeface="Source Sans Pro" panose="020B0503030403020204" pitchFamily="34" charset="0"/>
                <a:ea typeface="Source Sans Pro" panose="020B0503030403020204" pitchFamily="34" charset="0"/>
              </a:rPr>
              <a:t>BIOPSIA LÍQUIDA  </a:t>
            </a:r>
            <a:endParaRPr lang="es-ES" sz="2800" b="1" dirty="0"/>
          </a:p>
        </p:txBody>
      </p:sp>
      <p:sp>
        <p:nvSpPr>
          <p:cNvPr id="9" name="CuadroTexto 8">
            <a:extLst>
              <a:ext uri="{FF2B5EF4-FFF2-40B4-BE49-F238E27FC236}">
                <a16:creationId xmlns:a16="http://schemas.microsoft.com/office/drawing/2014/main" id="{761C53BF-C150-5D9D-E0FC-C6275FF3F3DA}"/>
              </a:ext>
            </a:extLst>
          </p:cNvPr>
          <p:cNvSpPr txBox="1"/>
          <p:nvPr/>
        </p:nvSpPr>
        <p:spPr>
          <a:xfrm>
            <a:off x="6492655" y="4653388"/>
            <a:ext cx="5776433" cy="2677656"/>
          </a:xfrm>
          <a:prstGeom prst="rect">
            <a:avLst/>
          </a:prstGeom>
          <a:noFill/>
          <a:ln>
            <a:solidFill>
              <a:schemeClr val="tx1"/>
            </a:solidFill>
            <a:prstDash val="dashDot"/>
          </a:ln>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r>
              <a:rPr lang="es-ES" sz="2400" dirty="0">
                <a:solidFill>
                  <a:schemeClr val="dk1"/>
                </a:solidFill>
                <a:latin typeface="Source Sans Pro" panose="020B0503030403020204" pitchFamily="34" charset="0"/>
                <a:ea typeface="Source Sans Pro" panose="020B0503030403020204" pitchFamily="34" charset="0"/>
                <a:cs typeface="Calibri"/>
                <a:sym typeface="Calibri"/>
              </a:rPr>
              <a:t>Ofrecen una alternativa prometedora, estos son menos invasivos y pueden reflejar mejor los </a:t>
            </a:r>
            <a:r>
              <a:rPr lang="es-ES" sz="2400" i="1" u="sng" dirty="0">
                <a:solidFill>
                  <a:schemeClr val="dk1"/>
                </a:solidFill>
                <a:latin typeface="Source Sans Pro" panose="020B0503030403020204" pitchFamily="34" charset="0"/>
                <a:ea typeface="Source Sans Pro" panose="020B0503030403020204" pitchFamily="34" charset="0"/>
                <a:cs typeface="Calibri"/>
                <a:sym typeface="Calibri"/>
              </a:rPr>
              <a:t>mecanismos biológicos subyacentes</a:t>
            </a:r>
            <a:r>
              <a:rPr lang="es-ES" sz="2400" dirty="0">
                <a:solidFill>
                  <a:schemeClr val="dk1"/>
                </a:solidFill>
                <a:latin typeface="Source Sans Pro" panose="020B0503030403020204" pitchFamily="34" charset="0"/>
                <a:ea typeface="Source Sans Pro" panose="020B0503030403020204" pitchFamily="34" charset="0"/>
                <a:cs typeface="Calibri"/>
                <a:sym typeface="Calibri"/>
              </a:rPr>
              <a:t>, como los cambios epigenéticos que puedan contribuir a la inflamación y la carcinogénesis asociada a la CU. </a:t>
            </a:r>
            <a:endParaRPr lang="es-ES" sz="2400" dirty="0">
              <a:latin typeface="Source Sans Pro" panose="020B0503030403020204" pitchFamily="34" charset="0"/>
              <a:ea typeface="Source Sans Pro" panose="020B0503030403020204" pitchFamily="34" charset="0"/>
            </a:endParaRPr>
          </a:p>
        </p:txBody>
      </p:sp>
      <p:pic>
        <p:nvPicPr>
          <p:cNvPr id="11" name="Google Shape;93;p1" descr="No hay ninguna descripción de la foto disponible.">
            <a:extLst>
              <a:ext uri="{FF2B5EF4-FFF2-40B4-BE49-F238E27FC236}">
                <a16:creationId xmlns:a16="http://schemas.microsoft.com/office/drawing/2014/main" id="{EFB0A161-0B8F-390D-0C62-279CB275DCE4}"/>
              </a:ext>
            </a:extLst>
          </p:cNvPr>
          <p:cNvPicPr preferRelativeResize="0"/>
          <p:nvPr/>
        </p:nvPicPr>
        <p:blipFill rotWithShape="1">
          <a:blip r:embed="rId7">
            <a:alphaModFix/>
          </a:blip>
          <a:srcRect l="26238" t="22935" r="26586" b="20031"/>
          <a:stretch>
            <a:fillRect/>
          </a:stretch>
        </p:blipFill>
        <p:spPr>
          <a:xfrm>
            <a:off x="3157714" y="9127281"/>
            <a:ext cx="1432577" cy="744819"/>
          </a:xfrm>
          <a:prstGeom prst="rect">
            <a:avLst/>
          </a:prstGeom>
          <a:noFill/>
          <a:ln>
            <a:noFill/>
          </a:ln>
        </p:spPr>
      </p:pic>
      <p:pic>
        <p:nvPicPr>
          <p:cNvPr id="13" name="Google Shape;94;p1" descr="Universidad El Bosque in Colombia : Reviews &amp; Rankings | Student ...">
            <a:extLst>
              <a:ext uri="{FF2B5EF4-FFF2-40B4-BE49-F238E27FC236}">
                <a16:creationId xmlns:a16="http://schemas.microsoft.com/office/drawing/2014/main" id="{27DCD604-847C-0D41-917D-2F560EED3167}"/>
              </a:ext>
            </a:extLst>
          </p:cNvPr>
          <p:cNvPicPr preferRelativeResize="0"/>
          <p:nvPr/>
        </p:nvPicPr>
        <p:blipFill rotWithShape="1">
          <a:blip r:embed="rId8">
            <a:alphaModFix/>
          </a:blip>
          <a:srcRect l="14020" t="34765" r="17993" b="25071"/>
          <a:stretch>
            <a:fillRect/>
          </a:stretch>
        </p:blipFill>
        <p:spPr>
          <a:xfrm>
            <a:off x="1057894" y="9230354"/>
            <a:ext cx="1978341" cy="64174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9F1EEFE0-DD32-D551-81AD-3054087DA7AA}"/>
              </a:ext>
            </a:extLst>
          </p:cNvPr>
          <p:cNvSpPr/>
          <p:nvPr/>
        </p:nvSpPr>
        <p:spPr>
          <a:xfrm>
            <a:off x="0" y="0"/>
            <a:ext cx="7675418" cy="10287000"/>
          </a:xfrm>
          <a:prstGeom prst="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 name="Título 1">
            <a:extLst>
              <a:ext uri="{FF2B5EF4-FFF2-40B4-BE49-F238E27FC236}">
                <a16:creationId xmlns:a16="http://schemas.microsoft.com/office/drawing/2014/main" id="{B250E271-3B98-98E9-197B-16F52E8FCAA1}"/>
              </a:ext>
            </a:extLst>
          </p:cNvPr>
          <p:cNvSpPr>
            <a:spLocks noGrp="1"/>
          </p:cNvSpPr>
          <p:nvPr>
            <p:ph type="title"/>
          </p:nvPr>
        </p:nvSpPr>
        <p:spPr>
          <a:xfrm>
            <a:off x="355024" y="579437"/>
            <a:ext cx="5915891" cy="1143000"/>
          </a:xfrm>
        </p:spPr>
        <p:txBody>
          <a:bodyPr>
            <a:normAutofit fontScale="90000"/>
          </a:bodyPr>
          <a:lstStyle/>
          <a:p>
            <a:r>
              <a:rPr lang="es-ES" sz="3600" b="1" dirty="0">
                <a:solidFill>
                  <a:schemeClr val="tx1">
                    <a:lumMod val="65000"/>
                    <a:lumOff val="35000"/>
                  </a:schemeClr>
                </a:solidFill>
                <a:latin typeface="Source Sans Pro" panose="020B0503030403020204" pitchFamily="34" charset="0"/>
                <a:ea typeface="Source Sans Pro" panose="020B0503030403020204" pitchFamily="34" charset="0"/>
              </a:rPr>
              <a:t>PREGUNTA DE INVESTIGACION</a:t>
            </a:r>
          </a:p>
        </p:txBody>
      </p:sp>
      <p:sp>
        <p:nvSpPr>
          <p:cNvPr id="3" name="Marcador de texto 2">
            <a:extLst>
              <a:ext uri="{FF2B5EF4-FFF2-40B4-BE49-F238E27FC236}">
                <a16:creationId xmlns:a16="http://schemas.microsoft.com/office/drawing/2014/main" id="{045B198E-0639-C37B-D4D2-1860E3EACE0A}"/>
              </a:ext>
            </a:extLst>
          </p:cNvPr>
          <p:cNvSpPr>
            <a:spLocks noGrp="1"/>
          </p:cNvSpPr>
          <p:nvPr>
            <p:ph type="body" idx="1"/>
          </p:nvPr>
        </p:nvSpPr>
        <p:spPr>
          <a:xfrm>
            <a:off x="7841673" y="3170236"/>
            <a:ext cx="9698181" cy="4525963"/>
          </a:xfrm>
          <a:ln>
            <a:solidFill>
              <a:schemeClr val="tx1"/>
            </a:solidFill>
            <a:prstDash val="sysDash"/>
          </a:ln>
        </p:spPr>
        <p:txBody>
          <a:bodyPr>
            <a:normAutofit/>
          </a:bodyPr>
          <a:lstStyle/>
          <a:p>
            <a:pPr algn="just"/>
            <a:endParaRPr lang="es-ES" sz="2800" dirty="0">
              <a:latin typeface="Source Sans Pro" panose="020B0503030403020204" pitchFamily="34" charset="0"/>
              <a:ea typeface="Source Sans Pro" panose="020B0503030403020204" pitchFamily="34" charset="0"/>
            </a:endParaRPr>
          </a:p>
          <a:p>
            <a:pPr marL="114300" indent="0" algn="just">
              <a:buNone/>
            </a:pPr>
            <a:r>
              <a:rPr lang="es-ES" sz="2800" dirty="0">
                <a:latin typeface="Source Sans Pro" panose="020B0503030403020204" pitchFamily="34" charset="0"/>
                <a:ea typeface="Source Sans Pro" panose="020B0503030403020204" pitchFamily="34" charset="0"/>
              </a:rPr>
              <a:t>● En pacientes con CU de alto riesgo para desarrollar CCR, existen firmas diferencialmente metiladas en </a:t>
            </a:r>
            <a:r>
              <a:rPr lang="es-ES" sz="2800" dirty="0" err="1">
                <a:latin typeface="Source Sans Pro" panose="020B0503030403020204" pitchFamily="34" charset="0"/>
                <a:ea typeface="Source Sans Pro" panose="020B0503030403020204" pitchFamily="34" charset="0"/>
              </a:rPr>
              <a:t>cfADN</a:t>
            </a:r>
            <a:r>
              <a:rPr lang="es-ES" sz="2800" dirty="0">
                <a:latin typeface="Source Sans Pro" panose="020B0503030403020204" pitchFamily="34" charset="0"/>
                <a:ea typeface="Source Sans Pro" panose="020B0503030403020204" pitchFamily="34" charset="0"/>
              </a:rPr>
              <a:t> y del tejido colónico en comparación con lo observado en individuos sanos - CCR </a:t>
            </a:r>
          </a:p>
          <a:p>
            <a:pPr marL="114300" indent="0" algn="just">
              <a:buNone/>
            </a:pPr>
            <a:r>
              <a:rPr lang="es-ES" sz="2800" dirty="0">
                <a:latin typeface="Source Sans Pro" panose="020B0503030403020204" pitchFamily="34" charset="0"/>
                <a:ea typeface="Source Sans Pro" panose="020B0503030403020204" pitchFamily="34" charset="0"/>
              </a:rPr>
              <a:t>● En pacientes con CU los niveles de </a:t>
            </a:r>
            <a:r>
              <a:rPr lang="es-ES" sz="2800" dirty="0" err="1">
                <a:latin typeface="Source Sans Pro" panose="020B0503030403020204" pitchFamily="34" charset="0"/>
                <a:ea typeface="Source Sans Pro" panose="020B0503030403020204" pitchFamily="34" charset="0"/>
              </a:rPr>
              <a:t>SIgA</a:t>
            </a:r>
            <a:r>
              <a:rPr lang="es-ES" sz="2800" dirty="0">
                <a:latin typeface="Source Sans Pro" panose="020B0503030403020204" pitchFamily="34" charset="0"/>
                <a:ea typeface="Source Sans Pro" panose="020B0503030403020204" pitchFamily="34" charset="0"/>
              </a:rPr>
              <a:t> se asocian con la firma de metilación en pacientes con CU de alto riesgo para desarrollar CCR </a:t>
            </a:r>
          </a:p>
          <a:p>
            <a:endParaRPr lang="es-ES" dirty="0"/>
          </a:p>
        </p:txBody>
      </p:sp>
      <p:sp>
        <p:nvSpPr>
          <p:cNvPr id="5" name="Marcador de texto 2">
            <a:extLst>
              <a:ext uri="{FF2B5EF4-FFF2-40B4-BE49-F238E27FC236}">
                <a16:creationId xmlns:a16="http://schemas.microsoft.com/office/drawing/2014/main" id="{C3063F5F-9C23-76DC-260B-E0A129C50D30}"/>
              </a:ext>
            </a:extLst>
          </p:cNvPr>
          <p:cNvSpPr txBox="1">
            <a:spLocks/>
          </p:cNvSpPr>
          <p:nvPr/>
        </p:nvSpPr>
        <p:spPr>
          <a:xfrm>
            <a:off x="249383" y="3170237"/>
            <a:ext cx="7093526" cy="4525963"/>
          </a:xfrm>
          <a:prstGeom prst="rect">
            <a:avLst/>
          </a:prstGeom>
          <a:noFill/>
          <a:ln>
            <a:solidFill>
              <a:schemeClr val="tx1"/>
            </a:solidFill>
            <a:prstDash val="sysDash"/>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algn="just"/>
            <a:endParaRPr lang="es-ES" dirty="0"/>
          </a:p>
          <a:p>
            <a:pPr marL="628650" indent="-514350" algn="just">
              <a:buFont typeface="+mj-lt"/>
              <a:buAutoNum type="arabicPeriod"/>
            </a:pPr>
            <a:r>
              <a:rPr lang="es-ES" dirty="0"/>
              <a:t>¿Existe una firma de metilación diferenciales en el </a:t>
            </a:r>
            <a:r>
              <a:rPr lang="es-ES" dirty="0" err="1"/>
              <a:t>cfADN</a:t>
            </a:r>
            <a:r>
              <a:rPr lang="es-ES" dirty="0"/>
              <a:t> en pacientes con CU asociados a CCR?</a:t>
            </a:r>
          </a:p>
          <a:p>
            <a:pPr marL="628650" indent="-514350" algn="just">
              <a:buFont typeface="+mj-lt"/>
              <a:buAutoNum type="arabicPeriod"/>
            </a:pPr>
            <a:endParaRPr lang="es-ES" dirty="0"/>
          </a:p>
          <a:p>
            <a:pPr marL="628650" indent="-514350" algn="just">
              <a:buFont typeface="+mj-lt"/>
              <a:buAutoNum type="arabicPeriod"/>
            </a:pPr>
            <a:r>
              <a:rPr lang="es-ES" dirty="0"/>
              <a:t>¿Los niveles de </a:t>
            </a:r>
            <a:r>
              <a:rPr lang="es-ES" dirty="0" err="1"/>
              <a:t>SIgA</a:t>
            </a:r>
            <a:r>
              <a:rPr lang="es-ES" dirty="0"/>
              <a:t> pueden utilizarse como un biomarcador pronóstico en pacientes con colitis ulcerativa (CU)?</a:t>
            </a:r>
          </a:p>
        </p:txBody>
      </p:sp>
      <p:sp>
        <p:nvSpPr>
          <p:cNvPr id="8" name="CuadroTexto 7">
            <a:extLst>
              <a:ext uri="{FF2B5EF4-FFF2-40B4-BE49-F238E27FC236}">
                <a16:creationId xmlns:a16="http://schemas.microsoft.com/office/drawing/2014/main" id="{8664E41F-92E8-2ED2-2518-67C0E94AD36B}"/>
              </a:ext>
            </a:extLst>
          </p:cNvPr>
          <p:cNvSpPr txBox="1"/>
          <p:nvPr/>
        </p:nvSpPr>
        <p:spPr>
          <a:xfrm>
            <a:off x="11526706" y="1399271"/>
            <a:ext cx="2552701" cy="646331"/>
          </a:xfrm>
          <a:prstGeom prst="rect">
            <a:avLst/>
          </a:prstGeom>
          <a:noFill/>
        </p:spPr>
        <p:txBody>
          <a:bodyPr wrap="square">
            <a:spAutoFit/>
          </a:bodyPr>
          <a:lstStyle/>
          <a:p>
            <a:pPr algn="ctr"/>
            <a:r>
              <a:rPr lang="es-ES" sz="3600" b="1" dirty="0">
                <a:solidFill>
                  <a:schemeClr val="tx1">
                    <a:lumMod val="65000"/>
                    <a:lumOff val="35000"/>
                  </a:schemeClr>
                </a:solidFill>
                <a:latin typeface="Source Sans Pro" panose="020B0503030403020204" pitchFamily="34" charset="0"/>
                <a:ea typeface="Source Sans Pro" panose="020B0503030403020204" pitchFamily="34" charset="0"/>
              </a:rPr>
              <a:t>HIPOTESIS</a:t>
            </a:r>
            <a:r>
              <a:rPr lang="es-ES" sz="1800" b="1" dirty="0">
                <a:solidFill>
                  <a:schemeClr val="tx1">
                    <a:lumMod val="50000"/>
                    <a:lumOff val="50000"/>
                  </a:schemeClr>
                </a:solidFill>
              </a:rPr>
              <a:t> </a:t>
            </a:r>
          </a:p>
        </p:txBody>
      </p:sp>
      <p:pic>
        <p:nvPicPr>
          <p:cNvPr id="10" name="Imagen 9">
            <a:extLst>
              <a:ext uri="{FF2B5EF4-FFF2-40B4-BE49-F238E27FC236}">
                <a16:creationId xmlns:a16="http://schemas.microsoft.com/office/drawing/2014/main" id="{28469120-42BF-FFBA-FAA8-77DAADCE71AE}"/>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Effect>
                      <a14:sharpenSoften amount="-50000"/>
                    </a14:imgEffect>
                  </a14:imgLayer>
                </a14:imgProps>
              </a:ext>
            </a:extLst>
          </a:blip>
          <a:stretch>
            <a:fillRect/>
          </a:stretch>
        </p:blipFill>
        <p:spPr>
          <a:xfrm>
            <a:off x="5913432" y="0"/>
            <a:ext cx="1695726" cy="2087047"/>
          </a:xfrm>
          <a:prstGeom prst="rect">
            <a:avLst/>
          </a:prstGeom>
        </p:spPr>
      </p:pic>
      <p:pic>
        <p:nvPicPr>
          <p:cNvPr id="12" name="Imagen 11">
            <a:extLst>
              <a:ext uri="{FF2B5EF4-FFF2-40B4-BE49-F238E27FC236}">
                <a16:creationId xmlns:a16="http://schemas.microsoft.com/office/drawing/2014/main" id="{77E813AF-FE21-AA27-B9EC-65FA8622ED1C}"/>
              </a:ext>
            </a:extLst>
          </p:cNvPr>
          <p:cNvPicPr>
            <a:picLocks noChangeAspect="1"/>
          </p:cNvPicPr>
          <p:nvPr/>
        </p:nvPicPr>
        <p:blipFill>
          <a:blip r:embed="rId4"/>
          <a:stretch>
            <a:fillRect/>
          </a:stretch>
        </p:blipFill>
        <p:spPr>
          <a:xfrm rot="20180089">
            <a:off x="15220270" y="6873408"/>
            <a:ext cx="2463450" cy="2284445"/>
          </a:xfrm>
          <a:prstGeom prst="rect">
            <a:avLst/>
          </a:prstGeom>
        </p:spPr>
      </p:pic>
      <p:pic>
        <p:nvPicPr>
          <p:cNvPr id="13" name="Google Shape;93;p1" descr="No hay ninguna descripción de la foto disponible.">
            <a:extLst>
              <a:ext uri="{FF2B5EF4-FFF2-40B4-BE49-F238E27FC236}">
                <a16:creationId xmlns:a16="http://schemas.microsoft.com/office/drawing/2014/main" id="{47E5EF36-4547-CE79-73CD-BFA884D49BFE}"/>
              </a:ext>
            </a:extLst>
          </p:cNvPr>
          <p:cNvPicPr preferRelativeResize="0"/>
          <p:nvPr/>
        </p:nvPicPr>
        <p:blipFill rotWithShape="1">
          <a:blip r:embed="rId5">
            <a:alphaModFix/>
          </a:blip>
          <a:srcRect l="26238" t="22935" r="26586" b="20031"/>
          <a:stretch>
            <a:fillRect/>
          </a:stretch>
        </p:blipFill>
        <p:spPr>
          <a:xfrm>
            <a:off x="2454844" y="9283617"/>
            <a:ext cx="1432577" cy="744819"/>
          </a:xfrm>
          <a:prstGeom prst="rect">
            <a:avLst/>
          </a:prstGeom>
          <a:noFill/>
          <a:ln>
            <a:noFill/>
          </a:ln>
        </p:spPr>
      </p:pic>
      <p:pic>
        <p:nvPicPr>
          <p:cNvPr id="14" name="Google Shape;94;p1" descr="Universidad El Bosque in Colombia : Reviews &amp; Rankings | Student ...">
            <a:extLst>
              <a:ext uri="{FF2B5EF4-FFF2-40B4-BE49-F238E27FC236}">
                <a16:creationId xmlns:a16="http://schemas.microsoft.com/office/drawing/2014/main" id="{E468DB52-650A-B291-BB26-B582C1C5F53B}"/>
              </a:ext>
            </a:extLst>
          </p:cNvPr>
          <p:cNvPicPr preferRelativeResize="0"/>
          <p:nvPr/>
        </p:nvPicPr>
        <p:blipFill rotWithShape="1">
          <a:blip r:embed="rId6">
            <a:alphaModFix/>
          </a:blip>
          <a:srcRect l="14020" t="34765" r="17993" b="25071"/>
          <a:stretch>
            <a:fillRect/>
          </a:stretch>
        </p:blipFill>
        <p:spPr>
          <a:xfrm>
            <a:off x="355024" y="9386690"/>
            <a:ext cx="1978341" cy="641746"/>
          </a:xfrm>
          <a:prstGeom prst="rect">
            <a:avLst/>
          </a:prstGeom>
          <a:noFill/>
          <a:ln>
            <a:noFill/>
          </a:ln>
        </p:spPr>
      </p:pic>
    </p:spTree>
    <p:extLst>
      <p:ext uri="{BB962C8B-B14F-4D97-AF65-F5344CB8AC3E}">
        <p14:creationId xmlns:p14="http://schemas.microsoft.com/office/powerpoint/2010/main" val="13918996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 name="CuadroTexto 1">
            <a:extLst>
              <a:ext uri="{FF2B5EF4-FFF2-40B4-BE49-F238E27FC236}">
                <a16:creationId xmlns:a16="http://schemas.microsoft.com/office/drawing/2014/main" id="{C67DC43B-B787-A477-B13F-69294B99ADF0}"/>
              </a:ext>
            </a:extLst>
          </p:cNvPr>
          <p:cNvSpPr txBox="1"/>
          <p:nvPr/>
        </p:nvSpPr>
        <p:spPr>
          <a:xfrm>
            <a:off x="5206658" y="658472"/>
            <a:ext cx="7874683" cy="593111"/>
          </a:xfrm>
          <a:prstGeom prst="rect">
            <a:avLst/>
          </a:prstGeom>
          <a:noFill/>
        </p:spPr>
        <p:txBody>
          <a:bodyPr wrap="square">
            <a:spAutoFit/>
          </a:bodyPr>
          <a:lstStyle/>
          <a:p>
            <a:pPr marL="0" marR="0" lvl="0" indent="0" algn="ctr" rtl="0">
              <a:lnSpc>
                <a:spcPct val="80357"/>
              </a:lnSpc>
              <a:spcBef>
                <a:spcPts val="0"/>
              </a:spcBef>
              <a:spcAft>
                <a:spcPts val="0"/>
              </a:spcAft>
              <a:buClr>
                <a:srgbClr val="1B1B1B"/>
              </a:buClr>
              <a:buSzPts val="2800"/>
              <a:buFont typeface="Calibri"/>
              <a:buNone/>
            </a:pPr>
            <a:r>
              <a:rPr lang="es-ES" sz="4000" b="1" dirty="0">
                <a:solidFill>
                  <a:schemeClr val="tx1">
                    <a:lumMod val="75000"/>
                    <a:lumOff val="25000"/>
                  </a:schemeClr>
                </a:solidFill>
                <a:latin typeface="Calibri"/>
                <a:ea typeface="Calibri"/>
                <a:cs typeface="Calibri"/>
                <a:sym typeface="Calibri"/>
              </a:rPr>
              <a:t>Justificación</a:t>
            </a:r>
            <a:endParaRPr lang="es-ES" sz="4000" i="1" dirty="0">
              <a:solidFill>
                <a:schemeClr val="tx1">
                  <a:lumMod val="75000"/>
                  <a:lumOff val="25000"/>
                </a:schemeClr>
              </a:solidFill>
            </a:endParaRPr>
          </a:p>
        </p:txBody>
      </p:sp>
      <p:pic>
        <p:nvPicPr>
          <p:cNvPr id="3074" name="Picture 2" descr="Cartoon Intestinal Tract Like Irritable Bowel Syndrome Icon Stock ...">
            <a:extLst>
              <a:ext uri="{FF2B5EF4-FFF2-40B4-BE49-F238E27FC236}">
                <a16:creationId xmlns:a16="http://schemas.microsoft.com/office/drawing/2014/main" id="{E982A16F-FB4C-DEB6-E7C9-046DDB7192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61268" y="2337292"/>
            <a:ext cx="6037023" cy="6037023"/>
          </a:xfrm>
          <a:prstGeom prst="rect">
            <a:avLst/>
          </a:prstGeom>
          <a:noFill/>
          <a:extLst>
            <a:ext uri="{909E8E84-426E-40DD-AFC4-6F175D3DCCD1}">
              <a14:hiddenFill xmlns:a14="http://schemas.microsoft.com/office/drawing/2010/main">
                <a:solidFill>
                  <a:srgbClr val="FFFFFF"/>
                </a:solidFill>
              </a14:hiddenFill>
            </a:ext>
          </a:extLst>
        </p:spPr>
      </p:pic>
      <p:sp>
        <p:nvSpPr>
          <p:cNvPr id="3" name="CuadroTexto 2">
            <a:extLst>
              <a:ext uri="{FF2B5EF4-FFF2-40B4-BE49-F238E27FC236}">
                <a16:creationId xmlns:a16="http://schemas.microsoft.com/office/drawing/2014/main" id="{98B1D81D-2822-8C41-26F2-C1F6EEC4AF34}"/>
              </a:ext>
            </a:extLst>
          </p:cNvPr>
          <p:cNvSpPr txBox="1"/>
          <p:nvPr/>
        </p:nvSpPr>
        <p:spPr>
          <a:xfrm>
            <a:off x="374073" y="8510434"/>
            <a:ext cx="17778941" cy="1569660"/>
          </a:xfrm>
          <a:prstGeom prst="rect">
            <a:avLst/>
          </a:prstGeom>
          <a:solidFill>
            <a:schemeClr val="accent5">
              <a:lumMod val="20000"/>
              <a:lumOff val="80000"/>
            </a:schemeClr>
          </a:solidFill>
          <a:ln>
            <a:solidFill>
              <a:schemeClr val="bg1"/>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algn="ctr"/>
            <a:endParaRPr lang="es-ES" sz="2400" dirty="0">
              <a:latin typeface="Source Sans Pro" panose="020B0503030403020204" pitchFamily="34" charset="0"/>
              <a:ea typeface="Source Sans Pro" panose="020B0503030403020204" pitchFamily="34" charset="0"/>
            </a:endParaRPr>
          </a:p>
          <a:p>
            <a:pPr algn="ctr"/>
            <a:r>
              <a:rPr lang="es-ES" sz="2400" dirty="0">
                <a:latin typeface="Source Sans Pro" panose="020B0503030403020204" pitchFamily="34" charset="0"/>
                <a:ea typeface="Source Sans Pro" panose="020B0503030403020204" pitchFamily="34" charset="0"/>
              </a:rPr>
              <a:t> “Integrar ambas dimensiones podría abrir nuevas posibilidades para la identificación de biomarcadores combinados con </a:t>
            </a:r>
            <a:r>
              <a:rPr lang="es-ES" sz="2400" b="1" i="1" dirty="0">
                <a:latin typeface="Source Sans Pro" panose="020B0503030403020204" pitchFamily="34" charset="0"/>
                <a:ea typeface="Source Sans Pro" panose="020B0503030403020204" pitchFamily="34" charset="0"/>
              </a:rPr>
              <a:t>valor diagnóstico y pronóstico</a:t>
            </a:r>
            <a:r>
              <a:rPr lang="es-ES" sz="2400" dirty="0">
                <a:latin typeface="Source Sans Pro" panose="020B0503030403020204" pitchFamily="34" charset="0"/>
                <a:ea typeface="Source Sans Pro" panose="020B0503030403020204" pitchFamily="34" charset="0"/>
              </a:rPr>
              <a:t> en pacientes CU de alto riesgo para desarrollar CCR”</a:t>
            </a:r>
          </a:p>
          <a:p>
            <a:pPr algn="ctr"/>
            <a:endParaRPr lang="es-ES" sz="2400" b="1" dirty="0">
              <a:latin typeface="Source Sans Pro" panose="020B0503030403020204" pitchFamily="34" charset="0"/>
              <a:ea typeface="Source Sans Pro" panose="020B0503030403020204" pitchFamily="34" charset="0"/>
            </a:endParaRPr>
          </a:p>
        </p:txBody>
      </p:sp>
      <p:pic>
        <p:nvPicPr>
          <p:cNvPr id="4" name="Google Shape;93;p1" descr="No hay ninguna descripción de la foto disponible.">
            <a:extLst>
              <a:ext uri="{FF2B5EF4-FFF2-40B4-BE49-F238E27FC236}">
                <a16:creationId xmlns:a16="http://schemas.microsoft.com/office/drawing/2014/main" id="{AB0C9862-6A99-72EE-6B54-FD79CE0DD133}"/>
              </a:ext>
            </a:extLst>
          </p:cNvPr>
          <p:cNvPicPr preferRelativeResize="0"/>
          <p:nvPr/>
        </p:nvPicPr>
        <p:blipFill rotWithShape="1">
          <a:blip r:embed="rId4">
            <a:alphaModFix/>
          </a:blip>
          <a:srcRect l="26238" t="22935" r="26586" b="20031"/>
          <a:stretch>
            <a:fillRect/>
          </a:stretch>
        </p:blipFill>
        <p:spPr>
          <a:xfrm>
            <a:off x="2608877" y="234526"/>
            <a:ext cx="1432577" cy="744819"/>
          </a:xfrm>
          <a:prstGeom prst="rect">
            <a:avLst/>
          </a:prstGeom>
          <a:noFill/>
          <a:ln>
            <a:noFill/>
          </a:ln>
        </p:spPr>
      </p:pic>
      <p:pic>
        <p:nvPicPr>
          <p:cNvPr id="5" name="Google Shape;94;p1" descr="Universidad El Bosque in Colombia : Reviews &amp; Rankings | Student ...">
            <a:extLst>
              <a:ext uri="{FF2B5EF4-FFF2-40B4-BE49-F238E27FC236}">
                <a16:creationId xmlns:a16="http://schemas.microsoft.com/office/drawing/2014/main" id="{FEEFC14A-9EBD-88B3-BCCB-552C0998007C}"/>
              </a:ext>
            </a:extLst>
          </p:cNvPr>
          <p:cNvPicPr preferRelativeResize="0"/>
          <p:nvPr/>
        </p:nvPicPr>
        <p:blipFill rotWithShape="1">
          <a:blip r:embed="rId5">
            <a:alphaModFix/>
          </a:blip>
          <a:srcRect l="14020" t="34765" r="17993" b="25071"/>
          <a:stretch>
            <a:fillRect/>
          </a:stretch>
        </p:blipFill>
        <p:spPr>
          <a:xfrm>
            <a:off x="509057" y="337599"/>
            <a:ext cx="1978341" cy="641746"/>
          </a:xfrm>
          <a:prstGeom prst="rect">
            <a:avLst/>
          </a:prstGeom>
          <a:noFill/>
          <a:ln>
            <a:noFill/>
          </a:ln>
        </p:spPr>
      </p:pic>
      <p:sp>
        <p:nvSpPr>
          <p:cNvPr id="7" name="CuadroTexto 6">
            <a:extLst>
              <a:ext uri="{FF2B5EF4-FFF2-40B4-BE49-F238E27FC236}">
                <a16:creationId xmlns:a16="http://schemas.microsoft.com/office/drawing/2014/main" id="{C0E30259-3888-6445-0F1E-5A3E11EB7F85}"/>
              </a:ext>
            </a:extLst>
          </p:cNvPr>
          <p:cNvSpPr txBox="1"/>
          <p:nvPr/>
        </p:nvSpPr>
        <p:spPr>
          <a:xfrm>
            <a:off x="4691543" y="1523821"/>
            <a:ext cx="9144000" cy="707886"/>
          </a:xfrm>
          <a:prstGeom prst="rect">
            <a:avLst/>
          </a:prstGeom>
          <a:noFill/>
          <a:ln>
            <a:solidFill>
              <a:schemeClr val="tx1"/>
            </a:solidFill>
            <a:prstDash val="sysDot"/>
          </a:ln>
        </p:spPr>
        <p:txBody>
          <a:bodyPr wrap="square">
            <a:spAutoFit/>
          </a:bodyPr>
          <a:lstStyle/>
          <a:p>
            <a:pPr lvl="0" algn="ctr">
              <a:lnSpc>
                <a:spcPct val="100000"/>
              </a:lnSpc>
            </a:pPr>
            <a:r>
              <a:rPr lang="es-ES" sz="2000" b="0" i="0" dirty="0">
                <a:latin typeface="Source Sans Pro" panose="020B0503030403020204" pitchFamily="34" charset="0"/>
                <a:ea typeface="Source Sans Pro" panose="020B0503030403020204" pitchFamily="34" charset="0"/>
              </a:rPr>
              <a:t>Escasa información de estudio de patrones de metilación del </a:t>
            </a:r>
            <a:r>
              <a:rPr lang="es-ES" sz="2000" b="0" i="0" dirty="0" err="1">
                <a:latin typeface="Source Sans Pro" panose="020B0503030403020204" pitchFamily="34" charset="0"/>
                <a:ea typeface="Source Sans Pro" panose="020B0503030403020204" pitchFamily="34" charset="0"/>
              </a:rPr>
              <a:t>cfDNA</a:t>
            </a:r>
            <a:r>
              <a:rPr lang="es-ES" sz="2000" b="0" i="0" dirty="0">
                <a:latin typeface="Source Sans Pro" panose="020B0503030403020204" pitchFamily="34" charset="0"/>
                <a:ea typeface="Source Sans Pro" panose="020B0503030403020204" pitchFamily="34" charset="0"/>
              </a:rPr>
              <a:t> en plasma de los pacientes con CU severa y su asociación en la regulación de producción de </a:t>
            </a:r>
            <a:r>
              <a:rPr lang="es-ES" sz="2000" b="0" i="0" dirty="0" err="1">
                <a:latin typeface="Source Sans Pro" panose="020B0503030403020204" pitchFamily="34" charset="0"/>
                <a:ea typeface="Source Sans Pro" panose="020B0503030403020204" pitchFamily="34" charset="0"/>
              </a:rPr>
              <a:t>SIgA</a:t>
            </a:r>
            <a:endParaRPr lang="es-ES" sz="2000" b="0" i="0" dirty="0">
              <a:latin typeface="Source Sans Pro" panose="020B0503030403020204" pitchFamily="34" charset="0"/>
              <a:ea typeface="Source Sans Pro" panose="020B0503030403020204" pitchFamily="34" charset="0"/>
            </a:endParaRPr>
          </a:p>
        </p:txBody>
      </p:sp>
      <p:graphicFrame>
        <p:nvGraphicFramePr>
          <p:cNvPr id="3076" name="Google Shape;217;p9">
            <a:extLst>
              <a:ext uri="{FF2B5EF4-FFF2-40B4-BE49-F238E27FC236}">
                <a16:creationId xmlns:a16="http://schemas.microsoft.com/office/drawing/2014/main" id="{75842896-6E3C-9744-2AEB-954DEC3515FC}"/>
              </a:ext>
            </a:extLst>
          </p:cNvPr>
          <p:cNvGraphicFramePr/>
          <p:nvPr>
            <p:extLst>
              <p:ext uri="{D42A27DB-BD31-4B8C-83A1-F6EECF244321}">
                <p14:modId xmlns:p14="http://schemas.microsoft.com/office/powerpoint/2010/main" val="3540782252"/>
              </p:ext>
            </p:extLst>
          </p:nvPr>
        </p:nvGraphicFramePr>
        <p:xfrm>
          <a:off x="1316180" y="2681985"/>
          <a:ext cx="9370141" cy="555621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19"/>
          <p:cNvSpPr txBox="1"/>
          <p:nvPr/>
        </p:nvSpPr>
        <p:spPr>
          <a:xfrm>
            <a:off x="3399365" y="605875"/>
            <a:ext cx="12123173" cy="2335255"/>
          </a:xfrm>
          <a:prstGeom prst="rect">
            <a:avLst/>
          </a:prstGeom>
          <a:noFill/>
          <a:ln>
            <a:solidFill>
              <a:schemeClr val="bg1"/>
            </a:solidFill>
          </a:ln>
        </p:spPr>
        <p:style>
          <a:lnRef idx="1">
            <a:schemeClr val="accent4"/>
          </a:lnRef>
          <a:fillRef idx="2">
            <a:schemeClr val="accent4"/>
          </a:fillRef>
          <a:effectRef idx="1">
            <a:schemeClr val="accent4"/>
          </a:effectRef>
          <a:fontRef idx="minor">
            <a:schemeClr val="dk1"/>
          </a:fontRef>
        </p:style>
        <p:txBody>
          <a:bodyPr spcFirstLastPara="1" wrap="square" lIns="0" tIns="0" rIns="0" bIns="0" anchor="t" anchorCtr="0">
            <a:spAutoFit/>
          </a:bodyPr>
          <a:lstStyle/>
          <a:p>
            <a:pPr marL="0" marR="0" lvl="0" indent="0" algn="ctr" rtl="0">
              <a:lnSpc>
                <a:spcPct val="186666"/>
              </a:lnSpc>
              <a:spcBef>
                <a:spcPts val="0"/>
              </a:spcBef>
              <a:spcAft>
                <a:spcPts val="0"/>
              </a:spcAft>
              <a:buNone/>
            </a:pPr>
            <a:endParaRPr sz="2500" dirty="0">
              <a:solidFill>
                <a:schemeClr val="dk1"/>
              </a:solidFill>
              <a:latin typeface="Source Sans Pro" panose="020B0503030403020204" pitchFamily="34" charset="0"/>
              <a:ea typeface="Source Sans Pro" panose="020B0503030403020204" pitchFamily="34" charset="0"/>
              <a:cs typeface="Calibri"/>
              <a:sym typeface="Calibri"/>
            </a:endParaRPr>
          </a:p>
          <a:p>
            <a:pPr algn="ctr">
              <a:lnSpc>
                <a:spcPct val="140000"/>
              </a:lnSpc>
            </a:pPr>
            <a:r>
              <a:rPr lang="es-ES" sz="2500" dirty="0">
                <a:latin typeface="Source Sans Pro" panose="020B0503030403020204" pitchFamily="34" charset="0"/>
                <a:ea typeface="Source Sans Pro" panose="020B0503030403020204" pitchFamily="34" charset="0"/>
              </a:rPr>
              <a:t>Establecer la asociación entre la firma de metilación en biopsia líquida y de tejido colónico con los niveles de </a:t>
            </a:r>
            <a:r>
              <a:rPr lang="es-ES" sz="2500" i="1" dirty="0" err="1">
                <a:latin typeface="Source Sans Pro" panose="020B0503030403020204" pitchFamily="34" charset="0"/>
                <a:ea typeface="Source Sans Pro" panose="020B0503030403020204" pitchFamily="34" charset="0"/>
              </a:rPr>
              <a:t>SIgA</a:t>
            </a:r>
            <a:r>
              <a:rPr lang="es-ES" sz="2500" dirty="0">
                <a:latin typeface="Source Sans Pro" panose="020B0503030403020204" pitchFamily="34" charset="0"/>
                <a:ea typeface="Source Sans Pro" panose="020B0503030403020204" pitchFamily="34" charset="0"/>
              </a:rPr>
              <a:t> en pacientes con CU de alto riesgo para desarrollar CCR</a:t>
            </a:r>
          </a:p>
          <a:p>
            <a:pPr marL="0" marR="0" lvl="0" indent="0" algn="ctr" rtl="0">
              <a:lnSpc>
                <a:spcPct val="140000"/>
              </a:lnSpc>
              <a:spcBef>
                <a:spcPts val="0"/>
              </a:spcBef>
              <a:spcAft>
                <a:spcPts val="0"/>
              </a:spcAft>
              <a:buNone/>
            </a:pPr>
            <a:r>
              <a:rPr lang="en-US" sz="2500" dirty="0">
                <a:solidFill>
                  <a:srgbClr val="000000"/>
                </a:solidFill>
                <a:latin typeface="Source Sans Pro" panose="020B0503030403020204" pitchFamily="34" charset="0"/>
                <a:ea typeface="Source Sans Pro" panose="020B0503030403020204" pitchFamily="34" charset="0"/>
                <a:cs typeface="Arial"/>
                <a:sym typeface="Arial"/>
              </a:rPr>
              <a:t> </a:t>
            </a:r>
            <a:endParaRPr sz="2500" dirty="0">
              <a:latin typeface="Source Sans Pro" panose="020B0503030403020204" pitchFamily="34" charset="0"/>
              <a:ea typeface="Source Sans Pro" panose="020B0503030403020204" pitchFamily="34" charset="0"/>
            </a:endParaRPr>
          </a:p>
        </p:txBody>
      </p:sp>
      <p:sp>
        <p:nvSpPr>
          <p:cNvPr id="279" name="Google Shape;279;p19"/>
          <p:cNvSpPr txBox="1"/>
          <p:nvPr/>
        </p:nvSpPr>
        <p:spPr>
          <a:xfrm>
            <a:off x="3654570" y="3950874"/>
            <a:ext cx="11612761" cy="5065233"/>
          </a:xfrm>
          <a:prstGeom prst="rect">
            <a:avLst/>
          </a:prstGeom>
          <a:ln>
            <a:solidFill>
              <a:schemeClr val="bg1"/>
            </a:solidFill>
          </a:ln>
        </p:spPr>
        <p:style>
          <a:lnRef idx="2">
            <a:schemeClr val="accent4"/>
          </a:lnRef>
          <a:fillRef idx="1">
            <a:schemeClr val="lt1"/>
          </a:fillRef>
          <a:effectRef idx="0">
            <a:schemeClr val="accent4"/>
          </a:effectRef>
          <a:fontRef idx="minor">
            <a:schemeClr val="dk1"/>
          </a:fontRef>
        </p:style>
        <p:txBody>
          <a:bodyPr spcFirstLastPara="1" wrap="square" lIns="0" tIns="0" rIns="0" bIns="0" anchor="t" anchorCtr="0">
            <a:spAutoFit/>
          </a:bodyPr>
          <a:lstStyle/>
          <a:p>
            <a:pPr marL="0" marR="0" lvl="0" indent="0" algn="l" rtl="0">
              <a:lnSpc>
                <a:spcPct val="140040"/>
              </a:lnSpc>
              <a:spcBef>
                <a:spcPts val="0"/>
              </a:spcBef>
              <a:spcAft>
                <a:spcPts val="0"/>
              </a:spcAft>
              <a:buNone/>
            </a:pPr>
            <a:r>
              <a:rPr lang="en-US" sz="2000" b="1" dirty="0">
                <a:solidFill>
                  <a:srgbClr val="000000"/>
                </a:solidFill>
                <a:latin typeface="Arial"/>
                <a:ea typeface="Arial"/>
                <a:cs typeface="Arial"/>
                <a:sym typeface="Arial"/>
              </a:rPr>
              <a:t>OBJETIVOS ESPECÍFICOS</a:t>
            </a:r>
            <a:endParaRPr sz="1600" dirty="0"/>
          </a:p>
          <a:p>
            <a:pPr marL="0" marR="0" lvl="0" indent="0" algn="l" rtl="0">
              <a:lnSpc>
                <a:spcPct val="161061"/>
              </a:lnSpc>
              <a:spcBef>
                <a:spcPts val="0"/>
              </a:spcBef>
              <a:spcAft>
                <a:spcPts val="0"/>
              </a:spcAft>
              <a:buNone/>
            </a:pPr>
            <a:endParaRPr sz="1800" b="1" dirty="0">
              <a:solidFill>
                <a:srgbClr val="000000"/>
              </a:solidFill>
              <a:latin typeface="Arial"/>
              <a:ea typeface="Arial"/>
              <a:cs typeface="Arial"/>
              <a:sym typeface="Arial"/>
            </a:endParaRPr>
          </a:p>
          <a:p>
            <a:pPr algn="just"/>
            <a:r>
              <a:rPr lang="es-ES" sz="2400" dirty="0"/>
              <a:t>1.Caracterizar los </a:t>
            </a:r>
            <a:r>
              <a:rPr lang="es-ES" sz="2400" b="1" dirty="0"/>
              <a:t>perfiles de metilación de ADN libres en plasma</a:t>
            </a:r>
            <a:r>
              <a:rPr lang="es-ES" sz="2400" dirty="0"/>
              <a:t> y </a:t>
            </a:r>
            <a:r>
              <a:rPr lang="es-ES" sz="2400" b="1" dirty="0"/>
              <a:t>en biopsias de colon de </a:t>
            </a:r>
            <a:r>
              <a:rPr lang="es-ES" sz="2400" dirty="0"/>
              <a:t>pacientes con </a:t>
            </a:r>
            <a:r>
              <a:rPr lang="es-ES" sz="2400" b="1" dirty="0"/>
              <a:t>CU</a:t>
            </a:r>
            <a:r>
              <a:rPr lang="es-ES" sz="2400" dirty="0"/>
              <a:t> con </a:t>
            </a:r>
            <a:r>
              <a:rPr lang="es-ES" sz="2400" b="1" dirty="0"/>
              <a:t>alto riesgo de cáncer colorrectal</a:t>
            </a:r>
            <a:r>
              <a:rPr lang="es-ES" sz="2400" dirty="0"/>
              <a:t>.</a:t>
            </a:r>
          </a:p>
          <a:p>
            <a:pPr algn="just"/>
            <a:r>
              <a:rPr lang="es-ES" sz="2400" dirty="0"/>
              <a:t>2.Comparar los perfiles de metilación de ADN libres en plasma y en biopsias de colon de pacientes con CU frente a controles sanos y con CCR</a:t>
            </a:r>
          </a:p>
          <a:p>
            <a:pPr algn="just"/>
            <a:r>
              <a:rPr lang="es-ES" sz="2400" dirty="0"/>
              <a:t>3.Asociar los </a:t>
            </a:r>
            <a:r>
              <a:rPr lang="es-ES" sz="2400" b="1" dirty="0"/>
              <a:t>niveles de </a:t>
            </a:r>
            <a:r>
              <a:rPr lang="es-ES" sz="2400" b="1" dirty="0" err="1"/>
              <a:t>SIgA</a:t>
            </a:r>
            <a:r>
              <a:rPr lang="es-ES" sz="2400" b="1" dirty="0"/>
              <a:t> sérica</a:t>
            </a:r>
            <a:r>
              <a:rPr lang="es-ES" sz="2400" dirty="0"/>
              <a:t> y la firma de metilación identificada en biopsias líquidas y de tejido colónico de pacientes con CU que presentan síntomas de alto riesgo de cáncer colorrectal.</a:t>
            </a:r>
          </a:p>
          <a:p>
            <a:pPr algn="just"/>
            <a:r>
              <a:rPr lang="es-ES" sz="2400" dirty="0"/>
              <a:t>4. Analizar las asociaciones entre los patrones de </a:t>
            </a:r>
            <a:r>
              <a:rPr lang="es-ES" sz="2400" b="1" dirty="0"/>
              <a:t>metilación, los niveles de IgA secretora y los marcadores de inflamación</a:t>
            </a:r>
            <a:r>
              <a:rPr lang="es-ES" sz="2400" dirty="0"/>
              <a:t> en pacientes con CU con alto riesgo de CCR.</a:t>
            </a:r>
          </a:p>
          <a:p>
            <a:pPr marL="0" marR="0" lvl="0" indent="0" algn="l" rtl="0">
              <a:lnSpc>
                <a:spcPct val="140034"/>
              </a:lnSpc>
              <a:spcBef>
                <a:spcPts val="0"/>
              </a:spcBef>
              <a:spcAft>
                <a:spcPts val="0"/>
              </a:spcAft>
              <a:buNone/>
            </a:pPr>
            <a:endParaRPr sz="2298" dirty="0">
              <a:solidFill>
                <a:srgbClr val="000000"/>
              </a:solidFill>
              <a:latin typeface="Arial"/>
              <a:ea typeface="Arial"/>
              <a:cs typeface="Arial"/>
              <a:sym typeface="Arial"/>
            </a:endParaRPr>
          </a:p>
        </p:txBody>
      </p:sp>
      <p:pic>
        <p:nvPicPr>
          <p:cNvPr id="3" name="Imagen 2">
            <a:extLst>
              <a:ext uri="{FF2B5EF4-FFF2-40B4-BE49-F238E27FC236}">
                <a16:creationId xmlns:a16="http://schemas.microsoft.com/office/drawing/2014/main" id="{0DC58435-0985-E2C8-9198-FD343633BA0F}"/>
              </a:ext>
            </a:extLst>
          </p:cNvPr>
          <p:cNvPicPr>
            <a:picLocks noChangeAspect="1"/>
          </p:cNvPicPr>
          <p:nvPr/>
        </p:nvPicPr>
        <p:blipFill>
          <a:blip r:embed="rId3"/>
          <a:stretch>
            <a:fillRect/>
          </a:stretch>
        </p:blipFill>
        <p:spPr>
          <a:xfrm>
            <a:off x="-96982" y="0"/>
            <a:ext cx="18288000" cy="10408768"/>
          </a:xfrm>
          <a:prstGeom prst="rect">
            <a:avLst/>
          </a:prstGeom>
        </p:spPr>
      </p:pic>
      <p:pic>
        <p:nvPicPr>
          <p:cNvPr id="2" name="Google Shape;93;p1" descr="No hay ninguna descripción de la foto disponible.">
            <a:extLst>
              <a:ext uri="{FF2B5EF4-FFF2-40B4-BE49-F238E27FC236}">
                <a16:creationId xmlns:a16="http://schemas.microsoft.com/office/drawing/2014/main" id="{A3C5E564-3F08-58CF-0761-1BC10236B2CE}"/>
              </a:ext>
            </a:extLst>
          </p:cNvPr>
          <p:cNvPicPr preferRelativeResize="0"/>
          <p:nvPr/>
        </p:nvPicPr>
        <p:blipFill rotWithShape="1">
          <a:blip r:embed="rId4">
            <a:alphaModFix/>
          </a:blip>
          <a:srcRect l="26238" t="22935" r="26586" b="20031"/>
          <a:stretch>
            <a:fillRect/>
          </a:stretch>
        </p:blipFill>
        <p:spPr>
          <a:xfrm>
            <a:off x="15572314" y="9188181"/>
            <a:ext cx="1432577" cy="744819"/>
          </a:xfrm>
          <a:prstGeom prst="rect">
            <a:avLst/>
          </a:prstGeom>
          <a:noFill/>
          <a:ln>
            <a:noFill/>
          </a:ln>
        </p:spPr>
      </p:pic>
      <p:pic>
        <p:nvPicPr>
          <p:cNvPr id="4" name="Google Shape;94;p1" descr="Universidad El Bosque in Colombia : Reviews &amp; Rankings | Student ...">
            <a:extLst>
              <a:ext uri="{FF2B5EF4-FFF2-40B4-BE49-F238E27FC236}">
                <a16:creationId xmlns:a16="http://schemas.microsoft.com/office/drawing/2014/main" id="{FFFF666C-C06F-CF77-6A71-6C424780D706}"/>
              </a:ext>
            </a:extLst>
          </p:cNvPr>
          <p:cNvPicPr preferRelativeResize="0"/>
          <p:nvPr/>
        </p:nvPicPr>
        <p:blipFill rotWithShape="1">
          <a:blip r:embed="rId5">
            <a:alphaModFix/>
          </a:blip>
          <a:srcRect l="14020" t="34765" r="17993" b="25071"/>
          <a:stretch>
            <a:fillRect/>
          </a:stretch>
        </p:blipFill>
        <p:spPr>
          <a:xfrm>
            <a:off x="13472494" y="9291254"/>
            <a:ext cx="1978341" cy="64174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92" name="Google Shape;292;p20"/>
          <p:cNvSpPr txBox="1"/>
          <p:nvPr/>
        </p:nvSpPr>
        <p:spPr>
          <a:xfrm>
            <a:off x="1021154" y="4074702"/>
            <a:ext cx="7149219" cy="2154436"/>
          </a:xfrm>
          <a:prstGeom prst="rect">
            <a:avLst/>
          </a:prstGeom>
          <a:solidFill>
            <a:schemeClr val="accent5">
              <a:lumMod val="20000"/>
              <a:lumOff val="80000"/>
            </a:schemeClr>
          </a:solidFill>
          <a:ln>
            <a:solidFill>
              <a:schemeClr val="bg1"/>
            </a:solidFill>
            <a:headEnd type="none" w="sm" len="sm"/>
            <a:tailEnd type="none" w="sm" len="sm"/>
          </a:ln>
        </p:spPr>
        <p:style>
          <a:lnRef idx="2">
            <a:schemeClr val="accent4"/>
          </a:lnRef>
          <a:fillRef idx="1">
            <a:schemeClr val="lt1"/>
          </a:fillRef>
          <a:effectRef idx="0">
            <a:schemeClr val="accent4"/>
          </a:effectRef>
          <a:fontRef idx="minor">
            <a:schemeClr val="dk1"/>
          </a:fontRef>
        </p:style>
        <p:txBody>
          <a:bodyPr spcFirstLastPara="1" wrap="square" lIns="0" tIns="0" rIns="0" bIns="0" anchor="t" anchorCtr="0">
            <a:spAutoFit/>
          </a:bodyPr>
          <a:lstStyle/>
          <a:p>
            <a:pPr marL="0" marR="0" lvl="0" indent="0" algn="ctr" rtl="0">
              <a:lnSpc>
                <a:spcPct val="140029"/>
              </a:lnSpc>
              <a:spcBef>
                <a:spcPts val="0"/>
              </a:spcBef>
              <a:spcAft>
                <a:spcPts val="0"/>
              </a:spcAft>
              <a:buNone/>
            </a:pPr>
            <a:r>
              <a:rPr lang="en-US" sz="2000" dirty="0">
                <a:solidFill>
                  <a:srgbClr val="000000"/>
                </a:solidFill>
                <a:latin typeface="Source Sans Pro"/>
                <a:ea typeface="Source Sans Pro"/>
                <a:cs typeface="Arial"/>
                <a:sym typeface="Arial"/>
              </a:rPr>
              <a:t> </a:t>
            </a:r>
            <a:r>
              <a:rPr lang="en-US" sz="2000" b="1">
                <a:solidFill>
                  <a:srgbClr val="000000"/>
                </a:solidFill>
                <a:latin typeface="Source Sans Pro"/>
                <a:ea typeface="Source Sans Pro"/>
                <a:cs typeface="Arial"/>
                <a:sym typeface="Arial"/>
              </a:rPr>
              <a:t>Diseño</a:t>
            </a:r>
            <a:endParaRPr lang="en-US" sz="2000" b="1">
              <a:solidFill>
                <a:srgbClr val="000000"/>
              </a:solidFill>
              <a:latin typeface="Source Sans Pro"/>
              <a:ea typeface="Source Sans Pro"/>
              <a:cs typeface="Arial"/>
            </a:endParaRPr>
          </a:p>
          <a:p>
            <a:pPr algn="ctr">
              <a:lnSpc>
                <a:spcPct val="140029"/>
              </a:lnSpc>
            </a:pPr>
            <a:r>
              <a:rPr lang="en-US" sz="3000" i="1" err="1">
                <a:solidFill>
                  <a:srgbClr val="000000"/>
                </a:solidFill>
                <a:latin typeface="Source Sans Pro"/>
                <a:ea typeface="Source Sans Pro"/>
                <a:cs typeface="Arial"/>
                <a:sym typeface="Arial"/>
              </a:rPr>
              <a:t>Estudio</a:t>
            </a:r>
            <a:r>
              <a:rPr lang="en-US" sz="3000" i="1" dirty="0">
                <a:solidFill>
                  <a:srgbClr val="000000"/>
                </a:solidFill>
                <a:latin typeface="Source Sans Pro"/>
                <a:ea typeface="Source Sans Pro"/>
                <a:cs typeface="Arial"/>
                <a:sym typeface="Arial"/>
              </a:rPr>
              <a:t> </a:t>
            </a:r>
            <a:r>
              <a:rPr lang="en-US" sz="3000" i="1">
                <a:solidFill>
                  <a:srgbClr val="000000"/>
                </a:solidFill>
                <a:latin typeface="Source Sans Pro"/>
                <a:ea typeface="Source Sans Pro"/>
                <a:cs typeface="Arial"/>
                <a:sym typeface="Arial"/>
              </a:rPr>
              <a:t>descriptivo</a:t>
            </a:r>
            <a:r>
              <a:rPr lang="en-US" sz="3000" i="1">
                <a:solidFill>
                  <a:srgbClr val="000000"/>
                </a:solidFill>
                <a:latin typeface="Source Sans Pro"/>
                <a:ea typeface="Source Sans Pro"/>
                <a:cs typeface="Arial"/>
              </a:rPr>
              <a:t> -</a:t>
            </a:r>
            <a:r>
              <a:rPr lang="en-US" sz="3000" i="1" dirty="0">
                <a:solidFill>
                  <a:srgbClr val="000000"/>
                </a:solidFill>
                <a:latin typeface="Source Sans Pro"/>
                <a:ea typeface="Source Sans Pro"/>
                <a:cs typeface="Arial"/>
                <a:sym typeface="Arial"/>
              </a:rPr>
              <a:t> transversal </a:t>
            </a:r>
            <a:r>
              <a:rPr lang="en-US" sz="3000" i="1" dirty="0">
                <a:solidFill>
                  <a:srgbClr val="000000"/>
                </a:solidFill>
                <a:latin typeface="Source Sans Pro"/>
                <a:ea typeface="Source Sans Pro"/>
                <a:cs typeface="Arial"/>
              </a:rPr>
              <a:t>- </a:t>
            </a:r>
            <a:r>
              <a:rPr lang="en-US" sz="3000" i="1" dirty="0">
                <a:solidFill>
                  <a:srgbClr val="000000"/>
                </a:solidFill>
                <a:latin typeface="Source Sans Pro"/>
                <a:ea typeface="Source Sans Pro"/>
                <a:cs typeface="Arial"/>
                <a:sym typeface="Arial"/>
              </a:rPr>
              <a:t>con </a:t>
            </a:r>
            <a:r>
              <a:rPr lang="en-US" sz="3000" i="1" err="1">
                <a:solidFill>
                  <a:srgbClr val="000000"/>
                </a:solidFill>
                <a:latin typeface="Source Sans Pro"/>
                <a:ea typeface="Source Sans Pro"/>
                <a:cs typeface="Arial"/>
                <a:sym typeface="Arial"/>
              </a:rPr>
              <a:t>componente</a:t>
            </a:r>
            <a:r>
              <a:rPr lang="en-US" sz="3000" i="1" dirty="0">
                <a:solidFill>
                  <a:srgbClr val="000000"/>
                </a:solidFill>
                <a:latin typeface="Source Sans Pro"/>
                <a:ea typeface="Source Sans Pro"/>
                <a:cs typeface="Arial"/>
                <a:sym typeface="Arial"/>
              </a:rPr>
              <a:t> analítico</a:t>
            </a:r>
            <a:endParaRPr lang="en-US" sz="3000" i="1" dirty="0">
              <a:solidFill>
                <a:srgbClr val="000000"/>
              </a:solidFill>
              <a:latin typeface="Source Sans Pro"/>
              <a:ea typeface="Source Sans Pro"/>
              <a:cs typeface="Arial"/>
            </a:endParaRPr>
          </a:p>
          <a:p>
            <a:pPr algn="ctr">
              <a:lnSpc>
                <a:spcPct val="140029"/>
              </a:lnSpc>
            </a:pPr>
            <a:endParaRPr lang="en-US" sz="2000" dirty="0">
              <a:latin typeface="Source Sans Pro"/>
              <a:ea typeface="Source Sans Pro"/>
              <a:cs typeface="Arial"/>
            </a:endParaRPr>
          </a:p>
        </p:txBody>
      </p:sp>
      <p:sp>
        <p:nvSpPr>
          <p:cNvPr id="293" name="Google Shape;293;p20"/>
          <p:cNvSpPr txBox="1"/>
          <p:nvPr/>
        </p:nvSpPr>
        <p:spPr>
          <a:xfrm>
            <a:off x="9833428" y="2065999"/>
            <a:ext cx="6811213" cy="3016210"/>
          </a:xfrm>
          <a:prstGeom prst="rect">
            <a:avLst/>
          </a:prstGeom>
          <a:ln>
            <a:solidFill>
              <a:schemeClr val="tx1">
                <a:lumMod val="75000"/>
                <a:lumOff val="25000"/>
              </a:schemeClr>
            </a:solidFill>
          </a:ln>
        </p:spPr>
        <p:style>
          <a:lnRef idx="2">
            <a:schemeClr val="accent4"/>
          </a:lnRef>
          <a:fillRef idx="1">
            <a:schemeClr val="lt1"/>
          </a:fillRef>
          <a:effectRef idx="0">
            <a:schemeClr val="accent4"/>
          </a:effectRef>
          <a:fontRef idx="minor">
            <a:schemeClr val="dk1"/>
          </a:fontRef>
        </p:style>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000" dirty="0">
                <a:solidFill>
                  <a:srgbClr val="000000"/>
                </a:solidFill>
                <a:latin typeface="Source Sans Pro"/>
                <a:ea typeface="Source Sans Pro"/>
                <a:cs typeface="Arial"/>
                <a:sym typeface="Arial"/>
              </a:rPr>
              <a:t> </a:t>
            </a:r>
            <a:r>
              <a:rPr lang="en-US" sz="2000" b="1" dirty="0">
                <a:solidFill>
                  <a:srgbClr val="000000"/>
                </a:solidFill>
                <a:latin typeface="Source Sans Pro"/>
                <a:ea typeface="Source Sans Pro"/>
                <a:cs typeface="Arial"/>
                <a:sym typeface="Arial"/>
              </a:rPr>
              <a:t>Población de </a:t>
            </a:r>
            <a:r>
              <a:rPr lang="en-US" sz="2000" b="1" dirty="0" err="1">
                <a:solidFill>
                  <a:srgbClr val="000000"/>
                </a:solidFill>
                <a:latin typeface="Source Sans Pro"/>
                <a:ea typeface="Source Sans Pro"/>
                <a:cs typeface="Arial"/>
                <a:sym typeface="Arial"/>
              </a:rPr>
              <a:t>estudio</a:t>
            </a:r>
            <a:r>
              <a:rPr lang="en-US" sz="2000" b="1" dirty="0">
                <a:solidFill>
                  <a:srgbClr val="000000"/>
                </a:solidFill>
                <a:latin typeface="Source Sans Pro"/>
                <a:ea typeface="Source Sans Pro"/>
                <a:cs typeface="Arial"/>
                <a:sym typeface="Arial"/>
              </a:rPr>
              <a:t>:</a:t>
            </a:r>
            <a:endParaRPr sz="1600" dirty="0">
              <a:latin typeface="Source Sans Pro"/>
              <a:ea typeface="Source Sans Pro"/>
            </a:endParaRPr>
          </a:p>
          <a:p>
            <a:pPr marR="0" lvl="0" algn="ctr" rtl="0">
              <a:lnSpc>
                <a:spcPct val="140000"/>
              </a:lnSpc>
              <a:spcBef>
                <a:spcPts val="0"/>
              </a:spcBef>
              <a:spcAft>
                <a:spcPts val="0"/>
              </a:spcAft>
            </a:pPr>
            <a:r>
              <a:rPr lang="en-US" sz="2000" dirty="0">
                <a:solidFill>
                  <a:srgbClr val="000000"/>
                </a:solidFill>
                <a:latin typeface="Source Sans Pro"/>
                <a:ea typeface="Source Sans Pro"/>
                <a:cs typeface="Arial"/>
                <a:sym typeface="Arial"/>
              </a:rPr>
              <a:t>Pacientes con CU </a:t>
            </a:r>
            <a:r>
              <a:rPr lang="en-US" sz="2000" dirty="0" err="1">
                <a:solidFill>
                  <a:srgbClr val="000000"/>
                </a:solidFill>
                <a:latin typeface="Source Sans Pro"/>
                <a:ea typeface="Source Sans Pro"/>
                <a:cs typeface="Arial"/>
                <a:sym typeface="Arial"/>
              </a:rPr>
              <a:t>confirmado</a:t>
            </a:r>
            <a:r>
              <a:rPr lang="en-US" sz="2000" dirty="0">
                <a:solidFill>
                  <a:srgbClr val="000000"/>
                </a:solidFill>
                <a:latin typeface="Source Sans Pro"/>
                <a:ea typeface="Source Sans Pro"/>
                <a:cs typeface="Arial"/>
                <a:sym typeface="Arial"/>
              </a:rPr>
              <a:t>.</a:t>
            </a:r>
            <a:endParaRPr sz="1600" dirty="0">
              <a:latin typeface="Source Sans Pro"/>
              <a:ea typeface="Source Sans Pro"/>
            </a:endParaRPr>
          </a:p>
          <a:p>
            <a:pPr marR="0" lvl="0" algn="ctr" rtl="0">
              <a:lnSpc>
                <a:spcPct val="140000"/>
              </a:lnSpc>
              <a:spcBef>
                <a:spcPts val="0"/>
              </a:spcBef>
              <a:spcAft>
                <a:spcPts val="0"/>
              </a:spcAft>
            </a:pPr>
            <a:r>
              <a:rPr lang="en-US" sz="2000" dirty="0" err="1">
                <a:solidFill>
                  <a:srgbClr val="000000"/>
                </a:solidFill>
                <a:latin typeface="Source Sans Pro"/>
                <a:ea typeface="Source Sans Pro"/>
                <a:cs typeface="Arial"/>
                <a:sym typeface="Arial"/>
              </a:rPr>
              <a:t>Controles</a:t>
            </a:r>
            <a:r>
              <a:rPr lang="en-US" sz="2000" dirty="0">
                <a:solidFill>
                  <a:srgbClr val="000000"/>
                </a:solidFill>
                <a:latin typeface="Source Sans Pro"/>
                <a:ea typeface="Source Sans Pro"/>
                <a:cs typeface="Arial"/>
                <a:sym typeface="Arial"/>
              </a:rPr>
              <a:t>: CCR y </a:t>
            </a:r>
            <a:r>
              <a:rPr lang="en-US" sz="2000" dirty="0" err="1">
                <a:solidFill>
                  <a:srgbClr val="000000"/>
                </a:solidFill>
                <a:latin typeface="Source Sans Pro"/>
                <a:ea typeface="Source Sans Pro"/>
                <a:cs typeface="Arial"/>
                <a:sym typeface="Arial"/>
              </a:rPr>
              <a:t>sanos</a:t>
            </a:r>
            <a:r>
              <a:rPr lang="en-US" sz="2000" dirty="0">
                <a:solidFill>
                  <a:srgbClr val="000000"/>
                </a:solidFill>
                <a:latin typeface="Source Sans Pro"/>
                <a:ea typeface="Source Sans Pro"/>
                <a:cs typeface="Arial"/>
                <a:sym typeface="Arial"/>
              </a:rPr>
              <a:t>.</a:t>
            </a:r>
            <a:endParaRPr sz="1600" dirty="0">
              <a:latin typeface="Source Sans Pro"/>
              <a:ea typeface="Source Sans Pro"/>
            </a:endParaRPr>
          </a:p>
          <a:p>
            <a:pPr marL="0" marR="0" lvl="0" indent="0" algn="ctr" rtl="0">
              <a:lnSpc>
                <a:spcPct val="140000"/>
              </a:lnSpc>
              <a:spcBef>
                <a:spcPts val="0"/>
              </a:spcBef>
              <a:spcAft>
                <a:spcPts val="0"/>
              </a:spcAft>
              <a:buNone/>
            </a:pPr>
            <a:r>
              <a:rPr lang="en-US" sz="2000" dirty="0">
                <a:solidFill>
                  <a:srgbClr val="000000"/>
                </a:solidFill>
                <a:latin typeface="Source Sans Pro"/>
                <a:ea typeface="Source Sans Pro"/>
                <a:cs typeface="Arial"/>
                <a:sym typeface="Arial"/>
              </a:rPr>
              <a:t>Centros: </a:t>
            </a:r>
            <a:r>
              <a:rPr lang="en-US" sz="2000" u="sng" dirty="0">
                <a:solidFill>
                  <a:srgbClr val="000000"/>
                </a:solidFill>
                <a:latin typeface="Source Sans Pro"/>
                <a:ea typeface="Source Sans Pro"/>
                <a:cs typeface="Arial"/>
                <a:sym typeface="Arial"/>
              </a:rPr>
              <a:t>Cobos Medical Center, HIC Bucaramanga, </a:t>
            </a:r>
            <a:r>
              <a:rPr lang="en-US" sz="2000" u="sng" dirty="0" err="1">
                <a:solidFill>
                  <a:srgbClr val="000000"/>
                </a:solidFill>
                <a:latin typeface="Source Sans Pro"/>
                <a:ea typeface="Source Sans Pro"/>
                <a:cs typeface="Arial"/>
                <a:sym typeface="Arial"/>
              </a:rPr>
              <a:t>GastroAdvanced</a:t>
            </a:r>
            <a:r>
              <a:rPr lang="en-US" sz="2000" dirty="0">
                <a:solidFill>
                  <a:srgbClr val="000000"/>
                </a:solidFill>
                <a:latin typeface="Source Sans Pro"/>
                <a:ea typeface="Source Sans Pro"/>
                <a:cs typeface="Arial"/>
                <a:sym typeface="Arial"/>
              </a:rPr>
              <a:t>.</a:t>
            </a:r>
          </a:p>
          <a:p>
            <a:pPr marL="0" marR="0" lvl="0" indent="0" algn="ctr" rtl="0">
              <a:lnSpc>
                <a:spcPct val="140000"/>
              </a:lnSpc>
              <a:spcBef>
                <a:spcPts val="0"/>
              </a:spcBef>
              <a:spcAft>
                <a:spcPts val="0"/>
              </a:spcAft>
              <a:buNone/>
            </a:pPr>
            <a:r>
              <a:rPr lang="en-US" sz="2000" dirty="0" err="1">
                <a:solidFill>
                  <a:srgbClr val="000000"/>
                </a:solidFill>
                <a:latin typeface="Source Sans Pro"/>
                <a:ea typeface="Source Sans Pro"/>
                <a:cs typeface="Arial"/>
              </a:rPr>
              <a:t>Gastroenterologos</a:t>
            </a:r>
            <a:r>
              <a:rPr lang="en-US" sz="2000" dirty="0">
                <a:solidFill>
                  <a:srgbClr val="000000"/>
                </a:solidFill>
                <a:latin typeface="Source Sans Pro"/>
                <a:ea typeface="Source Sans Pro"/>
                <a:cs typeface="Arial"/>
              </a:rPr>
              <a:t>: Viviana Parra – Cristian Flores – Ricardo Villareal</a:t>
            </a:r>
            <a:endParaRPr sz="1600" dirty="0">
              <a:latin typeface="Source Sans Pro"/>
              <a:ea typeface="Source Sans Pro"/>
            </a:endParaRPr>
          </a:p>
        </p:txBody>
      </p:sp>
      <p:sp>
        <p:nvSpPr>
          <p:cNvPr id="294" name="Google Shape;294;p20"/>
          <p:cNvSpPr txBox="1"/>
          <p:nvPr/>
        </p:nvSpPr>
        <p:spPr>
          <a:xfrm>
            <a:off x="9839439" y="5204791"/>
            <a:ext cx="6785155" cy="1759834"/>
          </a:xfrm>
          <a:prstGeom prst="rect">
            <a:avLst/>
          </a:prstGeom>
          <a:ln>
            <a:solidFill>
              <a:schemeClr val="tx1">
                <a:lumMod val="75000"/>
                <a:lumOff val="25000"/>
              </a:schemeClr>
            </a:solidFill>
          </a:ln>
        </p:spPr>
        <p:style>
          <a:lnRef idx="2">
            <a:schemeClr val="accent4"/>
          </a:lnRef>
          <a:fillRef idx="1">
            <a:schemeClr val="lt1"/>
          </a:fillRef>
          <a:effectRef idx="0">
            <a:schemeClr val="accent4"/>
          </a:effectRef>
          <a:fontRef idx="minor">
            <a:schemeClr val="dk1"/>
          </a:fontRef>
        </p:style>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000" dirty="0">
                <a:solidFill>
                  <a:srgbClr val="000000"/>
                </a:solidFill>
                <a:latin typeface="Source Sans Pro"/>
                <a:ea typeface="Source Sans Pro"/>
                <a:cs typeface="Arial"/>
                <a:sym typeface="Arial"/>
              </a:rPr>
              <a:t> </a:t>
            </a:r>
            <a:r>
              <a:rPr lang="en-US" sz="2000" b="1" dirty="0">
                <a:solidFill>
                  <a:srgbClr val="000000"/>
                </a:solidFill>
                <a:latin typeface="Source Sans Pro"/>
                <a:ea typeface="Source Sans Pro"/>
                <a:cs typeface="Arial"/>
                <a:sym typeface="Arial"/>
              </a:rPr>
              <a:t>Muestras (36 totales)</a:t>
            </a:r>
            <a:endParaRPr sz="2000" dirty="0">
              <a:latin typeface="Source Sans Pro"/>
              <a:ea typeface="Source Sans Pro"/>
            </a:endParaRPr>
          </a:p>
          <a:p>
            <a:pPr marR="0" lvl="0" algn="ctr" rtl="0">
              <a:lnSpc>
                <a:spcPct val="140000"/>
              </a:lnSpc>
              <a:spcBef>
                <a:spcPts val="0"/>
              </a:spcBef>
              <a:spcAft>
                <a:spcPts val="0"/>
              </a:spcAft>
            </a:pPr>
            <a:r>
              <a:rPr lang="en-US" sz="2000" dirty="0">
                <a:solidFill>
                  <a:srgbClr val="000000"/>
                </a:solidFill>
                <a:latin typeface="Source Sans Pro"/>
                <a:ea typeface="Source Sans Pro"/>
                <a:cs typeface="Arial"/>
                <a:sym typeface="Arial"/>
              </a:rPr>
              <a:t>CU: 8 ADN </a:t>
            </a:r>
            <a:r>
              <a:rPr lang="en-US" sz="2000" dirty="0" err="1">
                <a:solidFill>
                  <a:srgbClr val="000000"/>
                </a:solidFill>
                <a:latin typeface="Source Sans Pro"/>
                <a:ea typeface="Source Sans Pro"/>
                <a:cs typeface="Arial"/>
                <a:sym typeface="Arial"/>
              </a:rPr>
              <a:t>circulante</a:t>
            </a:r>
            <a:r>
              <a:rPr lang="en-US" sz="2000" dirty="0">
                <a:solidFill>
                  <a:srgbClr val="000000"/>
                </a:solidFill>
                <a:latin typeface="Source Sans Pro"/>
                <a:ea typeface="Source Sans Pro"/>
                <a:cs typeface="Arial"/>
                <a:sym typeface="Arial"/>
              </a:rPr>
              <a:t> + 8 tejido </a:t>
            </a:r>
            <a:r>
              <a:rPr lang="en-US" sz="2000" dirty="0" err="1">
                <a:solidFill>
                  <a:srgbClr val="000000"/>
                </a:solidFill>
                <a:latin typeface="Source Sans Pro"/>
                <a:ea typeface="Source Sans Pro"/>
                <a:cs typeface="Arial"/>
                <a:sym typeface="Arial"/>
              </a:rPr>
              <a:t>colónico</a:t>
            </a:r>
            <a:r>
              <a:rPr lang="en-US" sz="2000" dirty="0">
                <a:solidFill>
                  <a:srgbClr val="000000"/>
                </a:solidFill>
                <a:latin typeface="Source Sans Pro"/>
                <a:ea typeface="Source Sans Pro"/>
                <a:cs typeface="Arial"/>
                <a:sym typeface="Arial"/>
              </a:rPr>
              <a:t>.</a:t>
            </a:r>
            <a:endParaRPr sz="2000" dirty="0">
              <a:latin typeface="Source Sans Pro"/>
              <a:ea typeface="Source Sans Pro"/>
            </a:endParaRPr>
          </a:p>
          <a:p>
            <a:pPr marR="0" lvl="0" algn="ctr" rtl="0">
              <a:lnSpc>
                <a:spcPct val="140000"/>
              </a:lnSpc>
              <a:spcBef>
                <a:spcPts val="0"/>
              </a:spcBef>
              <a:spcAft>
                <a:spcPts val="0"/>
              </a:spcAft>
            </a:pPr>
            <a:r>
              <a:rPr lang="en-US" sz="2000" dirty="0">
                <a:solidFill>
                  <a:srgbClr val="000000"/>
                </a:solidFill>
                <a:latin typeface="Source Sans Pro"/>
                <a:ea typeface="Source Sans Pro"/>
                <a:cs typeface="Arial"/>
                <a:sym typeface="Arial"/>
              </a:rPr>
              <a:t>CCR: 5 ADN </a:t>
            </a:r>
            <a:r>
              <a:rPr lang="en-US" sz="2000" dirty="0" err="1">
                <a:solidFill>
                  <a:srgbClr val="000000"/>
                </a:solidFill>
                <a:latin typeface="Source Sans Pro"/>
                <a:ea typeface="Source Sans Pro"/>
                <a:cs typeface="Arial"/>
                <a:sym typeface="Arial"/>
              </a:rPr>
              <a:t>circulante</a:t>
            </a:r>
            <a:r>
              <a:rPr lang="en-US" sz="2000" dirty="0">
                <a:solidFill>
                  <a:srgbClr val="000000"/>
                </a:solidFill>
                <a:latin typeface="Source Sans Pro"/>
                <a:ea typeface="Source Sans Pro"/>
                <a:cs typeface="Arial"/>
                <a:sym typeface="Arial"/>
              </a:rPr>
              <a:t> + 5 tejido </a:t>
            </a:r>
            <a:r>
              <a:rPr lang="en-US" sz="2000" dirty="0" err="1">
                <a:solidFill>
                  <a:srgbClr val="000000"/>
                </a:solidFill>
                <a:latin typeface="Source Sans Pro"/>
                <a:ea typeface="Source Sans Pro"/>
                <a:cs typeface="Arial"/>
                <a:sym typeface="Arial"/>
              </a:rPr>
              <a:t>colónico</a:t>
            </a:r>
            <a:endParaRPr sz="2000" dirty="0">
              <a:latin typeface="Source Sans Pro"/>
              <a:ea typeface="Source Sans Pro"/>
            </a:endParaRPr>
          </a:p>
          <a:p>
            <a:pPr marR="0" lvl="0" algn="ctr" rtl="0">
              <a:lnSpc>
                <a:spcPct val="140000"/>
              </a:lnSpc>
              <a:spcBef>
                <a:spcPts val="0"/>
              </a:spcBef>
              <a:spcAft>
                <a:spcPts val="0"/>
              </a:spcAft>
            </a:pPr>
            <a:r>
              <a:rPr lang="en-US" sz="2000" dirty="0">
                <a:solidFill>
                  <a:srgbClr val="000000"/>
                </a:solidFill>
                <a:latin typeface="Source Sans Pro"/>
                <a:ea typeface="Source Sans Pro"/>
                <a:cs typeface="Arial"/>
                <a:sym typeface="Arial"/>
              </a:rPr>
              <a:t>Sanos: 5 tejido </a:t>
            </a:r>
            <a:r>
              <a:rPr lang="en-US" sz="2000" dirty="0" err="1">
                <a:solidFill>
                  <a:srgbClr val="000000"/>
                </a:solidFill>
                <a:latin typeface="Source Sans Pro"/>
                <a:ea typeface="Source Sans Pro"/>
                <a:cs typeface="Arial"/>
                <a:sym typeface="Arial"/>
              </a:rPr>
              <a:t>colonico</a:t>
            </a:r>
            <a:r>
              <a:rPr lang="en-US" sz="2000" dirty="0">
                <a:solidFill>
                  <a:srgbClr val="000000"/>
                </a:solidFill>
                <a:latin typeface="Source Sans Pro"/>
                <a:ea typeface="Source Sans Pro"/>
                <a:cs typeface="Arial"/>
                <a:sym typeface="Arial"/>
              </a:rPr>
              <a:t> + 5 ADN </a:t>
            </a:r>
            <a:r>
              <a:rPr lang="en-US" sz="2000" dirty="0" err="1">
                <a:solidFill>
                  <a:srgbClr val="000000"/>
                </a:solidFill>
                <a:latin typeface="Source Sans Pro"/>
                <a:ea typeface="Source Sans Pro"/>
                <a:cs typeface="Arial"/>
                <a:sym typeface="Arial"/>
              </a:rPr>
              <a:t>circulante</a:t>
            </a:r>
            <a:endParaRPr sz="1600" dirty="0">
              <a:latin typeface="Source Sans Pro"/>
              <a:ea typeface="Source Sans Pro"/>
            </a:endParaRPr>
          </a:p>
        </p:txBody>
      </p:sp>
      <p:sp>
        <p:nvSpPr>
          <p:cNvPr id="295" name="Google Shape;295;p20"/>
          <p:cNvSpPr txBox="1"/>
          <p:nvPr/>
        </p:nvSpPr>
        <p:spPr>
          <a:xfrm>
            <a:off x="1018156" y="7716390"/>
            <a:ext cx="8131930" cy="1360372"/>
          </a:xfrm>
          <a:prstGeom prst="rect">
            <a:avLst/>
          </a:prstGeom>
          <a:ln>
            <a:solidFill>
              <a:schemeClr val="tx1">
                <a:lumMod val="75000"/>
                <a:lumOff val="25000"/>
              </a:schemeClr>
            </a:solidFill>
          </a:ln>
        </p:spPr>
        <p:style>
          <a:lnRef idx="2">
            <a:schemeClr val="accent4"/>
          </a:lnRef>
          <a:fillRef idx="1">
            <a:schemeClr val="lt1"/>
          </a:fillRef>
          <a:effectRef idx="0">
            <a:schemeClr val="accent4"/>
          </a:effectRef>
          <a:fontRef idx="minor">
            <a:schemeClr val="dk1"/>
          </a:fontRef>
        </p:style>
        <p:txBody>
          <a:bodyPr spcFirstLastPara="1" wrap="square" lIns="0" tIns="0" rIns="0" bIns="0" anchor="t" anchorCtr="0">
            <a:spAutoFit/>
          </a:bodyPr>
          <a:lstStyle/>
          <a:p>
            <a:pPr marL="0" marR="0" lvl="0" indent="0" algn="ctr" rtl="0">
              <a:lnSpc>
                <a:spcPct val="140069"/>
              </a:lnSpc>
              <a:spcBef>
                <a:spcPts val="0"/>
              </a:spcBef>
              <a:spcAft>
                <a:spcPts val="0"/>
              </a:spcAft>
              <a:buNone/>
            </a:pPr>
            <a:r>
              <a:rPr lang="en-US" sz="1600" b="1" dirty="0">
                <a:solidFill>
                  <a:srgbClr val="000000"/>
                </a:solidFill>
                <a:latin typeface="Source Sans Pro"/>
                <a:ea typeface="Source Sans Pro"/>
                <a:cs typeface="Arial"/>
                <a:sym typeface="Arial"/>
              </a:rPr>
              <a:t> </a:t>
            </a:r>
            <a:r>
              <a:rPr lang="en-US" sz="1600" b="1" dirty="0" err="1">
                <a:solidFill>
                  <a:srgbClr val="000000"/>
                </a:solidFill>
                <a:latin typeface="Source Sans Pro"/>
                <a:ea typeface="Source Sans Pro"/>
                <a:cs typeface="Arial"/>
                <a:sym typeface="Arial"/>
              </a:rPr>
              <a:t>Criterios</a:t>
            </a:r>
            <a:r>
              <a:rPr lang="en-US" sz="1600" b="1" dirty="0">
                <a:solidFill>
                  <a:srgbClr val="000000"/>
                </a:solidFill>
                <a:latin typeface="Source Sans Pro"/>
                <a:ea typeface="Source Sans Pro"/>
                <a:cs typeface="Arial"/>
                <a:sym typeface="Arial"/>
              </a:rPr>
              <a:t> de inclusion para CU:</a:t>
            </a:r>
            <a:endParaRPr sz="1600" dirty="0">
              <a:latin typeface="Source Sans Pro"/>
              <a:ea typeface="Source Sans Pro"/>
            </a:endParaRPr>
          </a:p>
          <a:p>
            <a:pPr marL="285750" marR="0" lvl="0" indent="-285750" algn="ctr" rtl="0">
              <a:lnSpc>
                <a:spcPct val="140069"/>
              </a:lnSpc>
              <a:spcBef>
                <a:spcPts val="0"/>
              </a:spcBef>
              <a:spcAft>
                <a:spcPts val="0"/>
              </a:spcAft>
              <a:buFont typeface="Arial" panose="020B0604020202020204" pitchFamily="34" charset="0"/>
              <a:buChar char="•"/>
            </a:pPr>
            <a:r>
              <a:rPr lang="en-US" sz="2000" dirty="0">
                <a:solidFill>
                  <a:srgbClr val="000000"/>
                </a:solidFill>
                <a:latin typeface="Source Sans Pro"/>
                <a:ea typeface="Source Sans Pro"/>
                <a:cs typeface="Arial"/>
                <a:sym typeface="Arial"/>
              </a:rPr>
              <a:t>Pacientes con CU &gt; 8 </a:t>
            </a:r>
            <a:r>
              <a:rPr lang="en-US" sz="2000" dirty="0" err="1">
                <a:solidFill>
                  <a:srgbClr val="000000"/>
                </a:solidFill>
                <a:latin typeface="Source Sans Pro"/>
                <a:ea typeface="Source Sans Pro"/>
                <a:cs typeface="Arial"/>
                <a:sym typeface="Arial"/>
              </a:rPr>
              <a:t>años</a:t>
            </a:r>
            <a:r>
              <a:rPr lang="en-US" sz="2000" dirty="0">
                <a:solidFill>
                  <a:srgbClr val="000000"/>
                </a:solidFill>
                <a:latin typeface="Source Sans Pro"/>
                <a:ea typeface="Source Sans Pro"/>
                <a:cs typeface="Arial"/>
                <a:sym typeface="Arial"/>
              </a:rPr>
              <a:t> o con </a:t>
            </a:r>
            <a:r>
              <a:rPr lang="en-US" sz="2000" dirty="0" err="1">
                <a:solidFill>
                  <a:srgbClr val="000000"/>
                </a:solidFill>
                <a:latin typeface="Source Sans Pro"/>
                <a:ea typeface="Source Sans Pro"/>
                <a:cs typeface="Arial"/>
                <a:sym typeface="Arial"/>
              </a:rPr>
              <a:t>colangitis</a:t>
            </a:r>
            <a:r>
              <a:rPr lang="en-US" sz="2000" dirty="0">
                <a:solidFill>
                  <a:srgbClr val="000000"/>
                </a:solidFill>
                <a:latin typeface="Source Sans Pro"/>
                <a:ea typeface="Source Sans Pro"/>
                <a:cs typeface="Arial"/>
                <a:sym typeface="Arial"/>
              </a:rPr>
              <a:t> </a:t>
            </a:r>
            <a:r>
              <a:rPr lang="en-US" sz="2000" dirty="0" err="1">
                <a:solidFill>
                  <a:srgbClr val="000000"/>
                </a:solidFill>
                <a:latin typeface="Source Sans Pro"/>
                <a:ea typeface="Source Sans Pro"/>
                <a:cs typeface="Arial"/>
                <a:sym typeface="Arial"/>
              </a:rPr>
              <a:t>esclerosante</a:t>
            </a:r>
            <a:r>
              <a:rPr lang="en-US" sz="2000" dirty="0">
                <a:solidFill>
                  <a:srgbClr val="000000"/>
                </a:solidFill>
                <a:latin typeface="Source Sans Pro"/>
                <a:ea typeface="Source Sans Pro"/>
                <a:cs typeface="Arial"/>
                <a:sym typeface="Arial"/>
              </a:rPr>
              <a:t>.</a:t>
            </a:r>
            <a:endParaRPr sz="2000" dirty="0">
              <a:latin typeface="Source Sans Pro"/>
              <a:ea typeface="Source Sans Pro"/>
            </a:endParaRPr>
          </a:p>
          <a:p>
            <a:pPr marR="0" lvl="0" algn="ctr" rtl="0">
              <a:lnSpc>
                <a:spcPct val="140069"/>
              </a:lnSpc>
              <a:spcBef>
                <a:spcPts val="0"/>
              </a:spcBef>
              <a:spcAft>
                <a:spcPts val="0"/>
              </a:spcAft>
            </a:pPr>
            <a:endParaRPr sz="2000" dirty="0">
              <a:latin typeface="Source Sans Pro"/>
              <a:ea typeface="Source Sans Pro"/>
            </a:endParaRPr>
          </a:p>
          <a:p>
            <a:pPr marL="0" marR="0" lvl="0" indent="0" algn="ctr" rtl="0">
              <a:spcBef>
                <a:spcPts val="0"/>
              </a:spcBef>
              <a:spcAft>
                <a:spcPts val="0"/>
              </a:spcAft>
              <a:buNone/>
            </a:pPr>
            <a:endParaRPr sz="1000" dirty="0">
              <a:latin typeface="Source Sans Pro"/>
              <a:ea typeface="Source Sans Pro"/>
            </a:endParaRPr>
          </a:p>
        </p:txBody>
      </p:sp>
      <p:sp>
        <p:nvSpPr>
          <p:cNvPr id="296" name="Google Shape;296;p20"/>
          <p:cNvSpPr txBox="1"/>
          <p:nvPr/>
        </p:nvSpPr>
        <p:spPr>
          <a:xfrm>
            <a:off x="9477829" y="7669511"/>
            <a:ext cx="8128933" cy="1723549"/>
          </a:xfrm>
          <a:prstGeom prst="rect">
            <a:avLst/>
          </a:prstGeom>
          <a:ln>
            <a:solidFill>
              <a:schemeClr val="tx1">
                <a:lumMod val="75000"/>
                <a:lumOff val="25000"/>
              </a:schemeClr>
            </a:solidFill>
          </a:ln>
        </p:spPr>
        <p:style>
          <a:lnRef idx="2">
            <a:schemeClr val="accent4"/>
          </a:lnRef>
          <a:fillRef idx="1">
            <a:schemeClr val="lt1"/>
          </a:fillRef>
          <a:effectRef idx="0">
            <a:schemeClr val="accent4"/>
          </a:effectRef>
          <a:fontRef idx="minor">
            <a:schemeClr val="dk1"/>
          </a:fontRef>
        </p:style>
        <p:txBody>
          <a:bodyPr spcFirstLastPara="1" wrap="square" lIns="0" tIns="0" rIns="0" bIns="0" anchor="t" anchorCtr="0">
            <a:spAutoFit/>
          </a:bodyPr>
          <a:lstStyle/>
          <a:p>
            <a:pPr marL="0" marR="0" lvl="0" indent="0" algn="ctr">
              <a:lnSpc>
                <a:spcPct val="140000"/>
              </a:lnSpc>
              <a:spcBef>
                <a:spcPts val="0"/>
              </a:spcBef>
              <a:spcAft>
                <a:spcPts val="0"/>
              </a:spcAft>
              <a:buNone/>
            </a:pPr>
            <a:r>
              <a:rPr lang="en-US" sz="2000" b="1" dirty="0" err="1">
                <a:solidFill>
                  <a:srgbClr val="000000"/>
                </a:solidFill>
                <a:latin typeface="Source Sans Pro"/>
                <a:ea typeface="Source Sans Pro"/>
                <a:cs typeface="Arial"/>
                <a:sym typeface="Arial"/>
              </a:rPr>
              <a:t>Criterios</a:t>
            </a:r>
            <a:r>
              <a:rPr lang="en-US" sz="2000" b="1" dirty="0">
                <a:solidFill>
                  <a:srgbClr val="000000"/>
                </a:solidFill>
                <a:latin typeface="Source Sans Pro"/>
                <a:ea typeface="Source Sans Pro"/>
                <a:cs typeface="Arial"/>
                <a:sym typeface="Arial"/>
              </a:rPr>
              <a:t> de </a:t>
            </a:r>
            <a:r>
              <a:rPr lang="en-US" sz="2000" b="1" dirty="0" err="1">
                <a:solidFill>
                  <a:srgbClr val="000000"/>
                </a:solidFill>
                <a:latin typeface="Source Sans Pro"/>
                <a:ea typeface="Source Sans Pro"/>
                <a:cs typeface="Arial"/>
                <a:sym typeface="Arial"/>
              </a:rPr>
              <a:t>Exclusión</a:t>
            </a:r>
            <a:r>
              <a:rPr lang="en-US" sz="2000" b="1" dirty="0">
                <a:solidFill>
                  <a:srgbClr val="000000"/>
                </a:solidFill>
                <a:latin typeface="Source Sans Pro"/>
                <a:ea typeface="Source Sans Pro"/>
                <a:cs typeface="Arial"/>
                <a:sym typeface="Arial"/>
              </a:rPr>
              <a:t> para CU:</a:t>
            </a:r>
            <a:endParaRPr lang="es-ES" sz="2000" b="1" dirty="0">
              <a:solidFill>
                <a:srgbClr val="000000"/>
              </a:solidFill>
              <a:latin typeface="Source Sans Pro"/>
              <a:ea typeface="Source Sans Pro"/>
              <a:cs typeface="Arial"/>
            </a:endParaRPr>
          </a:p>
          <a:p>
            <a:pPr marL="285750" indent="-285750" algn="ctr">
              <a:lnSpc>
                <a:spcPct val="140000"/>
              </a:lnSpc>
              <a:buFont typeface="Arial" panose="020B0604020202020204" pitchFamily="34" charset="0"/>
              <a:buChar char="•"/>
            </a:pPr>
            <a:r>
              <a:rPr lang="en-US" sz="2000" dirty="0">
                <a:solidFill>
                  <a:srgbClr val="000000"/>
                </a:solidFill>
                <a:latin typeface="Source Sans Pro"/>
                <a:ea typeface="Source Sans Pro"/>
                <a:cs typeface="Arial"/>
              </a:rPr>
              <a:t>No</a:t>
            </a:r>
            <a:r>
              <a:rPr lang="en-US" sz="2000" dirty="0">
                <a:solidFill>
                  <a:srgbClr val="000000"/>
                </a:solidFill>
                <a:latin typeface="Source Sans Pro"/>
                <a:ea typeface="Source Sans Pro"/>
                <a:cs typeface="Arial"/>
                <a:sym typeface="Arial"/>
              </a:rPr>
              <a:t> </a:t>
            </a:r>
            <a:r>
              <a:rPr lang="en-US" sz="2000" dirty="0" err="1">
                <a:solidFill>
                  <a:srgbClr val="000000"/>
                </a:solidFill>
                <a:latin typeface="Source Sans Pro"/>
                <a:ea typeface="Source Sans Pro"/>
                <a:cs typeface="Arial"/>
              </a:rPr>
              <a:t>presentar</a:t>
            </a:r>
            <a:r>
              <a:rPr lang="en-US" sz="2000" dirty="0">
                <a:solidFill>
                  <a:srgbClr val="000000"/>
                </a:solidFill>
                <a:latin typeface="Source Sans Pro"/>
                <a:ea typeface="Source Sans Pro"/>
                <a:cs typeface="Arial"/>
              </a:rPr>
              <a:t> </a:t>
            </a:r>
            <a:r>
              <a:rPr lang="en-US" sz="2000" dirty="0" err="1">
                <a:solidFill>
                  <a:srgbClr val="000000"/>
                </a:solidFill>
                <a:latin typeface="Source Sans Pro"/>
                <a:ea typeface="Source Sans Pro"/>
                <a:cs typeface="Arial"/>
                <a:sym typeface="Arial"/>
              </a:rPr>
              <a:t>enfermedad</a:t>
            </a:r>
            <a:r>
              <a:rPr lang="en-US" sz="2000" dirty="0">
                <a:solidFill>
                  <a:srgbClr val="000000"/>
                </a:solidFill>
                <a:latin typeface="Source Sans Pro"/>
                <a:ea typeface="Source Sans Pro"/>
                <a:cs typeface="Arial"/>
                <a:sym typeface="Arial"/>
              </a:rPr>
              <a:t> de Crohn</a:t>
            </a:r>
            <a:endParaRPr lang="en-US" sz="1600" dirty="0">
              <a:solidFill>
                <a:srgbClr val="000000"/>
              </a:solidFill>
              <a:latin typeface="Source Sans Pro"/>
              <a:ea typeface="Source Sans Pro"/>
              <a:cs typeface="Arial"/>
            </a:endParaRPr>
          </a:p>
          <a:p>
            <a:pPr marL="285750" indent="-285750" algn="ctr">
              <a:lnSpc>
                <a:spcPct val="140000"/>
              </a:lnSpc>
              <a:buFont typeface="Arial" panose="020B0604020202020204" pitchFamily="34" charset="0"/>
              <a:buChar char="•"/>
            </a:pPr>
            <a:r>
              <a:rPr lang="en-US" sz="2000" dirty="0" err="1">
                <a:solidFill>
                  <a:srgbClr val="000000"/>
                </a:solidFill>
                <a:latin typeface="Source Sans Pro"/>
                <a:ea typeface="Source Sans Pro"/>
                <a:cs typeface="Arial"/>
                <a:sym typeface="Arial"/>
              </a:rPr>
              <a:t>contraindicación</a:t>
            </a:r>
            <a:r>
              <a:rPr lang="en-US" sz="2000" dirty="0">
                <a:solidFill>
                  <a:srgbClr val="000000"/>
                </a:solidFill>
                <a:latin typeface="Source Sans Pro"/>
                <a:ea typeface="Source Sans Pro"/>
                <a:cs typeface="Arial"/>
                <a:sym typeface="Arial"/>
              </a:rPr>
              <a:t> a </a:t>
            </a:r>
            <a:r>
              <a:rPr lang="en-US" sz="2000" dirty="0" err="1">
                <a:solidFill>
                  <a:srgbClr val="000000"/>
                </a:solidFill>
                <a:latin typeface="Source Sans Pro"/>
                <a:ea typeface="Source Sans Pro"/>
                <a:cs typeface="Arial"/>
                <a:sym typeface="Arial"/>
              </a:rPr>
              <a:t>colonoscopia</a:t>
            </a:r>
            <a:r>
              <a:rPr lang="en-US" sz="2000" dirty="0">
                <a:solidFill>
                  <a:srgbClr val="000000"/>
                </a:solidFill>
                <a:latin typeface="Source Sans Pro"/>
                <a:ea typeface="Source Sans Pro"/>
                <a:cs typeface="Arial"/>
                <a:sym typeface="Arial"/>
              </a:rPr>
              <a:t>/</a:t>
            </a:r>
            <a:r>
              <a:rPr lang="en-US" sz="2000" dirty="0" err="1">
                <a:solidFill>
                  <a:srgbClr val="000000"/>
                </a:solidFill>
                <a:latin typeface="Source Sans Pro"/>
                <a:ea typeface="Source Sans Pro"/>
                <a:cs typeface="Arial"/>
              </a:rPr>
              <a:t>biopsia</a:t>
            </a:r>
            <a:endParaRPr lang="en-US" sz="1600" dirty="0">
              <a:solidFill>
                <a:srgbClr val="000000"/>
              </a:solidFill>
              <a:latin typeface="Source Sans Pro"/>
              <a:ea typeface="Source Sans Pro"/>
              <a:cs typeface="Arial"/>
            </a:endParaRPr>
          </a:p>
          <a:p>
            <a:pPr marL="742950" lvl="1" indent="-285750" algn="ctr">
              <a:lnSpc>
                <a:spcPct val="140000"/>
              </a:lnSpc>
              <a:buFont typeface="Arial" panose="020B0604020202020204" pitchFamily="34" charset="0"/>
              <a:buChar char="•"/>
            </a:pPr>
            <a:r>
              <a:rPr lang="en-US" sz="2000" dirty="0" err="1">
                <a:solidFill>
                  <a:srgbClr val="000000"/>
                </a:solidFill>
                <a:latin typeface="Source Sans Pro"/>
                <a:ea typeface="Source Sans Pro"/>
                <a:cs typeface="Arial"/>
              </a:rPr>
              <a:t>Cirugía</a:t>
            </a:r>
            <a:r>
              <a:rPr lang="en-US" sz="2000" dirty="0">
                <a:solidFill>
                  <a:srgbClr val="000000"/>
                </a:solidFill>
                <a:latin typeface="Source Sans Pro"/>
                <a:ea typeface="Source Sans Pro"/>
                <a:cs typeface="Arial"/>
                <a:sym typeface="Arial"/>
              </a:rPr>
              <a:t> </a:t>
            </a:r>
            <a:r>
              <a:rPr lang="en-US" sz="2000" dirty="0" err="1">
                <a:solidFill>
                  <a:srgbClr val="000000"/>
                </a:solidFill>
                <a:latin typeface="Source Sans Pro"/>
                <a:ea typeface="Source Sans Pro"/>
                <a:cs typeface="Arial"/>
                <a:sym typeface="Arial"/>
              </a:rPr>
              <a:t>colónica</a:t>
            </a:r>
            <a:r>
              <a:rPr lang="en-US" sz="2000" dirty="0">
                <a:solidFill>
                  <a:srgbClr val="000000"/>
                </a:solidFill>
                <a:latin typeface="Source Sans Pro"/>
                <a:ea typeface="Source Sans Pro"/>
                <a:cs typeface="Arial"/>
                <a:sym typeface="Arial"/>
              </a:rPr>
              <a:t> previa</a:t>
            </a:r>
            <a:r>
              <a:rPr lang="en-US" sz="2000" dirty="0">
                <a:solidFill>
                  <a:srgbClr val="000000"/>
                </a:solidFill>
                <a:latin typeface="Source Sans Pro"/>
                <a:ea typeface="Source Sans Pro"/>
                <a:cs typeface="Arial"/>
              </a:rPr>
              <a:t> </a:t>
            </a:r>
            <a:r>
              <a:rPr lang="en-US" sz="2000" dirty="0">
                <a:solidFill>
                  <a:srgbClr val="000000"/>
                </a:solidFill>
                <a:latin typeface="Source Sans Pro"/>
                <a:ea typeface="Source Sans Pro"/>
                <a:cs typeface="Arial"/>
                <a:sym typeface="Arial"/>
              </a:rPr>
              <a:t>CU </a:t>
            </a:r>
            <a:r>
              <a:rPr lang="en-US" sz="2000" dirty="0" err="1">
                <a:solidFill>
                  <a:srgbClr val="000000"/>
                </a:solidFill>
                <a:latin typeface="Source Sans Pro"/>
                <a:ea typeface="Source Sans Pro"/>
                <a:cs typeface="Arial"/>
                <a:sym typeface="Arial"/>
              </a:rPr>
              <a:t>reciente</a:t>
            </a:r>
            <a:r>
              <a:rPr lang="en-US" sz="2000" dirty="0">
                <a:solidFill>
                  <a:srgbClr val="000000"/>
                </a:solidFill>
                <a:latin typeface="Source Sans Pro"/>
                <a:ea typeface="Source Sans Pro"/>
                <a:cs typeface="Arial"/>
                <a:sym typeface="Arial"/>
              </a:rPr>
              <a:t>.</a:t>
            </a:r>
            <a:endParaRPr sz="1600" dirty="0">
              <a:latin typeface="Source Sans Pro"/>
              <a:ea typeface="Source Sans Pro"/>
            </a:endParaRPr>
          </a:p>
        </p:txBody>
      </p:sp>
      <p:sp>
        <p:nvSpPr>
          <p:cNvPr id="5" name="CuadroTexto 4">
            <a:extLst>
              <a:ext uri="{FF2B5EF4-FFF2-40B4-BE49-F238E27FC236}">
                <a16:creationId xmlns:a16="http://schemas.microsoft.com/office/drawing/2014/main" id="{96F5D04C-1E27-D7A7-8A61-216265790E11}"/>
              </a:ext>
            </a:extLst>
          </p:cNvPr>
          <p:cNvSpPr txBox="1"/>
          <p:nvPr/>
        </p:nvSpPr>
        <p:spPr>
          <a:xfrm>
            <a:off x="5210448" y="805445"/>
            <a:ext cx="7874683" cy="593111"/>
          </a:xfrm>
          <a:prstGeom prst="rect">
            <a:avLst/>
          </a:prstGeom>
          <a:noFill/>
        </p:spPr>
        <p:txBody>
          <a:bodyPr wrap="square" lIns="91440" tIns="45720" rIns="91440" bIns="45720" anchor="t">
            <a:spAutoFit/>
          </a:bodyPr>
          <a:lstStyle/>
          <a:p>
            <a:pPr algn="ctr">
              <a:lnSpc>
                <a:spcPct val="80357"/>
              </a:lnSpc>
            </a:pPr>
            <a:r>
              <a:rPr lang="es-ES" sz="4000" b="1">
                <a:solidFill>
                  <a:schemeClr val="tx1">
                    <a:lumMod val="75000"/>
                    <a:lumOff val="25000"/>
                  </a:schemeClr>
                </a:solidFill>
                <a:latin typeface="Calibri"/>
                <a:ea typeface="Calibri"/>
                <a:cs typeface="Calibri"/>
                <a:sym typeface="Calibri"/>
              </a:rPr>
              <a:t>Metodología</a:t>
            </a:r>
            <a:endParaRPr lang="es-ES"/>
          </a:p>
        </p:txBody>
      </p:sp>
      <p:pic>
        <p:nvPicPr>
          <p:cNvPr id="2" name="Imagen 1" descr="Iconos de Población - Iconos gratuitos de 5,023">
            <a:extLst>
              <a:ext uri="{FF2B5EF4-FFF2-40B4-BE49-F238E27FC236}">
                <a16:creationId xmlns:a16="http://schemas.microsoft.com/office/drawing/2014/main" id="{72E37232-AB49-BE77-66D1-6FDC9D5D12FB}"/>
              </a:ext>
            </a:extLst>
          </p:cNvPr>
          <p:cNvPicPr>
            <a:picLocks noChangeAspect="1"/>
          </p:cNvPicPr>
          <p:nvPr/>
        </p:nvPicPr>
        <p:blipFill>
          <a:blip r:embed="rId3"/>
          <a:stretch>
            <a:fillRect/>
          </a:stretch>
        </p:blipFill>
        <p:spPr>
          <a:xfrm>
            <a:off x="9272378" y="2848428"/>
            <a:ext cx="1122101" cy="1233715"/>
          </a:xfrm>
          <a:prstGeom prst="rect">
            <a:avLst/>
          </a:prstGeom>
        </p:spPr>
      </p:pic>
      <p:pic>
        <p:nvPicPr>
          <p:cNvPr id="4" name="Imagen 3" descr="Diseño PNG Y SVG De Bosquejo De La Cadena De Adn Para Camisetas">
            <a:extLst>
              <a:ext uri="{FF2B5EF4-FFF2-40B4-BE49-F238E27FC236}">
                <a16:creationId xmlns:a16="http://schemas.microsoft.com/office/drawing/2014/main" id="{ED259E4E-AC2B-341D-12CC-A2E5491E69BE}"/>
              </a:ext>
            </a:extLst>
          </p:cNvPr>
          <p:cNvPicPr>
            <a:picLocks noChangeAspect="1"/>
          </p:cNvPicPr>
          <p:nvPr/>
        </p:nvPicPr>
        <p:blipFill>
          <a:blip r:embed="rId4"/>
          <a:stretch>
            <a:fillRect/>
          </a:stretch>
        </p:blipFill>
        <p:spPr>
          <a:xfrm>
            <a:off x="15293428" y="5033643"/>
            <a:ext cx="2124714" cy="2342429"/>
          </a:xfrm>
          <a:prstGeom prst="rect">
            <a:avLst/>
          </a:prstGeom>
        </p:spPr>
      </p:pic>
      <p:pic>
        <p:nvPicPr>
          <p:cNvPr id="3" name="Google Shape;93;p1" descr="No hay ninguna descripción de la foto disponible.">
            <a:extLst>
              <a:ext uri="{FF2B5EF4-FFF2-40B4-BE49-F238E27FC236}">
                <a16:creationId xmlns:a16="http://schemas.microsoft.com/office/drawing/2014/main" id="{14F3EF96-EB2F-40AC-895C-D1A15D0F2640}"/>
              </a:ext>
            </a:extLst>
          </p:cNvPr>
          <p:cNvPicPr preferRelativeResize="0"/>
          <p:nvPr/>
        </p:nvPicPr>
        <p:blipFill rotWithShape="1">
          <a:blip r:embed="rId5">
            <a:alphaModFix/>
          </a:blip>
          <a:srcRect l="26238" t="22935" r="26586" b="20031"/>
          <a:stretch>
            <a:fillRect/>
          </a:stretch>
        </p:blipFill>
        <p:spPr>
          <a:xfrm>
            <a:off x="2465914" y="119430"/>
            <a:ext cx="1432577" cy="744819"/>
          </a:xfrm>
          <a:prstGeom prst="rect">
            <a:avLst/>
          </a:prstGeom>
          <a:noFill/>
          <a:ln>
            <a:noFill/>
          </a:ln>
        </p:spPr>
      </p:pic>
      <p:pic>
        <p:nvPicPr>
          <p:cNvPr id="6" name="Google Shape;94;p1" descr="Universidad El Bosque in Colombia : Reviews &amp; Rankings | Student ...">
            <a:extLst>
              <a:ext uri="{FF2B5EF4-FFF2-40B4-BE49-F238E27FC236}">
                <a16:creationId xmlns:a16="http://schemas.microsoft.com/office/drawing/2014/main" id="{21D384A4-DA32-1BD6-8890-208870653BBF}"/>
              </a:ext>
            </a:extLst>
          </p:cNvPr>
          <p:cNvPicPr preferRelativeResize="0"/>
          <p:nvPr/>
        </p:nvPicPr>
        <p:blipFill rotWithShape="1">
          <a:blip r:embed="rId6">
            <a:alphaModFix/>
          </a:blip>
          <a:srcRect l="14020" t="34765" r="17993" b="25071"/>
          <a:stretch>
            <a:fillRect/>
          </a:stretch>
        </p:blipFill>
        <p:spPr>
          <a:xfrm>
            <a:off x="366094" y="222503"/>
            <a:ext cx="1978341" cy="64174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21"/>
          <p:cNvSpPr/>
          <p:nvPr/>
        </p:nvSpPr>
        <p:spPr>
          <a:xfrm>
            <a:off x="15588420" y="6292792"/>
            <a:ext cx="2171606" cy="1801246"/>
          </a:xfrm>
          <a:custGeom>
            <a:avLst/>
            <a:gdLst/>
            <a:ahLst/>
            <a:cxnLst/>
            <a:rect l="l" t="t" r="r" b="b"/>
            <a:pathLst>
              <a:path w="2981569" h="2580293" extrusionOk="0">
                <a:moveTo>
                  <a:pt x="0" y="0"/>
                </a:moveTo>
                <a:lnTo>
                  <a:pt x="2981569" y="0"/>
                </a:lnTo>
                <a:lnTo>
                  <a:pt x="2981569" y="2580294"/>
                </a:lnTo>
                <a:lnTo>
                  <a:pt x="0" y="2580294"/>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3" name="Google Shape;303;p21"/>
          <p:cNvSpPr/>
          <p:nvPr/>
        </p:nvSpPr>
        <p:spPr>
          <a:xfrm>
            <a:off x="15563481" y="5786664"/>
            <a:ext cx="2345174" cy="581367"/>
          </a:xfrm>
          <a:custGeom>
            <a:avLst/>
            <a:gdLst/>
            <a:ahLst/>
            <a:cxnLst/>
            <a:rect l="l" t="t" r="r" b="b"/>
            <a:pathLst>
              <a:path w="2345174" h="581367" extrusionOk="0">
                <a:moveTo>
                  <a:pt x="0" y="0"/>
                </a:moveTo>
                <a:lnTo>
                  <a:pt x="2345173" y="0"/>
                </a:lnTo>
                <a:lnTo>
                  <a:pt x="2345173" y="581366"/>
                </a:lnTo>
                <a:lnTo>
                  <a:pt x="0" y="581366"/>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5" name="Google Shape;305;p21"/>
          <p:cNvSpPr/>
          <p:nvPr/>
        </p:nvSpPr>
        <p:spPr>
          <a:xfrm>
            <a:off x="1239622" y="6592898"/>
            <a:ext cx="1145740" cy="1036895"/>
          </a:xfrm>
          <a:custGeom>
            <a:avLst/>
            <a:gdLst/>
            <a:ahLst/>
            <a:cxnLst/>
            <a:rect l="l" t="t" r="r" b="b"/>
            <a:pathLst>
              <a:path w="1145740" h="1036895" extrusionOk="0">
                <a:moveTo>
                  <a:pt x="0" y="0"/>
                </a:moveTo>
                <a:lnTo>
                  <a:pt x="1145740" y="0"/>
                </a:lnTo>
                <a:lnTo>
                  <a:pt x="1145740" y="1036894"/>
                </a:lnTo>
                <a:lnTo>
                  <a:pt x="0" y="1036894"/>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6" name="Google Shape;306;p21"/>
          <p:cNvSpPr/>
          <p:nvPr/>
        </p:nvSpPr>
        <p:spPr>
          <a:xfrm rot="5400000">
            <a:off x="4262789" y="6303722"/>
            <a:ext cx="803056" cy="1191100"/>
          </a:xfrm>
          <a:custGeom>
            <a:avLst/>
            <a:gdLst/>
            <a:ahLst/>
            <a:cxnLst/>
            <a:rect l="l" t="t" r="r" b="b"/>
            <a:pathLst>
              <a:path w="803056" h="1191100" extrusionOk="0">
                <a:moveTo>
                  <a:pt x="0" y="0"/>
                </a:moveTo>
                <a:lnTo>
                  <a:pt x="803056" y="0"/>
                </a:lnTo>
                <a:lnTo>
                  <a:pt x="803056" y="1191100"/>
                </a:lnTo>
                <a:lnTo>
                  <a:pt x="0" y="1191100"/>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7" name="Google Shape;307;p21"/>
          <p:cNvSpPr/>
          <p:nvPr/>
        </p:nvSpPr>
        <p:spPr>
          <a:xfrm>
            <a:off x="5380109" y="6565113"/>
            <a:ext cx="1149243" cy="532961"/>
          </a:xfrm>
          <a:custGeom>
            <a:avLst/>
            <a:gdLst/>
            <a:ahLst/>
            <a:cxnLst/>
            <a:rect l="l" t="t" r="r" b="b"/>
            <a:pathLst>
              <a:path w="1149243" h="532961" extrusionOk="0">
                <a:moveTo>
                  <a:pt x="0" y="0"/>
                </a:moveTo>
                <a:lnTo>
                  <a:pt x="1149243" y="0"/>
                </a:lnTo>
                <a:lnTo>
                  <a:pt x="1149243" y="532961"/>
                </a:lnTo>
                <a:lnTo>
                  <a:pt x="0" y="532961"/>
                </a:lnTo>
                <a:lnTo>
                  <a:pt x="0" y="0"/>
                </a:lnTo>
                <a:close/>
              </a:path>
            </a:pathLst>
          </a:cu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8" name="Google Shape;308;p21"/>
          <p:cNvSpPr/>
          <p:nvPr/>
        </p:nvSpPr>
        <p:spPr>
          <a:xfrm>
            <a:off x="5380109" y="6872688"/>
            <a:ext cx="777215" cy="770414"/>
          </a:xfrm>
          <a:custGeom>
            <a:avLst/>
            <a:gdLst/>
            <a:ahLst/>
            <a:cxnLst/>
            <a:rect l="l" t="t" r="r" b="b"/>
            <a:pathLst>
              <a:path w="777215" h="770414" extrusionOk="0">
                <a:moveTo>
                  <a:pt x="0" y="0"/>
                </a:moveTo>
                <a:lnTo>
                  <a:pt x="777215" y="0"/>
                </a:lnTo>
                <a:lnTo>
                  <a:pt x="777215" y="770414"/>
                </a:lnTo>
                <a:lnTo>
                  <a:pt x="0" y="770414"/>
                </a:lnTo>
                <a:lnTo>
                  <a:pt x="0" y="0"/>
                </a:lnTo>
                <a:close/>
              </a:path>
            </a:pathLst>
          </a:custGeom>
          <a:blipFill rotWithShape="1">
            <a:blip r:embed="rId8">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09" name="Google Shape;309;p21"/>
          <p:cNvSpPr/>
          <p:nvPr/>
        </p:nvSpPr>
        <p:spPr>
          <a:xfrm>
            <a:off x="5825773" y="6150110"/>
            <a:ext cx="777215" cy="770414"/>
          </a:xfrm>
          <a:custGeom>
            <a:avLst/>
            <a:gdLst/>
            <a:ahLst/>
            <a:cxnLst/>
            <a:rect l="l" t="t" r="r" b="b"/>
            <a:pathLst>
              <a:path w="777215" h="770414" extrusionOk="0">
                <a:moveTo>
                  <a:pt x="0" y="0"/>
                </a:moveTo>
                <a:lnTo>
                  <a:pt x="777215" y="0"/>
                </a:lnTo>
                <a:lnTo>
                  <a:pt x="777215" y="770415"/>
                </a:lnTo>
                <a:lnTo>
                  <a:pt x="0" y="770415"/>
                </a:lnTo>
                <a:lnTo>
                  <a:pt x="0" y="0"/>
                </a:lnTo>
                <a:close/>
              </a:path>
            </a:pathLst>
          </a:custGeom>
          <a:blipFill rotWithShape="1">
            <a:blip r:embed="rId8">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0" name="Google Shape;310;p21"/>
          <p:cNvSpPr/>
          <p:nvPr/>
        </p:nvSpPr>
        <p:spPr>
          <a:xfrm>
            <a:off x="5437166" y="6016946"/>
            <a:ext cx="777215" cy="770414"/>
          </a:xfrm>
          <a:custGeom>
            <a:avLst/>
            <a:gdLst/>
            <a:ahLst/>
            <a:cxnLst/>
            <a:rect l="l" t="t" r="r" b="b"/>
            <a:pathLst>
              <a:path w="777215" h="770414" extrusionOk="0">
                <a:moveTo>
                  <a:pt x="0" y="0"/>
                </a:moveTo>
                <a:lnTo>
                  <a:pt x="777215" y="0"/>
                </a:lnTo>
                <a:lnTo>
                  <a:pt x="777215" y="770414"/>
                </a:lnTo>
                <a:lnTo>
                  <a:pt x="0" y="770414"/>
                </a:lnTo>
                <a:lnTo>
                  <a:pt x="0" y="0"/>
                </a:lnTo>
                <a:close/>
              </a:path>
            </a:pathLst>
          </a:custGeom>
          <a:blipFill rotWithShape="1">
            <a:blip r:embed="rId8">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1" name="Google Shape;311;p21"/>
          <p:cNvSpPr/>
          <p:nvPr/>
        </p:nvSpPr>
        <p:spPr>
          <a:xfrm>
            <a:off x="7521450" y="6507316"/>
            <a:ext cx="887959" cy="1036895"/>
          </a:xfrm>
          <a:custGeom>
            <a:avLst/>
            <a:gdLst/>
            <a:ahLst/>
            <a:cxnLst/>
            <a:rect l="l" t="t" r="r" b="b"/>
            <a:pathLst>
              <a:path w="887959" h="1036895" extrusionOk="0">
                <a:moveTo>
                  <a:pt x="0" y="0"/>
                </a:moveTo>
                <a:lnTo>
                  <a:pt x="887959" y="0"/>
                </a:lnTo>
                <a:lnTo>
                  <a:pt x="887959" y="1036894"/>
                </a:lnTo>
                <a:lnTo>
                  <a:pt x="0" y="1036894"/>
                </a:lnTo>
                <a:lnTo>
                  <a:pt x="0" y="0"/>
                </a:lnTo>
                <a:close/>
              </a:path>
            </a:pathLst>
          </a:custGeom>
          <a:blipFill rotWithShape="1">
            <a:blip r:embed="rId9">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2" name="Google Shape;312;p21"/>
          <p:cNvSpPr/>
          <p:nvPr/>
        </p:nvSpPr>
        <p:spPr>
          <a:xfrm>
            <a:off x="10892359" y="6497744"/>
            <a:ext cx="465664" cy="1092466"/>
          </a:xfrm>
          <a:custGeom>
            <a:avLst/>
            <a:gdLst/>
            <a:ahLst/>
            <a:cxnLst/>
            <a:rect l="l" t="t" r="r" b="b"/>
            <a:pathLst>
              <a:path w="465664" h="1092466" extrusionOk="0">
                <a:moveTo>
                  <a:pt x="0" y="0"/>
                </a:moveTo>
                <a:lnTo>
                  <a:pt x="465664" y="0"/>
                </a:lnTo>
                <a:lnTo>
                  <a:pt x="465664" y="1092465"/>
                </a:lnTo>
                <a:lnTo>
                  <a:pt x="0" y="1092465"/>
                </a:lnTo>
                <a:lnTo>
                  <a:pt x="0" y="0"/>
                </a:lnTo>
                <a:close/>
              </a:path>
            </a:pathLst>
          </a:custGeom>
          <a:blipFill rotWithShape="1">
            <a:blip r:embed="rId10">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3" name="Google Shape;313;p21"/>
          <p:cNvSpPr txBox="1"/>
          <p:nvPr/>
        </p:nvSpPr>
        <p:spPr>
          <a:xfrm>
            <a:off x="573773" y="1401318"/>
            <a:ext cx="17232053" cy="3785652"/>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spcFirstLastPara="1" wrap="square" lIns="0" tIns="0" rIns="0" bIns="0" anchor="t" anchorCtr="0">
            <a:spAutoFit/>
          </a:bodyPr>
          <a:lstStyle/>
          <a:p>
            <a:pPr algn="ctr"/>
            <a:endParaRPr lang="es-ES" sz="2000" b="1" dirty="0">
              <a:latin typeface="Source Sans Pro"/>
              <a:ea typeface="Source Sans Pro"/>
            </a:endParaRPr>
          </a:p>
          <a:p>
            <a:pPr marL="457200" indent="-457200" algn="just">
              <a:buFont typeface="+mj-lt"/>
              <a:buAutoNum type="arabicPeriod"/>
            </a:pPr>
            <a:r>
              <a:rPr lang="es-ES" sz="2400" dirty="0">
                <a:latin typeface="Source Sans Pro"/>
                <a:ea typeface="Source Sans Pro"/>
              </a:rPr>
              <a:t>Preparación de muestras de tejido colónico y plasma sanguíneo para extracción de ADN</a:t>
            </a:r>
          </a:p>
          <a:p>
            <a:pPr marL="342900" indent="-342900" algn="just">
              <a:buFont typeface="Arial" panose="020B0604020202020204" pitchFamily="34" charset="0"/>
              <a:buChar char="•"/>
            </a:pPr>
            <a:r>
              <a:rPr lang="es-ES" sz="2400" dirty="0">
                <a:latin typeface="Source Sans Pro"/>
                <a:ea typeface="Source Sans Pro"/>
              </a:rPr>
              <a:t>Biopsias de tejido colónico de los pacientes con CU confirmada- pacientes con CCR y controles sanos. Esto se realizará bajo la supervisión de un gastroenterólogo, a través de </a:t>
            </a:r>
            <a:r>
              <a:rPr lang="es-ES" sz="2400" dirty="0" err="1">
                <a:latin typeface="Source Sans Pro"/>
                <a:ea typeface="Source Sans Pro"/>
              </a:rPr>
              <a:t>biopsia,colondoscopias</a:t>
            </a:r>
            <a:r>
              <a:rPr lang="es-ES" sz="2400" dirty="0">
                <a:latin typeface="Source Sans Pro"/>
                <a:ea typeface="Source Sans Pro"/>
              </a:rPr>
              <a:t> y </a:t>
            </a:r>
            <a:r>
              <a:rPr lang="es-ES" sz="2400" dirty="0" err="1">
                <a:latin typeface="Source Sans Pro"/>
                <a:ea typeface="Source Sans Pro"/>
              </a:rPr>
              <a:t>cromoendoscopia</a:t>
            </a:r>
            <a:endParaRPr lang="es-ES" sz="2400" dirty="0">
              <a:latin typeface="Source Sans Pro"/>
              <a:ea typeface="Source Sans Pro"/>
            </a:endParaRPr>
          </a:p>
          <a:p>
            <a:pPr marL="342900" indent="-342900" algn="just">
              <a:buFont typeface="Arial" panose="020B0604020202020204" pitchFamily="34" charset="0"/>
              <a:buChar char="•"/>
            </a:pPr>
            <a:r>
              <a:rPr lang="es-ES" sz="2400" dirty="0">
                <a:latin typeface="Source Sans Pro"/>
                <a:ea typeface="Source Sans Pro"/>
              </a:rPr>
              <a:t>Las muestras de tejido pasaran por un proceso de fragmentación se utilizará el kit </a:t>
            </a:r>
            <a:r>
              <a:rPr lang="es-ES" sz="2400" dirty="0" err="1">
                <a:latin typeface="Source Sans Pro"/>
                <a:ea typeface="Source Sans Pro"/>
              </a:rPr>
              <a:t>NEBNext</a:t>
            </a:r>
            <a:r>
              <a:rPr lang="es-ES" sz="2400" dirty="0">
                <a:latin typeface="Source Sans Pro"/>
                <a:ea typeface="Source Sans Pro"/>
              </a:rPr>
              <a:t> </a:t>
            </a:r>
            <a:r>
              <a:rPr lang="es-ES" sz="2400" dirty="0" err="1">
                <a:latin typeface="Source Sans Pro"/>
                <a:ea typeface="Source Sans Pro"/>
              </a:rPr>
              <a:t>UltraShear</a:t>
            </a:r>
            <a:endParaRPr lang="es-ES" sz="2400" dirty="0">
              <a:latin typeface="Source Sans Pro"/>
              <a:ea typeface="Source Sans Pro"/>
            </a:endParaRPr>
          </a:p>
          <a:p>
            <a:pPr marL="342900" indent="-342900" algn="just">
              <a:buFont typeface="Arial" panose="020B0604020202020204" pitchFamily="34" charset="0"/>
              <a:buChar char="•"/>
            </a:pPr>
            <a:endParaRPr lang="es-ES" sz="2400" dirty="0">
              <a:latin typeface="Source Sans Pro"/>
              <a:ea typeface="Source Sans Pro"/>
            </a:endParaRPr>
          </a:p>
          <a:p>
            <a:pPr algn="just"/>
            <a:endParaRPr lang="es-ES" sz="2400" dirty="0">
              <a:latin typeface="Source Sans Pro"/>
              <a:ea typeface="Source Sans Pro"/>
            </a:endParaRPr>
          </a:p>
          <a:p>
            <a:pPr algn="just"/>
            <a:r>
              <a:rPr lang="es-ES" sz="2400" dirty="0">
                <a:latin typeface="Source Sans Pro"/>
                <a:ea typeface="Source Sans Pro"/>
              </a:rPr>
              <a:t>2. Las muestras de plasma sanguíneo se </a:t>
            </a:r>
            <a:r>
              <a:rPr lang="es-ES" sz="2400" dirty="0" err="1">
                <a:latin typeface="Source Sans Pro"/>
                <a:ea typeface="Source Sans Pro"/>
              </a:rPr>
              <a:t>recojeran</a:t>
            </a:r>
            <a:r>
              <a:rPr lang="es-ES" sz="2400" dirty="0">
                <a:latin typeface="Source Sans Pro"/>
                <a:ea typeface="Source Sans Pro"/>
              </a:rPr>
              <a:t> en tubos con EDTA, se centrifugará la sangre a 3600 </a:t>
            </a:r>
            <a:r>
              <a:rPr lang="es-ES" sz="2400" dirty="0" err="1">
                <a:latin typeface="Source Sans Pro"/>
                <a:ea typeface="Source Sans Pro"/>
              </a:rPr>
              <a:t>rmp</a:t>
            </a:r>
            <a:r>
              <a:rPr lang="es-ES" sz="2400" dirty="0">
                <a:latin typeface="Source Sans Pro"/>
                <a:ea typeface="Source Sans Pro"/>
              </a:rPr>
              <a:t> x 10 min para obtener el plasma  </a:t>
            </a:r>
          </a:p>
          <a:p>
            <a:pPr algn="ctr"/>
            <a:endParaRPr lang="es-ES" dirty="0"/>
          </a:p>
          <a:p>
            <a:pPr algn="ctr"/>
            <a:endParaRPr lang="es-ES" sz="2000" dirty="0">
              <a:latin typeface="Source Sans Pro"/>
              <a:ea typeface="Source Sans Pro"/>
            </a:endParaRPr>
          </a:p>
        </p:txBody>
      </p:sp>
      <p:sp>
        <p:nvSpPr>
          <p:cNvPr id="315" name="Google Shape;315;p21"/>
          <p:cNvSpPr txBox="1"/>
          <p:nvPr/>
        </p:nvSpPr>
        <p:spPr>
          <a:xfrm>
            <a:off x="617320" y="7969024"/>
            <a:ext cx="2151633" cy="818686"/>
          </a:xfrm>
          <a:prstGeom prst="rect">
            <a:avLst/>
          </a:prstGeom>
          <a:solidFill>
            <a:schemeClr val="accent5">
              <a:lumMod val="20000"/>
              <a:lumOff val="80000"/>
            </a:schemeClr>
          </a:solidFill>
          <a:ln>
            <a:solidFill>
              <a:schemeClr val="bg1"/>
            </a:solidFill>
          </a:ln>
        </p:spPr>
        <p:style>
          <a:lnRef idx="1">
            <a:schemeClr val="accent5"/>
          </a:lnRef>
          <a:fillRef idx="2">
            <a:schemeClr val="accent5"/>
          </a:fillRef>
          <a:effectRef idx="1">
            <a:schemeClr val="accent5"/>
          </a:effectRef>
          <a:fontRef idx="minor">
            <a:schemeClr val="dk1"/>
          </a:fontRef>
        </p:style>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900" dirty="0" err="1">
                <a:solidFill>
                  <a:srgbClr val="000000"/>
                </a:solidFill>
                <a:latin typeface="Source Sans Pro"/>
                <a:ea typeface="Source Sans Pro"/>
                <a:cs typeface="Arial"/>
                <a:sym typeface="Arial"/>
              </a:rPr>
              <a:t>Proteinasa</a:t>
            </a:r>
            <a:r>
              <a:rPr lang="en-US" sz="1900" dirty="0">
                <a:solidFill>
                  <a:srgbClr val="000000"/>
                </a:solidFill>
                <a:latin typeface="Source Sans Pro"/>
                <a:ea typeface="Source Sans Pro"/>
                <a:cs typeface="Arial"/>
                <a:sym typeface="Arial"/>
              </a:rPr>
              <a:t> K y </a:t>
            </a:r>
            <a:r>
              <a:rPr lang="en-US" sz="1900" dirty="0">
                <a:solidFill>
                  <a:srgbClr val="000000"/>
                </a:solidFill>
                <a:latin typeface="Source Sans Pro"/>
                <a:ea typeface="Source Sans Pro"/>
                <a:cs typeface="Arial"/>
              </a:rPr>
              <a:t>Buffer</a:t>
            </a:r>
            <a:r>
              <a:rPr lang="en-US" sz="1900" dirty="0">
                <a:solidFill>
                  <a:srgbClr val="000000"/>
                </a:solidFill>
                <a:latin typeface="Source Sans Pro"/>
                <a:ea typeface="Source Sans Pro"/>
                <a:cs typeface="Arial"/>
                <a:sym typeface="Arial"/>
              </a:rPr>
              <a:t> de </a:t>
            </a:r>
            <a:r>
              <a:rPr lang="en-US" sz="1900" dirty="0" err="1">
                <a:solidFill>
                  <a:srgbClr val="000000"/>
                </a:solidFill>
                <a:latin typeface="Source Sans Pro"/>
                <a:ea typeface="Source Sans Pro"/>
                <a:cs typeface="Arial"/>
                <a:sym typeface="Arial"/>
              </a:rPr>
              <a:t>lisis</a:t>
            </a:r>
            <a:endParaRPr dirty="0">
              <a:latin typeface="Source Sans Pro"/>
              <a:ea typeface="Source Sans Pro"/>
            </a:endParaRPr>
          </a:p>
        </p:txBody>
      </p:sp>
      <p:sp>
        <p:nvSpPr>
          <p:cNvPr id="316" name="Google Shape;316;p21"/>
          <p:cNvSpPr txBox="1"/>
          <p:nvPr/>
        </p:nvSpPr>
        <p:spPr>
          <a:xfrm>
            <a:off x="3539635" y="7969022"/>
            <a:ext cx="2617689" cy="775597"/>
          </a:xfrm>
          <a:prstGeom prst="rect">
            <a:avLst/>
          </a:prstGeom>
          <a:solidFill>
            <a:schemeClr val="accent5">
              <a:lumMod val="20000"/>
              <a:lumOff val="80000"/>
            </a:schemeClr>
          </a:solidFill>
          <a:ln>
            <a:solidFill>
              <a:schemeClr val="bg1"/>
            </a:solidFill>
          </a:ln>
        </p:spPr>
        <p:style>
          <a:lnRef idx="1">
            <a:schemeClr val="accent5"/>
          </a:lnRef>
          <a:fillRef idx="2">
            <a:schemeClr val="accent5"/>
          </a:fillRef>
          <a:effectRef idx="1">
            <a:schemeClr val="accent5"/>
          </a:effectRef>
          <a:fontRef idx="minor">
            <a:schemeClr val="dk1"/>
          </a:fontRef>
        </p:style>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800" dirty="0">
                <a:solidFill>
                  <a:srgbClr val="000000"/>
                </a:solidFill>
                <a:latin typeface="Source Sans Pro"/>
                <a:ea typeface="Source Sans Pro"/>
                <a:cs typeface="Arial"/>
                <a:sym typeface="Arial"/>
              </a:rPr>
              <a:t>cfDNA se </a:t>
            </a:r>
            <a:r>
              <a:rPr lang="en-US" sz="1800" dirty="0" err="1">
                <a:solidFill>
                  <a:srgbClr val="000000"/>
                </a:solidFill>
                <a:latin typeface="Source Sans Pro"/>
                <a:ea typeface="Source Sans Pro"/>
                <a:cs typeface="Arial"/>
                <a:sym typeface="Arial"/>
              </a:rPr>
              <a:t>une</a:t>
            </a:r>
            <a:r>
              <a:rPr lang="en-US" sz="1800" dirty="0">
                <a:solidFill>
                  <a:srgbClr val="000000"/>
                </a:solidFill>
                <a:latin typeface="Source Sans Pro"/>
                <a:ea typeface="Source Sans Pro"/>
                <a:cs typeface="Arial"/>
                <a:sym typeface="Arial"/>
              </a:rPr>
              <a:t> a las </a:t>
            </a:r>
            <a:r>
              <a:rPr lang="en-US" sz="1800" dirty="0" err="1">
                <a:solidFill>
                  <a:srgbClr val="000000"/>
                </a:solidFill>
                <a:latin typeface="Source Sans Pro"/>
                <a:ea typeface="Source Sans Pro"/>
                <a:cs typeface="Arial"/>
                <a:sym typeface="Arial"/>
              </a:rPr>
              <a:t>perlas</a:t>
            </a:r>
            <a:r>
              <a:rPr lang="en-US" sz="1800" dirty="0">
                <a:solidFill>
                  <a:srgbClr val="000000"/>
                </a:solidFill>
                <a:latin typeface="Source Sans Pro"/>
                <a:ea typeface="Source Sans Pro"/>
                <a:cs typeface="Arial"/>
                <a:sym typeface="Arial"/>
              </a:rPr>
              <a:t> </a:t>
            </a:r>
            <a:r>
              <a:rPr lang="en-US" sz="1800" dirty="0" err="1">
                <a:solidFill>
                  <a:srgbClr val="000000"/>
                </a:solidFill>
                <a:latin typeface="Source Sans Pro"/>
                <a:ea typeface="Source Sans Pro"/>
                <a:cs typeface="Arial"/>
                <a:sym typeface="Arial"/>
              </a:rPr>
              <a:t>magnéticas</a:t>
            </a:r>
            <a:r>
              <a:rPr lang="en-US" sz="1800" dirty="0">
                <a:solidFill>
                  <a:srgbClr val="000000"/>
                </a:solidFill>
                <a:latin typeface="Source Sans Pro"/>
                <a:ea typeface="Source Sans Pro"/>
                <a:cs typeface="Arial"/>
                <a:sym typeface="Arial"/>
              </a:rPr>
              <a:t>.</a:t>
            </a:r>
            <a:endParaRPr dirty="0">
              <a:latin typeface="Source Sans Pro"/>
              <a:ea typeface="Source Sans Pro"/>
            </a:endParaRPr>
          </a:p>
        </p:txBody>
      </p:sp>
      <p:sp>
        <p:nvSpPr>
          <p:cNvPr id="317" name="Google Shape;317;p21"/>
          <p:cNvSpPr txBox="1"/>
          <p:nvPr/>
        </p:nvSpPr>
        <p:spPr>
          <a:xfrm>
            <a:off x="1443903" y="5689683"/>
            <a:ext cx="1191000" cy="43088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000" b="1" dirty="0">
                <a:solidFill>
                  <a:srgbClr val="000000"/>
                </a:solidFill>
                <a:latin typeface="Source Sans Pro"/>
                <a:ea typeface="Source Sans Pro"/>
                <a:sym typeface="Arial"/>
              </a:rPr>
              <a:t>LISIS</a:t>
            </a:r>
            <a:endParaRPr dirty="0">
              <a:latin typeface="Source Sans Pro"/>
              <a:ea typeface="Source Sans Pro"/>
            </a:endParaRPr>
          </a:p>
        </p:txBody>
      </p:sp>
      <p:sp>
        <p:nvSpPr>
          <p:cNvPr id="318" name="Google Shape;318;p21"/>
          <p:cNvSpPr txBox="1"/>
          <p:nvPr/>
        </p:nvSpPr>
        <p:spPr>
          <a:xfrm>
            <a:off x="4253108" y="5671396"/>
            <a:ext cx="850106" cy="43088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000" b="1" dirty="0">
                <a:solidFill>
                  <a:srgbClr val="000000"/>
                </a:solidFill>
                <a:latin typeface="Source Sans Pro"/>
                <a:ea typeface="Source Sans Pro"/>
                <a:sym typeface="Arial"/>
              </a:rPr>
              <a:t>UNION</a:t>
            </a:r>
            <a:endParaRPr dirty="0">
              <a:latin typeface="Source Sans Pro"/>
              <a:ea typeface="Source Sans Pro"/>
            </a:endParaRPr>
          </a:p>
        </p:txBody>
      </p:sp>
      <p:sp>
        <p:nvSpPr>
          <p:cNvPr id="319" name="Google Shape;319;p21"/>
          <p:cNvSpPr txBox="1"/>
          <p:nvPr/>
        </p:nvSpPr>
        <p:spPr>
          <a:xfrm>
            <a:off x="6909634" y="8012110"/>
            <a:ext cx="2442480" cy="689420"/>
          </a:xfrm>
          <a:prstGeom prst="rect">
            <a:avLst/>
          </a:prstGeom>
          <a:solidFill>
            <a:schemeClr val="accent5">
              <a:lumMod val="20000"/>
              <a:lumOff val="80000"/>
            </a:schemeClr>
          </a:solidFill>
          <a:ln>
            <a:solidFill>
              <a:schemeClr val="bg1"/>
            </a:solidFill>
          </a:ln>
        </p:spPr>
        <p:style>
          <a:lnRef idx="1">
            <a:schemeClr val="accent5"/>
          </a:lnRef>
          <a:fillRef idx="2">
            <a:schemeClr val="accent5"/>
          </a:fillRef>
          <a:effectRef idx="1">
            <a:schemeClr val="accent5"/>
          </a:effectRef>
          <a:fontRef idx="minor">
            <a:schemeClr val="dk1"/>
          </a:fontRef>
        </p:style>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600" dirty="0" err="1">
                <a:solidFill>
                  <a:srgbClr val="000000"/>
                </a:solidFill>
                <a:latin typeface="Source Sans Pro"/>
                <a:ea typeface="Source Sans Pro"/>
                <a:cs typeface="Arial"/>
                <a:sym typeface="Arial"/>
              </a:rPr>
              <a:t>Eliminación</a:t>
            </a:r>
            <a:r>
              <a:rPr lang="en-US" sz="1600" dirty="0">
                <a:solidFill>
                  <a:srgbClr val="000000"/>
                </a:solidFill>
                <a:latin typeface="Source Sans Pro"/>
                <a:ea typeface="Source Sans Pro"/>
                <a:cs typeface="Arial"/>
                <a:sym typeface="Arial"/>
              </a:rPr>
              <a:t> de </a:t>
            </a:r>
            <a:r>
              <a:rPr lang="en-US" sz="1600" dirty="0" err="1">
                <a:solidFill>
                  <a:srgbClr val="000000"/>
                </a:solidFill>
                <a:latin typeface="Source Sans Pro"/>
                <a:ea typeface="Source Sans Pro"/>
                <a:cs typeface="Arial"/>
                <a:sym typeface="Arial"/>
              </a:rPr>
              <a:t>impurezas</a:t>
            </a:r>
            <a:r>
              <a:rPr lang="en-US" sz="1600" dirty="0">
                <a:solidFill>
                  <a:srgbClr val="000000"/>
                </a:solidFill>
                <a:latin typeface="Source Sans Pro"/>
                <a:ea typeface="Source Sans Pro"/>
                <a:cs typeface="Arial"/>
                <a:sym typeface="Arial"/>
              </a:rPr>
              <a:t> con </a:t>
            </a:r>
            <a:r>
              <a:rPr lang="en-US" sz="1600" dirty="0" err="1">
                <a:solidFill>
                  <a:srgbClr val="000000"/>
                </a:solidFill>
                <a:latin typeface="Source Sans Pro"/>
                <a:ea typeface="Source Sans Pro"/>
                <a:cs typeface="Arial"/>
                <a:sym typeface="Arial"/>
              </a:rPr>
              <a:t>lavados</a:t>
            </a:r>
            <a:r>
              <a:rPr lang="en-US" sz="1600" dirty="0">
                <a:solidFill>
                  <a:srgbClr val="000000"/>
                </a:solidFill>
                <a:latin typeface="Source Sans Pro"/>
                <a:ea typeface="Source Sans Pro"/>
                <a:cs typeface="Arial"/>
                <a:sym typeface="Arial"/>
              </a:rPr>
              <a:t> </a:t>
            </a:r>
            <a:r>
              <a:rPr lang="en-US" sz="1600" dirty="0" err="1">
                <a:solidFill>
                  <a:srgbClr val="000000"/>
                </a:solidFill>
                <a:latin typeface="Source Sans Pro"/>
                <a:ea typeface="Source Sans Pro"/>
                <a:cs typeface="Arial"/>
                <a:sym typeface="Arial"/>
              </a:rPr>
              <a:t>automatizados</a:t>
            </a:r>
            <a:r>
              <a:rPr lang="en-US" sz="1600" dirty="0">
                <a:solidFill>
                  <a:srgbClr val="000000"/>
                </a:solidFill>
                <a:latin typeface="Source Sans Pro"/>
                <a:ea typeface="Source Sans Pro"/>
                <a:cs typeface="Arial"/>
                <a:sym typeface="Arial"/>
              </a:rPr>
              <a:t>.</a:t>
            </a:r>
            <a:endParaRPr dirty="0">
              <a:latin typeface="Source Sans Pro"/>
              <a:ea typeface="Source Sans Pro"/>
            </a:endParaRPr>
          </a:p>
        </p:txBody>
      </p:sp>
      <p:sp>
        <p:nvSpPr>
          <p:cNvPr id="320" name="Google Shape;320;p21"/>
          <p:cNvSpPr txBox="1"/>
          <p:nvPr/>
        </p:nvSpPr>
        <p:spPr>
          <a:xfrm>
            <a:off x="7285978" y="5759010"/>
            <a:ext cx="1394970" cy="43088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000" b="1" dirty="0">
                <a:solidFill>
                  <a:srgbClr val="000000"/>
                </a:solidFill>
                <a:latin typeface="Source Sans Pro"/>
                <a:ea typeface="Source Sans Pro"/>
                <a:sym typeface="Arial"/>
              </a:rPr>
              <a:t>LAVADO</a:t>
            </a:r>
            <a:endParaRPr dirty="0">
              <a:latin typeface="Source Sans Pro"/>
              <a:ea typeface="Source Sans Pro"/>
            </a:endParaRPr>
          </a:p>
        </p:txBody>
      </p:sp>
      <p:sp>
        <p:nvSpPr>
          <p:cNvPr id="321" name="Google Shape;321;p21"/>
          <p:cNvSpPr txBox="1"/>
          <p:nvPr/>
        </p:nvSpPr>
        <p:spPr>
          <a:xfrm>
            <a:off x="9797433" y="7956300"/>
            <a:ext cx="2981569" cy="775597"/>
          </a:xfrm>
          <a:prstGeom prst="rect">
            <a:avLst/>
          </a:prstGeom>
          <a:solidFill>
            <a:schemeClr val="accent5">
              <a:lumMod val="20000"/>
              <a:lumOff val="80000"/>
            </a:schemeClr>
          </a:solidFill>
          <a:ln>
            <a:solidFill>
              <a:schemeClr val="bg1"/>
            </a:solidFill>
          </a:ln>
        </p:spPr>
        <p:style>
          <a:lnRef idx="1">
            <a:schemeClr val="accent5"/>
          </a:lnRef>
          <a:fillRef idx="2">
            <a:schemeClr val="accent5"/>
          </a:fillRef>
          <a:effectRef idx="1">
            <a:schemeClr val="accent5"/>
          </a:effectRef>
          <a:fontRef idx="minor">
            <a:schemeClr val="dk1"/>
          </a:fontRef>
        </p:style>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800" dirty="0" err="1">
                <a:solidFill>
                  <a:srgbClr val="000000"/>
                </a:solidFill>
                <a:latin typeface="Source Sans Pro"/>
                <a:ea typeface="Source Sans Pro"/>
                <a:cs typeface="Arial"/>
                <a:sym typeface="Arial"/>
              </a:rPr>
              <a:t>Recuperación</a:t>
            </a:r>
            <a:r>
              <a:rPr lang="en-US" sz="1800" dirty="0">
                <a:solidFill>
                  <a:srgbClr val="000000"/>
                </a:solidFill>
                <a:latin typeface="Source Sans Pro"/>
                <a:ea typeface="Source Sans Pro"/>
                <a:cs typeface="Arial"/>
                <a:sym typeface="Arial"/>
              </a:rPr>
              <a:t> del cfDNA </a:t>
            </a:r>
            <a:r>
              <a:rPr lang="en-US" sz="1800" dirty="0" err="1">
                <a:solidFill>
                  <a:srgbClr val="000000"/>
                </a:solidFill>
                <a:latin typeface="Source Sans Pro"/>
                <a:ea typeface="Source Sans Pro"/>
                <a:cs typeface="Arial"/>
                <a:sym typeface="Arial"/>
              </a:rPr>
              <a:t>purificado</a:t>
            </a:r>
            <a:r>
              <a:rPr lang="en-US" sz="1800" dirty="0">
                <a:solidFill>
                  <a:srgbClr val="000000"/>
                </a:solidFill>
                <a:latin typeface="Source Sans Pro"/>
                <a:ea typeface="Source Sans Pro"/>
                <a:cs typeface="Arial"/>
                <a:sym typeface="Arial"/>
              </a:rPr>
              <a:t> en </a:t>
            </a:r>
            <a:r>
              <a:rPr lang="en-US" sz="1800" dirty="0">
                <a:solidFill>
                  <a:srgbClr val="000000"/>
                </a:solidFill>
                <a:latin typeface="Source Sans Pro"/>
                <a:ea typeface="Source Sans Pro"/>
                <a:cs typeface="Arial"/>
              </a:rPr>
              <a:t>buffer</a:t>
            </a:r>
            <a:r>
              <a:rPr lang="en-US" sz="1800" dirty="0">
                <a:solidFill>
                  <a:srgbClr val="000000"/>
                </a:solidFill>
                <a:latin typeface="Source Sans Pro"/>
                <a:ea typeface="Source Sans Pro"/>
                <a:cs typeface="Arial"/>
                <a:sym typeface="Arial"/>
              </a:rPr>
              <a:t> de </a:t>
            </a:r>
            <a:r>
              <a:rPr lang="en-US" sz="1800" dirty="0" err="1">
                <a:solidFill>
                  <a:srgbClr val="000000"/>
                </a:solidFill>
                <a:latin typeface="Source Sans Pro"/>
                <a:ea typeface="Source Sans Pro"/>
                <a:cs typeface="Arial"/>
                <a:sym typeface="Arial"/>
              </a:rPr>
              <a:t>elución</a:t>
            </a:r>
            <a:r>
              <a:rPr lang="en-US" sz="1800" dirty="0">
                <a:solidFill>
                  <a:srgbClr val="000000"/>
                </a:solidFill>
                <a:latin typeface="Source Sans Pro"/>
                <a:ea typeface="Source Sans Pro"/>
                <a:cs typeface="Arial"/>
                <a:sym typeface="Arial"/>
              </a:rPr>
              <a:t>.</a:t>
            </a:r>
            <a:endParaRPr sz="1600" dirty="0">
              <a:latin typeface="Source Sans Pro"/>
              <a:ea typeface="Source Sans Pro"/>
            </a:endParaRPr>
          </a:p>
        </p:txBody>
      </p:sp>
      <p:sp>
        <p:nvSpPr>
          <p:cNvPr id="322" name="Google Shape;322;p21"/>
          <p:cNvSpPr txBox="1"/>
          <p:nvPr/>
        </p:nvSpPr>
        <p:spPr>
          <a:xfrm>
            <a:off x="10234522" y="5861905"/>
            <a:ext cx="1519756" cy="43088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000" b="1" dirty="0">
                <a:solidFill>
                  <a:srgbClr val="000000"/>
                </a:solidFill>
                <a:latin typeface="Source Sans Pro"/>
                <a:ea typeface="Source Sans Pro"/>
                <a:sym typeface="Arial"/>
              </a:rPr>
              <a:t>ELUCION</a:t>
            </a:r>
            <a:endParaRPr dirty="0">
              <a:latin typeface="Source Sans Pro"/>
              <a:ea typeface="Source Sans Pro"/>
            </a:endParaRPr>
          </a:p>
        </p:txBody>
      </p:sp>
      <p:sp>
        <p:nvSpPr>
          <p:cNvPr id="323" name="Google Shape;323;p21"/>
          <p:cNvSpPr txBox="1"/>
          <p:nvPr/>
        </p:nvSpPr>
        <p:spPr>
          <a:xfrm>
            <a:off x="527973" y="259382"/>
            <a:ext cx="17232053" cy="960233"/>
          </a:xfrm>
          <a:prstGeom prst="rect">
            <a:avLst/>
          </a:prstGeom>
          <a:solidFill>
            <a:schemeClr val="accent5">
              <a:lumMod val="20000"/>
              <a:lumOff val="80000"/>
            </a:schemeClr>
          </a:solidFill>
          <a:ln>
            <a:noFill/>
          </a:ln>
        </p:spPr>
        <p:style>
          <a:lnRef idx="2">
            <a:schemeClr val="dk1"/>
          </a:lnRef>
          <a:fillRef idx="1">
            <a:schemeClr val="lt1"/>
          </a:fillRef>
          <a:effectRef idx="0">
            <a:schemeClr val="dk1"/>
          </a:effectRef>
          <a:fontRef idx="minor">
            <a:schemeClr val="dk1"/>
          </a:fontRef>
        </p:style>
        <p:txBody>
          <a:bodyPr spcFirstLastPara="1" wrap="square" lIns="91425" tIns="91425" rIns="91425" bIns="91425" anchor="t" anchorCtr="0">
            <a:spAutoFit/>
          </a:bodyPr>
          <a:lstStyle/>
          <a:p>
            <a:pPr marL="0" lvl="0" indent="0" algn="ctr" rtl="0">
              <a:lnSpc>
                <a:spcPct val="140034"/>
              </a:lnSpc>
              <a:spcBef>
                <a:spcPts val="0"/>
              </a:spcBef>
              <a:spcAft>
                <a:spcPts val="0"/>
              </a:spcAft>
              <a:buNone/>
            </a:pPr>
            <a:r>
              <a:rPr lang="en-US" sz="1800" b="1" dirty="0">
                <a:latin typeface="Source Sans Pro"/>
                <a:ea typeface="Source Sans Pro"/>
              </a:rPr>
              <a:t>Metodologia del objetivo 1. Caracterizar los perfiles de metilación de ADN libres en plasma y en biopsias de colon de pacientes con CU con alto </a:t>
            </a:r>
            <a:r>
              <a:rPr lang="en-US" sz="1800" b="1" dirty="0" err="1">
                <a:latin typeface="Source Sans Pro"/>
                <a:ea typeface="Source Sans Pro"/>
              </a:rPr>
              <a:t>riesgo</a:t>
            </a:r>
            <a:r>
              <a:rPr lang="en-US" sz="1800" b="1" dirty="0">
                <a:latin typeface="Source Sans Pro"/>
                <a:ea typeface="Source Sans Pro"/>
              </a:rPr>
              <a:t> de </a:t>
            </a:r>
            <a:r>
              <a:rPr lang="en-US" sz="1800" b="1" dirty="0" err="1">
                <a:latin typeface="Source Sans Pro"/>
                <a:ea typeface="Source Sans Pro"/>
              </a:rPr>
              <a:t>cáncer</a:t>
            </a:r>
            <a:r>
              <a:rPr lang="en-US" sz="1800" b="1" dirty="0">
                <a:latin typeface="Source Sans Pro"/>
                <a:ea typeface="Source Sans Pro"/>
              </a:rPr>
              <a:t> colorectal</a:t>
            </a:r>
          </a:p>
          <a:p>
            <a:pPr algn="ctr">
              <a:lnSpc>
                <a:spcPct val="140034"/>
              </a:lnSpc>
            </a:pPr>
            <a:r>
              <a:rPr lang="en-US" sz="1800" b="1" dirty="0">
                <a:latin typeface="Source Sans Pro"/>
                <a:ea typeface="Source Sans Pro"/>
              </a:rPr>
              <a:t>Metodologia del objetivo 2. </a:t>
            </a:r>
            <a:r>
              <a:rPr lang="es-ES" sz="1800" b="1" dirty="0">
                <a:latin typeface="Source Sans Pro"/>
                <a:ea typeface="Source Sans Pro"/>
              </a:rPr>
              <a:t>Comparar los perfiles de metilación de ADN libres en plasma y en biopsias de colon de pacientes con CU frente a controles sanos y con CCR</a:t>
            </a:r>
          </a:p>
        </p:txBody>
      </p:sp>
      <p:sp>
        <p:nvSpPr>
          <p:cNvPr id="3" name="CuadroTexto 2">
            <a:extLst>
              <a:ext uri="{FF2B5EF4-FFF2-40B4-BE49-F238E27FC236}">
                <a16:creationId xmlns:a16="http://schemas.microsoft.com/office/drawing/2014/main" id="{6BAE3F76-1D70-80A6-550A-E7DFE5507938}"/>
              </a:ext>
            </a:extLst>
          </p:cNvPr>
          <p:cNvSpPr txBox="1"/>
          <p:nvPr/>
        </p:nvSpPr>
        <p:spPr>
          <a:xfrm>
            <a:off x="4780114" y="9074844"/>
            <a:ext cx="9144000" cy="829522"/>
          </a:xfrm>
          <a:prstGeom prst="rect">
            <a:avLst/>
          </a:prstGeom>
          <a:noFill/>
          <a:ln>
            <a:solidFill>
              <a:schemeClr val="tx1"/>
            </a:solidFill>
            <a:prstDash val="dash"/>
          </a:ln>
        </p:spPr>
        <p:txBody>
          <a:bodyPr wrap="square">
            <a:spAutoFit/>
          </a:bodyPr>
          <a:lstStyle/>
          <a:p>
            <a:pPr marR="0" lvl="0" algn="ctr" rtl="0">
              <a:lnSpc>
                <a:spcPct val="140000"/>
              </a:lnSpc>
              <a:spcBef>
                <a:spcPts val="0"/>
              </a:spcBef>
              <a:spcAft>
                <a:spcPts val="0"/>
              </a:spcAft>
            </a:pPr>
            <a:r>
              <a:rPr lang="es-ES" sz="1800" dirty="0">
                <a:latin typeface="Source Sans Pro"/>
                <a:ea typeface="Source Sans Pro"/>
              </a:rPr>
              <a:t>3.</a:t>
            </a:r>
            <a:r>
              <a:rPr lang="es-ES" sz="1800" dirty="0">
                <a:solidFill>
                  <a:srgbClr val="000000"/>
                </a:solidFill>
                <a:latin typeface="Source Sans Pro"/>
                <a:ea typeface="Source Sans Pro"/>
                <a:cs typeface="Arial"/>
                <a:sym typeface="Arial"/>
              </a:rPr>
              <a:t> Purificación de Tejido - </a:t>
            </a:r>
            <a:r>
              <a:rPr lang="es-ES" sz="1800" dirty="0" err="1">
                <a:solidFill>
                  <a:srgbClr val="000000"/>
                </a:solidFill>
                <a:latin typeface="Source Sans Pro"/>
                <a:ea typeface="Source Sans Pro"/>
                <a:cs typeface="Arial"/>
                <a:sym typeface="Arial"/>
              </a:rPr>
              <a:t>cfDNA</a:t>
            </a:r>
            <a:r>
              <a:rPr lang="es-ES" sz="1800" dirty="0">
                <a:solidFill>
                  <a:srgbClr val="000000"/>
                </a:solidFill>
                <a:latin typeface="Source Sans Pro"/>
                <a:ea typeface="Source Sans Pro"/>
                <a:cs typeface="Arial"/>
                <a:sym typeface="Arial"/>
              </a:rPr>
              <a:t> con perlas magnéticas (PANAMAX™ 48).</a:t>
            </a:r>
            <a:endParaRPr lang="es-ES" sz="1800" dirty="0">
              <a:latin typeface="Source Sans Pro"/>
              <a:ea typeface="Source Sans Pro"/>
            </a:endParaRPr>
          </a:p>
          <a:p>
            <a:pPr marL="0" marR="0" lvl="0" indent="0" algn="ctr" rtl="0">
              <a:lnSpc>
                <a:spcPct val="140000"/>
              </a:lnSpc>
              <a:spcBef>
                <a:spcPts val="0"/>
              </a:spcBef>
              <a:spcAft>
                <a:spcPts val="0"/>
              </a:spcAft>
              <a:buNone/>
            </a:pPr>
            <a:r>
              <a:rPr lang="es-ES" sz="1800" dirty="0">
                <a:solidFill>
                  <a:srgbClr val="000000"/>
                </a:solidFill>
                <a:latin typeface="Source Sans Pro"/>
                <a:ea typeface="Source Sans Pro"/>
                <a:cs typeface="Arial"/>
                <a:sym typeface="Arial"/>
              </a:rPr>
              <a:t>Pasos: Lisis → Unión → Lavado → Elución</a:t>
            </a:r>
            <a:endParaRPr lang="es-ES" sz="1800" dirty="0"/>
          </a:p>
        </p:txBody>
      </p:sp>
      <p:sp>
        <p:nvSpPr>
          <p:cNvPr id="4" name="Google Shape;322;p21">
            <a:extLst>
              <a:ext uri="{FF2B5EF4-FFF2-40B4-BE49-F238E27FC236}">
                <a16:creationId xmlns:a16="http://schemas.microsoft.com/office/drawing/2014/main" id="{0B0AF0BE-6421-1461-4774-1705EA481B11}"/>
              </a:ext>
            </a:extLst>
          </p:cNvPr>
          <p:cNvSpPr txBox="1"/>
          <p:nvPr/>
        </p:nvSpPr>
        <p:spPr>
          <a:xfrm>
            <a:off x="12879735" y="5886839"/>
            <a:ext cx="2345174" cy="430887"/>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000" b="1" dirty="0">
                <a:solidFill>
                  <a:srgbClr val="000000"/>
                </a:solidFill>
                <a:latin typeface="Source Sans Pro"/>
                <a:ea typeface="Source Sans Pro"/>
                <a:sym typeface="Arial"/>
              </a:rPr>
              <a:t>CUANTIFICACION</a:t>
            </a:r>
            <a:endParaRPr dirty="0">
              <a:latin typeface="Source Sans Pro"/>
              <a:ea typeface="Source Sans Pro"/>
            </a:endParaRPr>
          </a:p>
        </p:txBody>
      </p:sp>
      <p:pic>
        <p:nvPicPr>
          <p:cNvPr id="2052" name="Picture 4" descr="Invitrogen™ Qubit™ 3.0 Quantitation Starter Kit With dsDNA BR, dsDNA HS ...">
            <a:extLst>
              <a:ext uri="{FF2B5EF4-FFF2-40B4-BE49-F238E27FC236}">
                <a16:creationId xmlns:a16="http://schemas.microsoft.com/office/drawing/2014/main" id="{D3F89ABD-E2C0-C4E2-8835-5281D658CFC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744433" y="6386844"/>
            <a:ext cx="1001732" cy="142246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New England Biolabs NEBNext UltraShear FFPE DNA Library Prep Kit">
            <a:extLst>
              <a:ext uri="{FF2B5EF4-FFF2-40B4-BE49-F238E27FC236}">
                <a16:creationId xmlns:a16="http://schemas.microsoft.com/office/drawing/2014/main" id="{F33F1FC3-B135-5C92-D54C-94CF9320F96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043314" y="3041828"/>
            <a:ext cx="1569886" cy="1308238"/>
          </a:xfrm>
          <a:prstGeom prst="rect">
            <a:avLst/>
          </a:prstGeom>
          <a:noFill/>
          <a:extLst>
            <a:ext uri="{909E8E84-426E-40DD-AFC4-6F175D3DCCD1}">
              <a14:hiddenFill xmlns:a14="http://schemas.microsoft.com/office/drawing/2010/main">
                <a:solidFill>
                  <a:srgbClr val="FFFFFF"/>
                </a:solidFill>
              </a14:hiddenFill>
            </a:ext>
          </a:extLst>
        </p:spPr>
      </p:pic>
      <p:pic>
        <p:nvPicPr>
          <p:cNvPr id="5" name="Google Shape;93;p1" descr="No hay ninguna descripción de la foto disponible.">
            <a:extLst>
              <a:ext uri="{FF2B5EF4-FFF2-40B4-BE49-F238E27FC236}">
                <a16:creationId xmlns:a16="http://schemas.microsoft.com/office/drawing/2014/main" id="{907A2077-F319-7291-564A-B569646F1540}"/>
              </a:ext>
            </a:extLst>
          </p:cNvPr>
          <p:cNvPicPr preferRelativeResize="0"/>
          <p:nvPr/>
        </p:nvPicPr>
        <p:blipFill rotWithShape="1">
          <a:blip r:embed="rId13">
            <a:alphaModFix/>
          </a:blip>
          <a:srcRect l="26238" t="22935" r="26586" b="20031"/>
          <a:stretch>
            <a:fillRect/>
          </a:stretch>
        </p:blipFill>
        <p:spPr>
          <a:xfrm>
            <a:off x="2350271" y="9478247"/>
            <a:ext cx="1002529" cy="531795"/>
          </a:xfrm>
          <a:prstGeom prst="rect">
            <a:avLst/>
          </a:prstGeom>
          <a:noFill/>
          <a:ln>
            <a:noFill/>
          </a:ln>
        </p:spPr>
      </p:pic>
      <p:pic>
        <p:nvPicPr>
          <p:cNvPr id="6" name="Google Shape;94;p1" descr="Universidad El Bosque in Colombia : Reviews &amp; Rankings | Student ...">
            <a:extLst>
              <a:ext uri="{FF2B5EF4-FFF2-40B4-BE49-F238E27FC236}">
                <a16:creationId xmlns:a16="http://schemas.microsoft.com/office/drawing/2014/main" id="{0E4B571B-8A64-9D77-7599-0504C698A297}"/>
              </a:ext>
            </a:extLst>
          </p:cNvPr>
          <p:cNvPicPr preferRelativeResize="0"/>
          <p:nvPr/>
        </p:nvPicPr>
        <p:blipFill rotWithShape="1">
          <a:blip r:embed="rId14">
            <a:alphaModFix/>
          </a:blip>
          <a:srcRect l="14020" t="34765" r="17993" b="25071"/>
          <a:stretch>
            <a:fillRect/>
          </a:stretch>
        </p:blipFill>
        <p:spPr>
          <a:xfrm>
            <a:off x="250451" y="9551840"/>
            <a:ext cx="1384459" cy="458202"/>
          </a:xfrm>
          <a:prstGeom prst="rect">
            <a:avLst/>
          </a:prstGeom>
          <a:noFill/>
          <a:ln>
            <a:noFill/>
          </a:ln>
        </p:spPr>
      </p:pic>
      <p:sp>
        <p:nvSpPr>
          <p:cNvPr id="2" name="Google Shape;321;p21">
            <a:extLst>
              <a:ext uri="{FF2B5EF4-FFF2-40B4-BE49-F238E27FC236}">
                <a16:creationId xmlns:a16="http://schemas.microsoft.com/office/drawing/2014/main" id="{28DCB5F1-0C6F-403E-F376-555CF251B9F9}"/>
              </a:ext>
            </a:extLst>
          </p:cNvPr>
          <p:cNvSpPr txBox="1"/>
          <p:nvPr/>
        </p:nvSpPr>
        <p:spPr>
          <a:xfrm>
            <a:off x="13185804" y="7925933"/>
            <a:ext cx="2232686" cy="775597"/>
          </a:xfrm>
          <a:prstGeom prst="rect">
            <a:avLst/>
          </a:prstGeom>
          <a:solidFill>
            <a:schemeClr val="accent5">
              <a:lumMod val="20000"/>
              <a:lumOff val="80000"/>
            </a:schemeClr>
          </a:solidFill>
          <a:ln>
            <a:solidFill>
              <a:schemeClr val="bg1"/>
            </a:solidFill>
          </a:ln>
        </p:spPr>
        <p:style>
          <a:lnRef idx="1">
            <a:schemeClr val="accent5"/>
          </a:lnRef>
          <a:fillRef idx="2">
            <a:schemeClr val="accent5"/>
          </a:fillRef>
          <a:effectRef idx="1">
            <a:schemeClr val="accent5"/>
          </a:effectRef>
          <a:fontRef idx="minor">
            <a:schemeClr val="dk1"/>
          </a:fontRef>
        </p:style>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800" dirty="0">
                <a:solidFill>
                  <a:srgbClr val="000000"/>
                </a:solidFill>
                <a:latin typeface="Source Sans Pro"/>
                <a:ea typeface="Source Sans Pro"/>
                <a:cs typeface="Arial"/>
                <a:sym typeface="Arial"/>
              </a:rPr>
              <a:t>Quantification de ac. </a:t>
            </a:r>
            <a:r>
              <a:rPr lang="en-US" sz="1800" dirty="0" err="1">
                <a:solidFill>
                  <a:srgbClr val="000000"/>
                </a:solidFill>
                <a:latin typeface="Source Sans Pro"/>
                <a:ea typeface="Source Sans Pro"/>
                <a:cs typeface="Arial"/>
                <a:sym typeface="Arial"/>
              </a:rPr>
              <a:t>nucleicos</a:t>
            </a:r>
            <a:r>
              <a:rPr lang="en-US" sz="1800" dirty="0">
                <a:solidFill>
                  <a:srgbClr val="000000"/>
                </a:solidFill>
                <a:latin typeface="Source Sans Pro"/>
                <a:ea typeface="Source Sans Pro"/>
                <a:cs typeface="Arial"/>
                <a:sym typeface="Arial"/>
              </a:rPr>
              <a:t> ng/ul</a:t>
            </a:r>
            <a:endParaRPr sz="1600" dirty="0">
              <a:latin typeface="Source Sans Pro"/>
              <a:ea typeface="Source Sans Pr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22"/>
          <p:cNvSpPr/>
          <p:nvPr/>
        </p:nvSpPr>
        <p:spPr>
          <a:xfrm>
            <a:off x="7145701" y="631131"/>
            <a:ext cx="10714884" cy="3625043"/>
          </a:xfrm>
          <a:custGeom>
            <a:avLst/>
            <a:gdLst/>
            <a:ahLst/>
            <a:cxnLst/>
            <a:rect l="l" t="t" r="r" b="b"/>
            <a:pathLst>
              <a:path w="10714884" h="4132414" extrusionOk="0">
                <a:moveTo>
                  <a:pt x="0" y="0"/>
                </a:moveTo>
                <a:lnTo>
                  <a:pt x="10714883" y="0"/>
                </a:lnTo>
                <a:lnTo>
                  <a:pt x="10714883" y="4132414"/>
                </a:lnTo>
                <a:lnTo>
                  <a:pt x="0" y="4132414"/>
                </a:lnTo>
                <a:lnTo>
                  <a:pt x="0" y="0"/>
                </a:lnTo>
                <a:close/>
              </a:path>
            </a:pathLst>
          </a:custGeom>
          <a:blipFill rotWithShape="1">
            <a:blip r:embed="rId3">
              <a:alphaModFix/>
            </a:blip>
            <a:stretch>
              <a:fillRect t="-398" b="-398"/>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9" name="Google Shape;329;p22"/>
          <p:cNvSpPr/>
          <p:nvPr/>
        </p:nvSpPr>
        <p:spPr>
          <a:xfrm>
            <a:off x="8242735" y="4740064"/>
            <a:ext cx="8526925" cy="2014486"/>
          </a:xfrm>
          <a:custGeom>
            <a:avLst/>
            <a:gdLst/>
            <a:ahLst/>
            <a:cxnLst/>
            <a:rect l="l" t="t" r="r" b="b"/>
            <a:pathLst>
              <a:path w="8526925" h="2014486" extrusionOk="0">
                <a:moveTo>
                  <a:pt x="0" y="0"/>
                </a:moveTo>
                <a:lnTo>
                  <a:pt x="8526925" y="0"/>
                </a:lnTo>
                <a:lnTo>
                  <a:pt x="8526925" y="2014486"/>
                </a:lnTo>
                <a:lnTo>
                  <a:pt x="0" y="2014486"/>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0" name="Google Shape;330;p22"/>
          <p:cNvSpPr/>
          <p:nvPr/>
        </p:nvSpPr>
        <p:spPr>
          <a:xfrm>
            <a:off x="13425153" y="6689775"/>
            <a:ext cx="3704250" cy="2050111"/>
          </a:xfrm>
          <a:custGeom>
            <a:avLst/>
            <a:gdLst/>
            <a:ahLst/>
            <a:cxnLst/>
            <a:rect l="l" t="t" r="r" b="b"/>
            <a:pathLst>
              <a:path w="3704250" h="2050111" extrusionOk="0">
                <a:moveTo>
                  <a:pt x="0" y="0"/>
                </a:moveTo>
                <a:lnTo>
                  <a:pt x="3704250" y="0"/>
                </a:lnTo>
                <a:lnTo>
                  <a:pt x="3704250" y="2050111"/>
                </a:lnTo>
                <a:lnTo>
                  <a:pt x="0" y="2050111"/>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1" name="Google Shape;331;p22"/>
          <p:cNvSpPr/>
          <p:nvPr/>
        </p:nvSpPr>
        <p:spPr>
          <a:xfrm>
            <a:off x="516895" y="806443"/>
            <a:ext cx="614744" cy="1959344"/>
          </a:xfrm>
          <a:custGeom>
            <a:avLst/>
            <a:gdLst/>
            <a:ahLst/>
            <a:cxnLst/>
            <a:rect l="l" t="t" r="r" b="b"/>
            <a:pathLst>
              <a:path w="614744" h="1959344" extrusionOk="0">
                <a:moveTo>
                  <a:pt x="0" y="0"/>
                </a:moveTo>
                <a:lnTo>
                  <a:pt x="614745" y="0"/>
                </a:lnTo>
                <a:lnTo>
                  <a:pt x="614745" y="1959344"/>
                </a:lnTo>
                <a:lnTo>
                  <a:pt x="0" y="1959344"/>
                </a:lnTo>
                <a:lnTo>
                  <a:pt x="0" y="0"/>
                </a:lnTo>
                <a:close/>
              </a:path>
            </a:pathLst>
          </a:cu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2" name="Google Shape;332;p22"/>
          <p:cNvSpPr/>
          <p:nvPr/>
        </p:nvSpPr>
        <p:spPr>
          <a:xfrm rot="5400000">
            <a:off x="1684919" y="1230255"/>
            <a:ext cx="340880" cy="839089"/>
          </a:xfrm>
          <a:custGeom>
            <a:avLst/>
            <a:gdLst/>
            <a:ahLst/>
            <a:cxnLst/>
            <a:rect l="l" t="t" r="r" b="b"/>
            <a:pathLst>
              <a:path w="340880" h="839089" extrusionOk="0">
                <a:moveTo>
                  <a:pt x="0" y="0"/>
                </a:moveTo>
                <a:lnTo>
                  <a:pt x="340879" y="0"/>
                </a:lnTo>
                <a:lnTo>
                  <a:pt x="340879" y="839089"/>
                </a:lnTo>
                <a:lnTo>
                  <a:pt x="0" y="839089"/>
                </a:lnTo>
                <a:lnTo>
                  <a:pt x="0" y="0"/>
                </a:lnTo>
                <a:close/>
              </a:path>
            </a:pathLst>
          </a:cu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3" name="Google Shape;333;p22"/>
          <p:cNvSpPr/>
          <p:nvPr/>
        </p:nvSpPr>
        <p:spPr>
          <a:xfrm rot="5400000">
            <a:off x="2524007" y="779596"/>
            <a:ext cx="340880" cy="839089"/>
          </a:xfrm>
          <a:custGeom>
            <a:avLst/>
            <a:gdLst/>
            <a:ahLst/>
            <a:cxnLst/>
            <a:rect l="l" t="t" r="r" b="b"/>
            <a:pathLst>
              <a:path w="340880" h="839089" extrusionOk="0">
                <a:moveTo>
                  <a:pt x="0" y="0"/>
                </a:moveTo>
                <a:lnTo>
                  <a:pt x="340880" y="0"/>
                </a:lnTo>
                <a:lnTo>
                  <a:pt x="340880" y="839088"/>
                </a:lnTo>
                <a:lnTo>
                  <a:pt x="0" y="839088"/>
                </a:lnTo>
                <a:lnTo>
                  <a:pt x="0" y="0"/>
                </a:lnTo>
                <a:close/>
              </a:path>
            </a:pathLst>
          </a:cu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4" name="Google Shape;334;p22"/>
          <p:cNvSpPr/>
          <p:nvPr/>
        </p:nvSpPr>
        <p:spPr>
          <a:xfrm rot="5400000">
            <a:off x="3517125" y="1230255"/>
            <a:ext cx="340880" cy="839089"/>
          </a:xfrm>
          <a:custGeom>
            <a:avLst/>
            <a:gdLst/>
            <a:ahLst/>
            <a:cxnLst/>
            <a:rect l="l" t="t" r="r" b="b"/>
            <a:pathLst>
              <a:path w="340880" h="839089" extrusionOk="0">
                <a:moveTo>
                  <a:pt x="0" y="0"/>
                </a:moveTo>
                <a:lnTo>
                  <a:pt x="340880" y="0"/>
                </a:lnTo>
                <a:lnTo>
                  <a:pt x="340880" y="839089"/>
                </a:lnTo>
                <a:lnTo>
                  <a:pt x="0" y="839089"/>
                </a:lnTo>
                <a:lnTo>
                  <a:pt x="0" y="0"/>
                </a:lnTo>
                <a:close/>
              </a:path>
            </a:pathLst>
          </a:cu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5" name="Google Shape;335;p22"/>
          <p:cNvSpPr/>
          <p:nvPr/>
        </p:nvSpPr>
        <p:spPr>
          <a:xfrm>
            <a:off x="1946895" y="2203294"/>
            <a:ext cx="2334194" cy="4343203"/>
          </a:xfrm>
          <a:custGeom>
            <a:avLst/>
            <a:gdLst/>
            <a:ahLst/>
            <a:cxnLst/>
            <a:rect l="l" t="t" r="r" b="b"/>
            <a:pathLst>
              <a:path w="2334194" h="4343203" extrusionOk="0">
                <a:moveTo>
                  <a:pt x="0" y="0"/>
                </a:moveTo>
                <a:lnTo>
                  <a:pt x="2334194" y="0"/>
                </a:lnTo>
                <a:lnTo>
                  <a:pt x="2334194" y="4343203"/>
                </a:lnTo>
                <a:lnTo>
                  <a:pt x="0" y="4343203"/>
                </a:lnTo>
                <a:lnTo>
                  <a:pt x="0" y="0"/>
                </a:lnTo>
                <a:close/>
              </a:path>
            </a:pathLst>
          </a:custGeom>
          <a:blipFill rotWithShape="1">
            <a:blip r:embed="rId8">
              <a:alphaModFix/>
            </a:blip>
            <a:stretch>
              <a:fillRect t="-2639" r="-3119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6" name="Google Shape;336;p22"/>
          <p:cNvSpPr/>
          <p:nvPr/>
        </p:nvSpPr>
        <p:spPr>
          <a:xfrm>
            <a:off x="1090548" y="6725417"/>
            <a:ext cx="3863814" cy="542484"/>
          </a:xfrm>
          <a:custGeom>
            <a:avLst/>
            <a:gdLst/>
            <a:ahLst/>
            <a:cxnLst/>
            <a:rect l="l" t="t" r="r" b="b"/>
            <a:pathLst>
              <a:path w="3863814" h="542484" extrusionOk="0">
                <a:moveTo>
                  <a:pt x="0" y="0"/>
                </a:moveTo>
                <a:lnTo>
                  <a:pt x="3863814" y="0"/>
                </a:lnTo>
                <a:lnTo>
                  <a:pt x="3863814" y="542484"/>
                </a:lnTo>
                <a:lnTo>
                  <a:pt x="0" y="542484"/>
                </a:lnTo>
                <a:lnTo>
                  <a:pt x="0" y="0"/>
                </a:lnTo>
                <a:close/>
              </a:path>
            </a:pathLst>
          </a:custGeom>
          <a:blipFill rotWithShape="1">
            <a:blip r:embed="rId9">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7" name="Google Shape;337;p22"/>
          <p:cNvSpPr/>
          <p:nvPr/>
        </p:nvSpPr>
        <p:spPr>
          <a:xfrm>
            <a:off x="1430423" y="7581471"/>
            <a:ext cx="3523940" cy="2541657"/>
          </a:xfrm>
          <a:custGeom>
            <a:avLst/>
            <a:gdLst/>
            <a:ahLst/>
            <a:cxnLst/>
            <a:rect l="l" t="t" r="r" b="b"/>
            <a:pathLst>
              <a:path w="3523940" h="2541657" extrusionOk="0">
                <a:moveTo>
                  <a:pt x="0" y="0"/>
                </a:moveTo>
                <a:lnTo>
                  <a:pt x="3523939" y="0"/>
                </a:lnTo>
                <a:lnTo>
                  <a:pt x="3523939" y="2541657"/>
                </a:lnTo>
                <a:lnTo>
                  <a:pt x="0" y="2541657"/>
                </a:lnTo>
                <a:lnTo>
                  <a:pt x="0" y="0"/>
                </a:lnTo>
                <a:close/>
              </a:path>
            </a:pathLst>
          </a:custGeom>
          <a:blipFill rotWithShape="1">
            <a:blip r:embed="rId10">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8" name="Google Shape;338;p22"/>
          <p:cNvSpPr/>
          <p:nvPr/>
        </p:nvSpPr>
        <p:spPr>
          <a:xfrm rot="-1035111">
            <a:off x="4525663" y="899114"/>
            <a:ext cx="1145731" cy="940931"/>
          </a:xfrm>
          <a:custGeom>
            <a:avLst/>
            <a:gdLst/>
            <a:ahLst/>
            <a:cxnLst/>
            <a:rect l="l" t="t" r="r" b="b"/>
            <a:pathLst>
              <a:path w="1145731" h="940931" extrusionOk="0">
                <a:moveTo>
                  <a:pt x="0" y="0"/>
                </a:moveTo>
                <a:lnTo>
                  <a:pt x="1145731" y="0"/>
                </a:lnTo>
                <a:lnTo>
                  <a:pt x="1145731" y="940931"/>
                </a:lnTo>
                <a:lnTo>
                  <a:pt x="0" y="940931"/>
                </a:lnTo>
                <a:lnTo>
                  <a:pt x="0" y="0"/>
                </a:lnTo>
                <a:close/>
              </a:path>
            </a:pathLst>
          </a:custGeom>
          <a:blipFill rotWithShape="1">
            <a:blip r:embed="rId11">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9" name="Google Shape;339;p22"/>
          <p:cNvSpPr/>
          <p:nvPr/>
        </p:nvSpPr>
        <p:spPr>
          <a:xfrm rot="-1035111">
            <a:off x="4849137" y="5965359"/>
            <a:ext cx="1145731" cy="940931"/>
          </a:xfrm>
          <a:custGeom>
            <a:avLst/>
            <a:gdLst/>
            <a:ahLst/>
            <a:cxnLst/>
            <a:rect l="l" t="t" r="r" b="b"/>
            <a:pathLst>
              <a:path w="1145731" h="940931" extrusionOk="0">
                <a:moveTo>
                  <a:pt x="0" y="0"/>
                </a:moveTo>
                <a:lnTo>
                  <a:pt x="1145731" y="0"/>
                </a:lnTo>
                <a:lnTo>
                  <a:pt x="1145731" y="940931"/>
                </a:lnTo>
                <a:lnTo>
                  <a:pt x="0" y="940931"/>
                </a:lnTo>
                <a:lnTo>
                  <a:pt x="0" y="0"/>
                </a:lnTo>
                <a:close/>
              </a:path>
            </a:pathLst>
          </a:custGeom>
          <a:blipFill rotWithShape="1">
            <a:blip r:embed="rId11">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0" name="Google Shape;340;p22"/>
          <p:cNvSpPr/>
          <p:nvPr/>
        </p:nvSpPr>
        <p:spPr>
          <a:xfrm rot="648118">
            <a:off x="6493802" y="5360741"/>
            <a:ext cx="1598070" cy="467749"/>
          </a:xfrm>
          <a:custGeom>
            <a:avLst/>
            <a:gdLst/>
            <a:ahLst/>
            <a:cxnLst/>
            <a:rect l="l" t="t" r="r" b="b"/>
            <a:pathLst>
              <a:path w="1598070" h="467749" extrusionOk="0">
                <a:moveTo>
                  <a:pt x="0" y="0"/>
                </a:moveTo>
                <a:lnTo>
                  <a:pt x="1598070" y="0"/>
                </a:lnTo>
                <a:lnTo>
                  <a:pt x="1598070" y="467749"/>
                </a:lnTo>
                <a:lnTo>
                  <a:pt x="0" y="467749"/>
                </a:lnTo>
                <a:lnTo>
                  <a:pt x="0" y="0"/>
                </a:lnTo>
                <a:close/>
              </a:path>
            </a:pathLst>
          </a:custGeom>
          <a:blipFill rotWithShape="1">
            <a:blip r:embed="rId12">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1" name="Google Shape;341;p22"/>
          <p:cNvSpPr/>
          <p:nvPr/>
        </p:nvSpPr>
        <p:spPr>
          <a:xfrm rot="-1035111">
            <a:off x="5068117" y="8556585"/>
            <a:ext cx="1145731" cy="940931"/>
          </a:xfrm>
          <a:custGeom>
            <a:avLst/>
            <a:gdLst/>
            <a:ahLst/>
            <a:cxnLst/>
            <a:rect l="l" t="t" r="r" b="b"/>
            <a:pathLst>
              <a:path w="1145731" h="940931" extrusionOk="0">
                <a:moveTo>
                  <a:pt x="0" y="0"/>
                </a:moveTo>
                <a:lnTo>
                  <a:pt x="1145730" y="0"/>
                </a:lnTo>
                <a:lnTo>
                  <a:pt x="1145730" y="940932"/>
                </a:lnTo>
                <a:lnTo>
                  <a:pt x="0" y="940932"/>
                </a:lnTo>
                <a:lnTo>
                  <a:pt x="0" y="0"/>
                </a:lnTo>
                <a:close/>
              </a:path>
            </a:pathLst>
          </a:custGeom>
          <a:blipFill rotWithShape="1">
            <a:blip r:embed="rId11">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2" name="Google Shape;342;p22"/>
          <p:cNvSpPr/>
          <p:nvPr/>
        </p:nvSpPr>
        <p:spPr>
          <a:xfrm rot="-1035111">
            <a:off x="4351843" y="3221064"/>
            <a:ext cx="1145731" cy="940931"/>
          </a:xfrm>
          <a:custGeom>
            <a:avLst/>
            <a:gdLst/>
            <a:ahLst/>
            <a:cxnLst/>
            <a:rect l="l" t="t" r="r" b="b"/>
            <a:pathLst>
              <a:path w="1145731" h="940931" extrusionOk="0">
                <a:moveTo>
                  <a:pt x="0" y="0"/>
                </a:moveTo>
                <a:lnTo>
                  <a:pt x="1145731" y="0"/>
                </a:lnTo>
                <a:lnTo>
                  <a:pt x="1145731" y="940932"/>
                </a:lnTo>
                <a:lnTo>
                  <a:pt x="0" y="940932"/>
                </a:lnTo>
                <a:lnTo>
                  <a:pt x="0" y="0"/>
                </a:lnTo>
                <a:close/>
              </a:path>
            </a:pathLst>
          </a:custGeom>
          <a:blipFill rotWithShape="1">
            <a:blip r:embed="rId11">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3" name="Google Shape;343;p22"/>
          <p:cNvSpPr/>
          <p:nvPr/>
        </p:nvSpPr>
        <p:spPr>
          <a:xfrm>
            <a:off x="8138298" y="6557777"/>
            <a:ext cx="3306032" cy="2961483"/>
          </a:xfrm>
          <a:custGeom>
            <a:avLst/>
            <a:gdLst/>
            <a:ahLst/>
            <a:cxnLst/>
            <a:rect l="l" t="t" r="r" b="b"/>
            <a:pathLst>
              <a:path w="3306032" h="2961483" extrusionOk="0">
                <a:moveTo>
                  <a:pt x="0" y="0"/>
                </a:moveTo>
                <a:lnTo>
                  <a:pt x="3306033" y="0"/>
                </a:lnTo>
                <a:lnTo>
                  <a:pt x="3306033" y="2961483"/>
                </a:lnTo>
                <a:lnTo>
                  <a:pt x="0" y="2961483"/>
                </a:lnTo>
                <a:lnTo>
                  <a:pt x="0" y="0"/>
                </a:lnTo>
                <a:close/>
              </a:path>
            </a:pathLst>
          </a:custGeom>
          <a:blipFill rotWithShape="1">
            <a:blip r:embed="rId1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4" name="Google Shape;344;p22"/>
          <p:cNvSpPr/>
          <p:nvPr/>
        </p:nvSpPr>
        <p:spPr>
          <a:xfrm>
            <a:off x="6314523" y="8714115"/>
            <a:ext cx="1662357" cy="276367"/>
          </a:xfrm>
          <a:custGeom>
            <a:avLst/>
            <a:gdLst/>
            <a:ahLst/>
            <a:cxnLst/>
            <a:rect l="l" t="t" r="r" b="b"/>
            <a:pathLst>
              <a:path w="1662357" h="276367" extrusionOk="0">
                <a:moveTo>
                  <a:pt x="0" y="0"/>
                </a:moveTo>
                <a:lnTo>
                  <a:pt x="1662356" y="0"/>
                </a:lnTo>
                <a:lnTo>
                  <a:pt x="1662356" y="276367"/>
                </a:lnTo>
                <a:lnTo>
                  <a:pt x="0" y="276367"/>
                </a:lnTo>
                <a:lnTo>
                  <a:pt x="0" y="0"/>
                </a:lnTo>
                <a:close/>
              </a:path>
            </a:pathLst>
          </a:custGeom>
          <a:blipFill rotWithShape="1">
            <a:blip r:embed="rId14">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5" name="Google Shape;345;p22"/>
          <p:cNvSpPr/>
          <p:nvPr/>
        </p:nvSpPr>
        <p:spPr>
          <a:xfrm>
            <a:off x="4804325" y="965740"/>
            <a:ext cx="466799" cy="466799"/>
          </a:xfrm>
          <a:custGeom>
            <a:avLst/>
            <a:gdLst/>
            <a:ahLst/>
            <a:cxnLst/>
            <a:rect l="l" t="t" r="r" b="b"/>
            <a:pathLst>
              <a:path w="466799" h="466799" extrusionOk="0">
                <a:moveTo>
                  <a:pt x="0" y="0"/>
                </a:moveTo>
                <a:lnTo>
                  <a:pt x="466799" y="0"/>
                </a:lnTo>
                <a:lnTo>
                  <a:pt x="466799" y="466799"/>
                </a:lnTo>
                <a:lnTo>
                  <a:pt x="0" y="466799"/>
                </a:lnTo>
                <a:lnTo>
                  <a:pt x="0" y="0"/>
                </a:lnTo>
                <a:close/>
              </a:path>
            </a:pathLst>
          </a:custGeom>
          <a:blipFill rotWithShape="1">
            <a:blip r:embed="rId1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6" name="Google Shape;346;p22"/>
          <p:cNvSpPr/>
          <p:nvPr/>
        </p:nvSpPr>
        <p:spPr>
          <a:xfrm>
            <a:off x="10753348" y="3261205"/>
            <a:ext cx="466799" cy="466799"/>
          </a:xfrm>
          <a:custGeom>
            <a:avLst/>
            <a:gdLst/>
            <a:ahLst/>
            <a:cxnLst/>
            <a:rect l="l" t="t" r="r" b="b"/>
            <a:pathLst>
              <a:path w="466799" h="466799" extrusionOk="0">
                <a:moveTo>
                  <a:pt x="0" y="0"/>
                </a:moveTo>
                <a:lnTo>
                  <a:pt x="466799" y="0"/>
                </a:lnTo>
                <a:lnTo>
                  <a:pt x="466799" y="466799"/>
                </a:lnTo>
                <a:lnTo>
                  <a:pt x="0" y="466799"/>
                </a:lnTo>
                <a:lnTo>
                  <a:pt x="0" y="0"/>
                </a:lnTo>
                <a:close/>
              </a:path>
            </a:pathLst>
          </a:custGeom>
          <a:blipFill rotWithShape="1">
            <a:blip r:embed="rId16">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7" name="Google Shape;347;p22"/>
          <p:cNvSpPr/>
          <p:nvPr/>
        </p:nvSpPr>
        <p:spPr>
          <a:xfrm>
            <a:off x="11776849" y="3245697"/>
            <a:ext cx="466799" cy="466799"/>
          </a:xfrm>
          <a:custGeom>
            <a:avLst/>
            <a:gdLst/>
            <a:ahLst/>
            <a:cxnLst/>
            <a:rect l="l" t="t" r="r" b="b"/>
            <a:pathLst>
              <a:path w="466799" h="466799" extrusionOk="0">
                <a:moveTo>
                  <a:pt x="0" y="0"/>
                </a:moveTo>
                <a:lnTo>
                  <a:pt x="466799" y="0"/>
                </a:lnTo>
                <a:lnTo>
                  <a:pt x="466799" y="466799"/>
                </a:lnTo>
                <a:lnTo>
                  <a:pt x="0" y="466799"/>
                </a:lnTo>
                <a:lnTo>
                  <a:pt x="0" y="0"/>
                </a:lnTo>
                <a:close/>
              </a:path>
            </a:pathLst>
          </a:custGeom>
          <a:blipFill rotWithShape="1">
            <a:blip r:embed="rId17">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8" name="Google Shape;348;p22"/>
          <p:cNvSpPr/>
          <p:nvPr/>
        </p:nvSpPr>
        <p:spPr>
          <a:xfrm>
            <a:off x="5422002" y="3712496"/>
            <a:ext cx="466799" cy="466799"/>
          </a:xfrm>
          <a:custGeom>
            <a:avLst/>
            <a:gdLst/>
            <a:ahLst/>
            <a:cxnLst/>
            <a:rect l="l" t="t" r="r" b="b"/>
            <a:pathLst>
              <a:path w="466799" h="466799" extrusionOk="0">
                <a:moveTo>
                  <a:pt x="0" y="0"/>
                </a:moveTo>
                <a:lnTo>
                  <a:pt x="466799" y="0"/>
                </a:lnTo>
                <a:lnTo>
                  <a:pt x="466799" y="466799"/>
                </a:lnTo>
                <a:lnTo>
                  <a:pt x="0" y="466799"/>
                </a:lnTo>
                <a:lnTo>
                  <a:pt x="0" y="0"/>
                </a:lnTo>
                <a:close/>
              </a:path>
            </a:pathLst>
          </a:custGeom>
          <a:blipFill rotWithShape="1">
            <a:blip r:embed="rId18">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9" name="Google Shape;349;p22"/>
          <p:cNvSpPr/>
          <p:nvPr/>
        </p:nvSpPr>
        <p:spPr>
          <a:xfrm>
            <a:off x="5158214" y="8824501"/>
            <a:ext cx="405099" cy="405099"/>
          </a:xfrm>
          <a:custGeom>
            <a:avLst/>
            <a:gdLst/>
            <a:ahLst/>
            <a:cxnLst/>
            <a:rect l="l" t="t" r="r" b="b"/>
            <a:pathLst>
              <a:path w="405099" h="405099" extrusionOk="0">
                <a:moveTo>
                  <a:pt x="0" y="0"/>
                </a:moveTo>
                <a:lnTo>
                  <a:pt x="405100" y="0"/>
                </a:lnTo>
                <a:lnTo>
                  <a:pt x="405100" y="405100"/>
                </a:lnTo>
                <a:lnTo>
                  <a:pt x="0" y="405100"/>
                </a:lnTo>
                <a:lnTo>
                  <a:pt x="0" y="0"/>
                </a:lnTo>
                <a:close/>
              </a:path>
            </a:pathLst>
          </a:custGeom>
          <a:blipFill rotWithShape="1">
            <a:blip r:embed="rId19">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0" name="Google Shape;350;p22"/>
          <p:cNvSpPr/>
          <p:nvPr/>
        </p:nvSpPr>
        <p:spPr>
          <a:xfrm>
            <a:off x="6830749" y="8132879"/>
            <a:ext cx="466799" cy="466799"/>
          </a:xfrm>
          <a:custGeom>
            <a:avLst/>
            <a:gdLst/>
            <a:ahLst/>
            <a:cxnLst/>
            <a:rect l="l" t="t" r="r" b="b"/>
            <a:pathLst>
              <a:path w="466799" h="466799" extrusionOk="0">
                <a:moveTo>
                  <a:pt x="0" y="0"/>
                </a:moveTo>
                <a:lnTo>
                  <a:pt x="466800" y="0"/>
                </a:lnTo>
                <a:lnTo>
                  <a:pt x="466800" y="466799"/>
                </a:lnTo>
                <a:lnTo>
                  <a:pt x="0" y="466799"/>
                </a:lnTo>
                <a:lnTo>
                  <a:pt x="0" y="0"/>
                </a:lnTo>
                <a:close/>
              </a:path>
            </a:pathLst>
          </a:custGeom>
          <a:blipFill rotWithShape="1">
            <a:blip r:embed="rId20">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2" name="Google Shape;352;p22"/>
          <p:cNvSpPr txBox="1"/>
          <p:nvPr/>
        </p:nvSpPr>
        <p:spPr>
          <a:xfrm>
            <a:off x="11559888" y="9215360"/>
            <a:ext cx="6563981" cy="215444"/>
          </a:xfrm>
          <a:prstGeom prst="rect">
            <a:avLst/>
          </a:prstGeom>
          <a:noFill/>
          <a:ln>
            <a:noFill/>
          </a:ln>
        </p:spPr>
        <p:txBody>
          <a:bodyPr spcFirstLastPara="1" wrap="square" lIns="0" tIns="0" rIns="0" bIns="0" anchor="t" anchorCtr="0">
            <a:spAutoFit/>
          </a:bodyPr>
          <a:lstStyle/>
          <a:p>
            <a:pPr marL="0" marR="0" lvl="0" indent="0" rtl="0">
              <a:lnSpc>
                <a:spcPct val="139910"/>
              </a:lnSpc>
              <a:spcBef>
                <a:spcPts val="0"/>
              </a:spcBef>
              <a:spcAft>
                <a:spcPts val="0"/>
              </a:spcAft>
              <a:buNone/>
            </a:pPr>
            <a:r>
              <a:rPr lang="en-US" sz="1000" dirty="0">
                <a:solidFill>
                  <a:srgbClr val="000000"/>
                </a:solidFill>
                <a:latin typeface="Arial"/>
                <a:ea typeface="Arial"/>
                <a:cs typeface="Arial"/>
                <a:sym typeface="Arial"/>
              </a:rPr>
              <a:t>https://genome.cshlp.org/content/early/2021/06/17/gr.266551.120</a:t>
            </a:r>
            <a:endParaRPr sz="2000" dirty="0"/>
          </a:p>
        </p:txBody>
      </p:sp>
      <p:sp>
        <p:nvSpPr>
          <p:cNvPr id="353" name="Google Shape;353;p22"/>
          <p:cNvSpPr txBox="1"/>
          <p:nvPr/>
        </p:nvSpPr>
        <p:spPr>
          <a:xfrm>
            <a:off x="4022687" y="1942072"/>
            <a:ext cx="1469662" cy="328295"/>
          </a:xfrm>
          <a:prstGeom prst="rect">
            <a:avLst/>
          </a:prstGeom>
          <a:noFill/>
          <a:ln w="9525" cap="flat" cmpd="sng">
            <a:no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000" b="1" dirty="0">
                <a:solidFill>
                  <a:srgbClr val="000000"/>
                </a:solidFill>
                <a:latin typeface="Arial"/>
                <a:ea typeface="Arial"/>
                <a:cs typeface="Arial"/>
                <a:sym typeface="Arial"/>
              </a:rPr>
              <a:t>Input ADN</a:t>
            </a:r>
            <a:endParaRPr dirty="0"/>
          </a:p>
        </p:txBody>
      </p:sp>
      <p:sp>
        <p:nvSpPr>
          <p:cNvPr id="354" name="Google Shape;354;p22"/>
          <p:cNvSpPr txBox="1"/>
          <p:nvPr/>
        </p:nvSpPr>
        <p:spPr>
          <a:xfrm>
            <a:off x="4262852" y="4339998"/>
            <a:ext cx="2318300" cy="316433"/>
          </a:xfrm>
          <a:prstGeom prst="rect">
            <a:avLst/>
          </a:prstGeom>
          <a:noFill/>
          <a:ln w="9525" cap="flat" cmpd="sng">
            <a:solidFill>
              <a:srgbClr val="7C5F9F"/>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0" tIns="0" rIns="0" bIns="0" anchor="t" anchorCtr="0">
            <a:spAutoFit/>
          </a:bodyPr>
          <a:lstStyle/>
          <a:p>
            <a:pPr marL="0" marR="0" lvl="0" indent="0" algn="ctr" rtl="0">
              <a:lnSpc>
                <a:spcPct val="175000"/>
              </a:lnSpc>
              <a:spcBef>
                <a:spcPts val="0"/>
              </a:spcBef>
              <a:spcAft>
                <a:spcPts val="0"/>
              </a:spcAft>
              <a:buNone/>
            </a:pPr>
            <a:r>
              <a:rPr lang="en-US" sz="1600" b="1" dirty="0">
                <a:solidFill>
                  <a:srgbClr val="000000"/>
                </a:solidFill>
                <a:latin typeface="Arial"/>
                <a:ea typeface="Arial"/>
                <a:cs typeface="Arial"/>
                <a:sym typeface="Arial"/>
              </a:rPr>
              <a:t>Enzymatic conversion</a:t>
            </a:r>
            <a:endParaRPr dirty="0"/>
          </a:p>
        </p:txBody>
      </p:sp>
      <p:sp>
        <p:nvSpPr>
          <p:cNvPr id="355" name="Google Shape;355;p22"/>
          <p:cNvSpPr txBox="1"/>
          <p:nvPr/>
        </p:nvSpPr>
        <p:spPr>
          <a:xfrm>
            <a:off x="4328494" y="7192881"/>
            <a:ext cx="2327711" cy="328295"/>
          </a:xfrm>
          <a:prstGeom prst="rect">
            <a:avLst/>
          </a:prstGeom>
          <a:noFill/>
          <a:ln w="9525" cap="flat" cmpd="sng">
            <a:solidFill>
              <a:srgbClr val="45A9C4"/>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000" b="1" dirty="0" err="1">
                <a:solidFill>
                  <a:srgbClr val="000000"/>
                </a:solidFill>
                <a:latin typeface="Arial"/>
                <a:ea typeface="Arial"/>
                <a:cs typeface="Arial"/>
                <a:sym typeface="Arial"/>
              </a:rPr>
              <a:t>Apdaptor</a:t>
            </a:r>
            <a:r>
              <a:rPr lang="en-US" sz="2000" b="1" dirty="0">
                <a:solidFill>
                  <a:srgbClr val="000000"/>
                </a:solidFill>
                <a:latin typeface="Arial"/>
                <a:ea typeface="Arial"/>
                <a:cs typeface="Arial"/>
                <a:sym typeface="Arial"/>
              </a:rPr>
              <a:t> ligation</a:t>
            </a:r>
            <a:endParaRPr dirty="0"/>
          </a:p>
        </p:txBody>
      </p:sp>
      <p:sp>
        <p:nvSpPr>
          <p:cNvPr id="356" name="Google Shape;356;p22"/>
          <p:cNvSpPr txBox="1"/>
          <p:nvPr/>
        </p:nvSpPr>
        <p:spPr>
          <a:xfrm>
            <a:off x="5553314" y="9443368"/>
            <a:ext cx="1664137" cy="349249"/>
          </a:xfrm>
          <a:prstGeom prst="rect">
            <a:avLst/>
          </a:prstGeom>
          <a:noFill/>
          <a:ln w="9525" cap="flat" cmpd="sng">
            <a:solidFill>
              <a:srgbClr val="45A9C4"/>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000" b="1" dirty="0">
                <a:solidFill>
                  <a:srgbClr val="000000"/>
                </a:solidFill>
                <a:latin typeface="Arial"/>
                <a:ea typeface="Arial"/>
                <a:cs typeface="Arial"/>
                <a:sym typeface="Arial"/>
              </a:rPr>
              <a:t>Amplification</a:t>
            </a:r>
            <a:endParaRPr dirty="0"/>
          </a:p>
        </p:txBody>
      </p:sp>
      <p:sp>
        <p:nvSpPr>
          <p:cNvPr id="357" name="Google Shape;357;p22"/>
          <p:cNvSpPr txBox="1"/>
          <p:nvPr/>
        </p:nvSpPr>
        <p:spPr>
          <a:xfrm>
            <a:off x="8121546" y="9338470"/>
            <a:ext cx="1664137" cy="307777"/>
          </a:xfrm>
          <a:prstGeom prst="rect">
            <a:avLst/>
          </a:prstGeom>
          <a:noFill/>
          <a:ln w="9525" cap="flat" cmpd="sng">
            <a:solidFill>
              <a:srgbClr val="7C5F9F"/>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b="1" dirty="0" err="1">
                <a:solidFill>
                  <a:schemeClr val="dk1"/>
                </a:solidFill>
                <a:latin typeface="Calibri"/>
                <a:ea typeface="Calibri"/>
                <a:cs typeface="Calibri"/>
                <a:sym typeface="Calibri"/>
              </a:rPr>
              <a:t>NovaSeq</a:t>
            </a:r>
            <a:r>
              <a:rPr lang="en-US" sz="1400" b="1" dirty="0">
                <a:solidFill>
                  <a:schemeClr val="dk1"/>
                </a:solidFill>
                <a:latin typeface="Calibri"/>
                <a:ea typeface="Calibri"/>
                <a:cs typeface="Calibri"/>
                <a:sym typeface="Calibri"/>
              </a:rPr>
              <a:t> 6000</a:t>
            </a:r>
            <a:endParaRPr dirty="0"/>
          </a:p>
        </p:txBody>
      </p:sp>
      <p:sp>
        <p:nvSpPr>
          <p:cNvPr id="2" name="CuadroTexto 1">
            <a:extLst>
              <a:ext uri="{FF2B5EF4-FFF2-40B4-BE49-F238E27FC236}">
                <a16:creationId xmlns:a16="http://schemas.microsoft.com/office/drawing/2014/main" id="{4381E911-9C2C-B52D-9BEE-FD27BFB09CB6}"/>
              </a:ext>
            </a:extLst>
          </p:cNvPr>
          <p:cNvSpPr txBox="1"/>
          <p:nvPr/>
        </p:nvSpPr>
        <p:spPr>
          <a:xfrm>
            <a:off x="5302773" y="341182"/>
            <a:ext cx="7874683" cy="593111"/>
          </a:xfrm>
          <a:prstGeom prst="rect">
            <a:avLst/>
          </a:prstGeom>
          <a:noFill/>
        </p:spPr>
        <p:txBody>
          <a:bodyPr wrap="square" lIns="91440" tIns="45720" rIns="91440" bIns="45720" anchor="t">
            <a:spAutoFit/>
          </a:bodyPr>
          <a:lstStyle/>
          <a:p>
            <a:pPr algn="ctr">
              <a:lnSpc>
                <a:spcPct val="80357"/>
              </a:lnSpc>
            </a:pPr>
            <a:r>
              <a:rPr lang="es-ES" sz="4000" b="1" dirty="0">
                <a:solidFill>
                  <a:schemeClr val="tx1">
                    <a:lumMod val="75000"/>
                    <a:lumOff val="25000"/>
                  </a:schemeClr>
                </a:solidFill>
                <a:latin typeface="Calibri"/>
                <a:ea typeface="Calibri"/>
                <a:cs typeface="Calibri"/>
                <a:sym typeface="Calibri"/>
              </a:rPr>
              <a:t>Preparación de Librerías EM-SEQ</a:t>
            </a:r>
            <a:endParaRPr lang="es-ES" dirty="0"/>
          </a:p>
        </p:txBody>
      </p:sp>
      <p:sp>
        <p:nvSpPr>
          <p:cNvPr id="3" name="Google Shape;348;p22">
            <a:extLst>
              <a:ext uri="{FF2B5EF4-FFF2-40B4-BE49-F238E27FC236}">
                <a16:creationId xmlns:a16="http://schemas.microsoft.com/office/drawing/2014/main" id="{7CB0F0C4-E110-3B56-E820-DE92F615F786}"/>
              </a:ext>
            </a:extLst>
          </p:cNvPr>
          <p:cNvSpPr/>
          <p:nvPr/>
        </p:nvSpPr>
        <p:spPr>
          <a:xfrm>
            <a:off x="13033749" y="3261206"/>
            <a:ext cx="466799" cy="466799"/>
          </a:xfrm>
          <a:custGeom>
            <a:avLst/>
            <a:gdLst/>
            <a:ahLst/>
            <a:cxnLst/>
            <a:rect l="l" t="t" r="r" b="b"/>
            <a:pathLst>
              <a:path w="466799" h="466799" extrusionOk="0">
                <a:moveTo>
                  <a:pt x="0" y="0"/>
                </a:moveTo>
                <a:lnTo>
                  <a:pt x="466799" y="0"/>
                </a:lnTo>
                <a:lnTo>
                  <a:pt x="466799" y="466799"/>
                </a:lnTo>
                <a:lnTo>
                  <a:pt x="0" y="466799"/>
                </a:lnTo>
                <a:lnTo>
                  <a:pt x="0" y="0"/>
                </a:lnTo>
                <a:close/>
              </a:path>
            </a:pathLst>
          </a:custGeom>
          <a:blipFill rotWithShape="1">
            <a:blip r:embed="rId18">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 name="Google Shape;349;p22">
            <a:extLst>
              <a:ext uri="{FF2B5EF4-FFF2-40B4-BE49-F238E27FC236}">
                <a16:creationId xmlns:a16="http://schemas.microsoft.com/office/drawing/2014/main" id="{42B59E03-FD60-E400-77D0-450BD6450C75}"/>
              </a:ext>
            </a:extLst>
          </p:cNvPr>
          <p:cNvSpPr/>
          <p:nvPr/>
        </p:nvSpPr>
        <p:spPr>
          <a:xfrm>
            <a:off x="14562277" y="3295928"/>
            <a:ext cx="405099" cy="405099"/>
          </a:xfrm>
          <a:custGeom>
            <a:avLst/>
            <a:gdLst/>
            <a:ahLst/>
            <a:cxnLst/>
            <a:rect l="l" t="t" r="r" b="b"/>
            <a:pathLst>
              <a:path w="405099" h="405099" extrusionOk="0">
                <a:moveTo>
                  <a:pt x="0" y="0"/>
                </a:moveTo>
                <a:lnTo>
                  <a:pt x="405100" y="0"/>
                </a:lnTo>
                <a:lnTo>
                  <a:pt x="405100" y="405100"/>
                </a:lnTo>
                <a:lnTo>
                  <a:pt x="0" y="405100"/>
                </a:lnTo>
                <a:lnTo>
                  <a:pt x="0" y="0"/>
                </a:lnTo>
                <a:close/>
              </a:path>
            </a:pathLst>
          </a:custGeom>
          <a:blipFill rotWithShape="1">
            <a:blip r:embed="rId19">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 name="Google Shape;345;p22">
            <a:extLst>
              <a:ext uri="{FF2B5EF4-FFF2-40B4-BE49-F238E27FC236}">
                <a16:creationId xmlns:a16="http://schemas.microsoft.com/office/drawing/2014/main" id="{4EB0455F-F4F4-443E-6911-809C738800CF}"/>
              </a:ext>
            </a:extLst>
          </p:cNvPr>
          <p:cNvSpPr/>
          <p:nvPr/>
        </p:nvSpPr>
        <p:spPr>
          <a:xfrm>
            <a:off x="9677820" y="3261205"/>
            <a:ext cx="466799" cy="466799"/>
          </a:xfrm>
          <a:custGeom>
            <a:avLst/>
            <a:gdLst/>
            <a:ahLst/>
            <a:cxnLst/>
            <a:rect l="l" t="t" r="r" b="b"/>
            <a:pathLst>
              <a:path w="466799" h="466799" extrusionOk="0">
                <a:moveTo>
                  <a:pt x="0" y="0"/>
                </a:moveTo>
                <a:lnTo>
                  <a:pt x="466799" y="0"/>
                </a:lnTo>
                <a:lnTo>
                  <a:pt x="466799" y="466799"/>
                </a:lnTo>
                <a:lnTo>
                  <a:pt x="0" y="466799"/>
                </a:lnTo>
                <a:lnTo>
                  <a:pt x="0" y="0"/>
                </a:lnTo>
                <a:close/>
              </a:path>
            </a:pathLst>
          </a:custGeom>
          <a:blipFill rotWithShape="1">
            <a:blip r:embed="rId15">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 name="Google Shape;350;p22">
            <a:extLst>
              <a:ext uri="{FF2B5EF4-FFF2-40B4-BE49-F238E27FC236}">
                <a16:creationId xmlns:a16="http://schemas.microsoft.com/office/drawing/2014/main" id="{EF782256-E03F-307B-82BF-8168CC1A152C}"/>
              </a:ext>
            </a:extLst>
          </p:cNvPr>
          <p:cNvSpPr/>
          <p:nvPr/>
        </p:nvSpPr>
        <p:spPr>
          <a:xfrm>
            <a:off x="15757477" y="3245696"/>
            <a:ext cx="466799" cy="466799"/>
          </a:xfrm>
          <a:custGeom>
            <a:avLst/>
            <a:gdLst/>
            <a:ahLst/>
            <a:cxnLst/>
            <a:rect l="l" t="t" r="r" b="b"/>
            <a:pathLst>
              <a:path w="466799" h="466799" extrusionOk="0">
                <a:moveTo>
                  <a:pt x="0" y="0"/>
                </a:moveTo>
                <a:lnTo>
                  <a:pt x="466800" y="0"/>
                </a:lnTo>
                <a:lnTo>
                  <a:pt x="466800" y="466799"/>
                </a:lnTo>
                <a:lnTo>
                  <a:pt x="0" y="466799"/>
                </a:lnTo>
                <a:lnTo>
                  <a:pt x="0" y="0"/>
                </a:lnTo>
                <a:close/>
              </a:path>
            </a:pathLst>
          </a:custGeom>
          <a:blipFill rotWithShape="1">
            <a:blip r:embed="rId20">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7" name="Google Shape;93;p1" descr="No hay ninguna descripción de la foto disponible.">
            <a:extLst>
              <a:ext uri="{FF2B5EF4-FFF2-40B4-BE49-F238E27FC236}">
                <a16:creationId xmlns:a16="http://schemas.microsoft.com/office/drawing/2014/main" id="{29E3A5AB-D90F-C3CF-41A1-B367F65E249D}"/>
              </a:ext>
            </a:extLst>
          </p:cNvPr>
          <p:cNvPicPr preferRelativeResize="0"/>
          <p:nvPr/>
        </p:nvPicPr>
        <p:blipFill rotWithShape="1">
          <a:blip r:embed="rId21">
            <a:alphaModFix/>
          </a:blip>
          <a:srcRect l="26238" t="22935" r="26586" b="20031"/>
          <a:stretch>
            <a:fillRect/>
          </a:stretch>
        </p:blipFill>
        <p:spPr>
          <a:xfrm>
            <a:off x="2929683" y="163872"/>
            <a:ext cx="1308405" cy="582276"/>
          </a:xfrm>
          <a:prstGeom prst="rect">
            <a:avLst/>
          </a:prstGeom>
          <a:noFill/>
          <a:ln>
            <a:noFill/>
          </a:ln>
        </p:spPr>
      </p:pic>
      <p:pic>
        <p:nvPicPr>
          <p:cNvPr id="8" name="Google Shape;94;p1" descr="Universidad El Bosque in Colombia : Reviews &amp; Rankings | Student ...">
            <a:extLst>
              <a:ext uri="{FF2B5EF4-FFF2-40B4-BE49-F238E27FC236}">
                <a16:creationId xmlns:a16="http://schemas.microsoft.com/office/drawing/2014/main" id="{99DBE261-506A-0623-F937-2BC120D8F766}"/>
              </a:ext>
            </a:extLst>
          </p:cNvPr>
          <p:cNvPicPr preferRelativeResize="0"/>
          <p:nvPr/>
        </p:nvPicPr>
        <p:blipFill rotWithShape="1">
          <a:blip r:embed="rId22">
            <a:alphaModFix/>
          </a:blip>
          <a:srcRect l="14020" t="34765" r="17993" b="25071"/>
          <a:stretch>
            <a:fillRect/>
          </a:stretch>
        </p:blipFill>
        <p:spPr>
          <a:xfrm>
            <a:off x="829864" y="244450"/>
            <a:ext cx="1806864" cy="50169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3" name="Google Shape;363;p23"/>
          <p:cNvSpPr txBox="1"/>
          <p:nvPr/>
        </p:nvSpPr>
        <p:spPr>
          <a:xfrm>
            <a:off x="1371600" y="9793942"/>
            <a:ext cx="6590437" cy="236988"/>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100" dirty="0">
                <a:solidFill>
                  <a:srgbClr val="000000"/>
                </a:solidFill>
                <a:latin typeface="Arial"/>
                <a:ea typeface="Arial"/>
                <a:cs typeface="Arial"/>
                <a:sym typeface="Arial"/>
              </a:rPr>
              <a:t> Lin PY, Chen KL, Lin GJ, Huang SC, Chen PY. Chapter: Bioinformatics Analysis of DNA Methylation.</a:t>
            </a:r>
            <a:endParaRPr dirty="0"/>
          </a:p>
        </p:txBody>
      </p:sp>
      <p:pic>
        <p:nvPicPr>
          <p:cNvPr id="366" name="Google Shape;366;p23"/>
          <p:cNvPicPr preferRelativeResize="0"/>
          <p:nvPr/>
        </p:nvPicPr>
        <p:blipFill rotWithShape="1">
          <a:blip r:embed="rId3">
            <a:alphaModFix/>
          </a:blip>
          <a:srcRect l="4854" t="9431"/>
          <a:stretch>
            <a:fillRect/>
          </a:stretch>
        </p:blipFill>
        <p:spPr>
          <a:xfrm>
            <a:off x="1642960" y="1512001"/>
            <a:ext cx="6270522" cy="7868598"/>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745"/>
              </a:srgbClr>
            </a:outerShdw>
          </a:effectLst>
        </p:spPr>
      </p:pic>
      <p:sp>
        <p:nvSpPr>
          <p:cNvPr id="2" name="Google Shape;365;p23">
            <a:extLst>
              <a:ext uri="{FF2B5EF4-FFF2-40B4-BE49-F238E27FC236}">
                <a16:creationId xmlns:a16="http://schemas.microsoft.com/office/drawing/2014/main" id="{8068F36D-4983-2291-C3D9-6F5165C5EED7}"/>
              </a:ext>
            </a:extLst>
          </p:cNvPr>
          <p:cNvSpPr txBox="1"/>
          <p:nvPr/>
        </p:nvSpPr>
        <p:spPr>
          <a:xfrm>
            <a:off x="5080873" y="1947748"/>
            <a:ext cx="1758621" cy="32829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000" b="1" dirty="0">
                <a:solidFill>
                  <a:srgbClr val="000000"/>
                </a:solidFill>
                <a:latin typeface="Arial"/>
                <a:ea typeface="Arial"/>
                <a:cs typeface="Arial"/>
                <a:sym typeface="Arial"/>
              </a:rPr>
              <a:t>(</a:t>
            </a:r>
            <a:r>
              <a:rPr lang="en-US" sz="2000" b="1" dirty="0" err="1">
                <a:solidFill>
                  <a:srgbClr val="000000"/>
                </a:solidFill>
                <a:latin typeface="Arial"/>
                <a:ea typeface="Arial"/>
                <a:cs typeface="Arial"/>
                <a:sym typeface="Arial"/>
              </a:rPr>
              <a:t>GRch</a:t>
            </a:r>
            <a:r>
              <a:rPr lang="en-US" sz="2000" b="1" dirty="0">
                <a:solidFill>
                  <a:srgbClr val="000000"/>
                </a:solidFill>
                <a:latin typeface="Arial"/>
                <a:ea typeface="Arial"/>
                <a:cs typeface="Arial"/>
                <a:sym typeface="Arial"/>
              </a:rPr>
              <a:t> 38)</a:t>
            </a:r>
            <a:endParaRPr dirty="0"/>
          </a:p>
        </p:txBody>
      </p:sp>
      <p:pic>
        <p:nvPicPr>
          <p:cNvPr id="4" name="Imagen 3" descr="Texto&#10;&#10;El contenido generado por IA puede ser incorrecto.">
            <a:extLst>
              <a:ext uri="{FF2B5EF4-FFF2-40B4-BE49-F238E27FC236}">
                <a16:creationId xmlns:a16="http://schemas.microsoft.com/office/drawing/2014/main" id="{F56B4429-46A9-DA52-FB50-9B48A3716AFD}"/>
              </a:ext>
            </a:extLst>
          </p:cNvPr>
          <p:cNvPicPr>
            <a:picLocks noChangeAspect="1"/>
          </p:cNvPicPr>
          <p:nvPr/>
        </p:nvPicPr>
        <p:blipFill>
          <a:blip r:embed="rId4"/>
          <a:srcRect b="78811"/>
          <a:stretch>
            <a:fillRect/>
          </a:stretch>
        </p:blipFill>
        <p:spPr>
          <a:xfrm>
            <a:off x="9304744" y="3198085"/>
            <a:ext cx="7973538" cy="484446"/>
          </a:xfrm>
          <a:prstGeom prst="rect">
            <a:avLst/>
          </a:prstGeom>
        </p:spPr>
      </p:pic>
      <p:sp>
        <p:nvSpPr>
          <p:cNvPr id="21" name="Elipse 20">
            <a:extLst>
              <a:ext uri="{FF2B5EF4-FFF2-40B4-BE49-F238E27FC236}">
                <a16:creationId xmlns:a16="http://schemas.microsoft.com/office/drawing/2014/main" id="{BA719B61-EEDF-3880-5068-3528D2E10E8A}"/>
              </a:ext>
            </a:extLst>
          </p:cNvPr>
          <p:cNvSpPr/>
          <p:nvPr/>
        </p:nvSpPr>
        <p:spPr>
          <a:xfrm>
            <a:off x="8894661" y="3145972"/>
            <a:ext cx="630621" cy="588673"/>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s-ES" sz="3600" dirty="0">
                <a:solidFill>
                  <a:schemeClr val="tx1"/>
                </a:solidFill>
              </a:rPr>
              <a:t>1</a:t>
            </a:r>
          </a:p>
        </p:txBody>
      </p:sp>
      <p:sp>
        <p:nvSpPr>
          <p:cNvPr id="23" name="Elipse 22">
            <a:extLst>
              <a:ext uri="{FF2B5EF4-FFF2-40B4-BE49-F238E27FC236}">
                <a16:creationId xmlns:a16="http://schemas.microsoft.com/office/drawing/2014/main" id="{DC0D5642-6E97-2634-A7A3-47132DC74240}"/>
              </a:ext>
            </a:extLst>
          </p:cNvPr>
          <p:cNvSpPr/>
          <p:nvPr/>
        </p:nvSpPr>
        <p:spPr>
          <a:xfrm>
            <a:off x="2623763" y="1585141"/>
            <a:ext cx="410261" cy="362607"/>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s-ES" sz="1800" dirty="0">
                <a:solidFill>
                  <a:schemeClr val="tx1"/>
                </a:solidFill>
              </a:rPr>
              <a:t>1</a:t>
            </a:r>
          </a:p>
        </p:txBody>
      </p:sp>
      <p:sp>
        <p:nvSpPr>
          <p:cNvPr id="24" name="Rectángulo 23">
            <a:extLst>
              <a:ext uri="{FF2B5EF4-FFF2-40B4-BE49-F238E27FC236}">
                <a16:creationId xmlns:a16="http://schemas.microsoft.com/office/drawing/2014/main" id="{9A41C8C5-41C3-F3F4-44FE-07A64B72EA2A}"/>
              </a:ext>
            </a:extLst>
          </p:cNvPr>
          <p:cNvSpPr/>
          <p:nvPr/>
        </p:nvSpPr>
        <p:spPr>
          <a:xfrm>
            <a:off x="3755697" y="3203641"/>
            <a:ext cx="1182413" cy="23648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ES"/>
          </a:p>
        </p:txBody>
      </p:sp>
      <p:pic>
        <p:nvPicPr>
          <p:cNvPr id="25" name="Imagen 24" descr="Texto&#10;&#10;El contenido generado por IA puede ser incorrecto.">
            <a:extLst>
              <a:ext uri="{FF2B5EF4-FFF2-40B4-BE49-F238E27FC236}">
                <a16:creationId xmlns:a16="http://schemas.microsoft.com/office/drawing/2014/main" id="{876D3005-5042-B0AC-8BF6-2196CAC4C9F3}"/>
              </a:ext>
            </a:extLst>
          </p:cNvPr>
          <p:cNvPicPr>
            <a:picLocks noChangeAspect="1"/>
          </p:cNvPicPr>
          <p:nvPr/>
        </p:nvPicPr>
        <p:blipFill>
          <a:blip r:embed="rId4"/>
          <a:srcRect t="17418" b="63964"/>
          <a:stretch>
            <a:fillRect/>
          </a:stretch>
        </p:blipFill>
        <p:spPr>
          <a:xfrm>
            <a:off x="9304744" y="4020855"/>
            <a:ext cx="7973538" cy="425669"/>
          </a:xfrm>
          <a:prstGeom prst="rect">
            <a:avLst/>
          </a:prstGeom>
        </p:spPr>
      </p:pic>
      <p:sp>
        <p:nvSpPr>
          <p:cNvPr id="26" name="Elipse 25">
            <a:extLst>
              <a:ext uri="{FF2B5EF4-FFF2-40B4-BE49-F238E27FC236}">
                <a16:creationId xmlns:a16="http://schemas.microsoft.com/office/drawing/2014/main" id="{43192328-93C5-05FE-1F43-DBE6DE878F09}"/>
              </a:ext>
            </a:extLst>
          </p:cNvPr>
          <p:cNvSpPr/>
          <p:nvPr/>
        </p:nvSpPr>
        <p:spPr>
          <a:xfrm>
            <a:off x="8894661" y="4000283"/>
            <a:ext cx="630621" cy="588673"/>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s-ES" sz="3600" dirty="0">
                <a:solidFill>
                  <a:schemeClr val="tx1"/>
                </a:solidFill>
              </a:rPr>
              <a:t>2</a:t>
            </a:r>
          </a:p>
        </p:txBody>
      </p:sp>
      <p:pic>
        <p:nvPicPr>
          <p:cNvPr id="27" name="Imagen 26" descr="Texto&#10;&#10;El contenido generado por IA puede ser incorrecto.">
            <a:extLst>
              <a:ext uri="{FF2B5EF4-FFF2-40B4-BE49-F238E27FC236}">
                <a16:creationId xmlns:a16="http://schemas.microsoft.com/office/drawing/2014/main" id="{334A460C-3CE1-9E97-FD7B-7357F91607D3}"/>
              </a:ext>
            </a:extLst>
          </p:cNvPr>
          <p:cNvPicPr>
            <a:picLocks noChangeAspect="1"/>
          </p:cNvPicPr>
          <p:nvPr/>
        </p:nvPicPr>
        <p:blipFill>
          <a:blip r:embed="rId4"/>
          <a:srcRect t="33464" b="49125"/>
          <a:stretch>
            <a:fillRect/>
          </a:stretch>
        </p:blipFill>
        <p:spPr>
          <a:xfrm>
            <a:off x="9304744" y="5031406"/>
            <a:ext cx="7973538" cy="398079"/>
          </a:xfrm>
          <a:prstGeom prst="rect">
            <a:avLst/>
          </a:prstGeom>
        </p:spPr>
      </p:pic>
      <p:sp>
        <p:nvSpPr>
          <p:cNvPr id="28" name="Elipse 27">
            <a:extLst>
              <a:ext uri="{FF2B5EF4-FFF2-40B4-BE49-F238E27FC236}">
                <a16:creationId xmlns:a16="http://schemas.microsoft.com/office/drawing/2014/main" id="{285813E7-16CE-701B-450E-BE106D72ED74}"/>
              </a:ext>
            </a:extLst>
          </p:cNvPr>
          <p:cNvSpPr/>
          <p:nvPr/>
        </p:nvSpPr>
        <p:spPr>
          <a:xfrm>
            <a:off x="2623763" y="3550576"/>
            <a:ext cx="410261" cy="362607"/>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s-ES" sz="1800" dirty="0">
                <a:solidFill>
                  <a:schemeClr val="tx1"/>
                </a:solidFill>
              </a:rPr>
              <a:t>2</a:t>
            </a:r>
          </a:p>
        </p:txBody>
      </p:sp>
      <p:sp>
        <p:nvSpPr>
          <p:cNvPr id="29" name="Elipse 28">
            <a:extLst>
              <a:ext uri="{FF2B5EF4-FFF2-40B4-BE49-F238E27FC236}">
                <a16:creationId xmlns:a16="http://schemas.microsoft.com/office/drawing/2014/main" id="{B0F256D0-23F2-4852-DC56-87BF8A7A9D07}"/>
              </a:ext>
            </a:extLst>
          </p:cNvPr>
          <p:cNvSpPr/>
          <p:nvPr/>
        </p:nvSpPr>
        <p:spPr>
          <a:xfrm>
            <a:off x="2623763" y="4386457"/>
            <a:ext cx="410261" cy="362607"/>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s-ES" sz="1800" dirty="0">
                <a:solidFill>
                  <a:schemeClr val="tx1"/>
                </a:solidFill>
              </a:rPr>
              <a:t>3</a:t>
            </a:r>
          </a:p>
        </p:txBody>
      </p:sp>
      <p:sp>
        <p:nvSpPr>
          <p:cNvPr id="31" name="Elipse 30">
            <a:extLst>
              <a:ext uri="{FF2B5EF4-FFF2-40B4-BE49-F238E27FC236}">
                <a16:creationId xmlns:a16="http://schemas.microsoft.com/office/drawing/2014/main" id="{34B7EEBB-0167-2A1B-4439-B05D2F638945}"/>
              </a:ext>
            </a:extLst>
          </p:cNvPr>
          <p:cNvSpPr/>
          <p:nvPr/>
        </p:nvSpPr>
        <p:spPr>
          <a:xfrm>
            <a:off x="8879861" y="4804209"/>
            <a:ext cx="630621" cy="588673"/>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s-ES" sz="3600" dirty="0">
                <a:solidFill>
                  <a:schemeClr val="tx1"/>
                </a:solidFill>
              </a:rPr>
              <a:t>3</a:t>
            </a:r>
          </a:p>
        </p:txBody>
      </p:sp>
      <p:pic>
        <p:nvPicPr>
          <p:cNvPr id="32" name="Imagen 31" descr="Texto&#10;&#10;El contenido generado por IA puede ser incorrecto.">
            <a:extLst>
              <a:ext uri="{FF2B5EF4-FFF2-40B4-BE49-F238E27FC236}">
                <a16:creationId xmlns:a16="http://schemas.microsoft.com/office/drawing/2014/main" id="{D2FE5443-97C3-0DEB-7CBE-3F75B47ADF67}"/>
              </a:ext>
            </a:extLst>
          </p:cNvPr>
          <p:cNvPicPr>
            <a:picLocks noChangeAspect="1"/>
          </p:cNvPicPr>
          <p:nvPr/>
        </p:nvPicPr>
        <p:blipFill>
          <a:blip r:embed="rId4"/>
          <a:srcRect t="50085" r="44676" b="35186"/>
          <a:stretch>
            <a:fillRect/>
          </a:stretch>
        </p:blipFill>
        <p:spPr>
          <a:xfrm>
            <a:off x="9304744" y="5885717"/>
            <a:ext cx="4411256" cy="336756"/>
          </a:xfrm>
          <a:prstGeom prst="rect">
            <a:avLst/>
          </a:prstGeom>
        </p:spPr>
      </p:pic>
      <p:pic>
        <p:nvPicPr>
          <p:cNvPr id="33" name="Imagen 32" descr="Texto&#10;&#10;El contenido generado por IA puede ser incorrecto.">
            <a:extLst>
              <a:ext uri="{FF2B5EF4-FFF2-40B4-BE49-F238E27FC236}">
                <a16:creationId xmlns:a16="http://schemas.microsoft.com/office/drawing/2014/main" id="{F4FC806E-7749-F0F2-8763-4FD67600D6E8}"/>
              </a:ext>
            </a:extLst>
          </p:cNvPr>
          <p:cNvPicPr>
            <a:picLocks noChangeAspect="1"/>
          </p:cNvPicPr>
          <p:nvPr/>
        </p:nvPicPr>
        <p:blipFill>
          <a:blip r:embed="rId4"/>
          <a:srcRect t="64484" b="550"/>
          <a:stretch>
            <a:fillRect/>
          </a:stretch>
        </p:blipFill>
        <p:spPr>
          <a:xfrm>
            <a:off x="9304744" y="6618904"/>
            <a:ext cx="7973538" cy="799411"/>
          </a:xfrm>
          <a:prstGeom prst="rect">
            <a:avLst/>
          </a:prstGeom>
        </p:spPr>
      </p:pic>
      <p:sp>
        <p:nvSpPr>
          <p:cNvPr id="34" name="Elipse 33">
            <a:extLst>
              <a:ext uri="{FF2B5EF4-FFF2-40B4-BE49-F238E27FC236}">
                <a16:creationId xmlns:a16="http://schemas.microsoft.com/office/drawing/2014/main" id="{E99009DE-4F28-F8D2-3843-7058EAE7879A}"/>
              </a:ext>
            </a:extLst>
          </p:cNvPr>
          <p:cNvSpPr/>
          <p:nvPr/>
        </p:nvSpPr>
        <p:spPr>
          <a:xfrm>
            <a:off x="8879860" y="5735895"/>
            <a:ext cx="630621" cy="588673"/>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s-ES" sz="3600" dirty="0">
                <a:solidFill>
                  <a:schemeClr val="tx1"/>
                </a:solidFill>
              </a:rPr>
              <a:t>4</a:t>
            </a:r>
          </a:p>
        </p:txBody>
      </p:sp>
      <p:sp>
        <p:nvSpPr>
          <p:cNvPr id="35" name="Elipse 34">
            <a:extLst>
              <a:ext uri="{FF2B5EF4-FFF2-40B4-BE49-F238E27FC236}">
                <a16:creationId xmlns:a16="http://schemas.microsoft.com/office/drawing/2014/main" id="{E80A94E6-6933-8555-824B-764BFE79C782}"/>
              </a:ext>
            </a:extLst>
          </p:cNvPr>
          <p:cNvSpPr/>
          <p:nvPr/>
        </p:nvSpPr>
        <p:spPr>
          <a:xfrm>
            <a:off x="2623762" y="5334707"/>
            <a:ext cx="410261" cy="362607"/>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s-ES" sz="1800" dirty="0">
                <a:solidFill>
                  <a:schemeClr val="tx1"/>
                </a:solidFill>
              </a:rPr>
              <a:t>4</a:t>
            </a:r>
          </a:p>
        </p:txBody>
      </p:sp>
      <p:sp>
        <p:nvSpPr>
          <p:cNvPr id="36" name="Elipse 35">
            <a:extLst>
              <a:ext uri="{FF2B5EF4-FFF2-40B4-BE49-F238E27FC236}">
                <a16:creationId xmlns:a16="http://schemas.microsoft.com/office/drawing/2014/main" id="{754EDA94-81EA-A0A0-2BB2-A09CC57023CC}"/>
              </a:ext>
            </a:extLst>
          </p:cNvPr>
          <p:cNvSpPr/>
          <p:nvPr/>
        </p:nvSpPr>
        <p:spPr>
          <a:xfrm>
            <a:off x="4397739" y="5859866"/>
            <a:ext cx="410261" cy="362607"/>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s-ES" sz="1800" dirty="0">
                <a:solidFill>
                  <a:schemeClr val="tx1"/>
                </a:solidFill>
              </a:rPr>
              <a:t>5</a:t>
            </a:r>
          </a:p>
        </p:txBody>
      </p:sp>
      <p:sp>
        <p:nvSpPr>
          <p:cNvPr id="37" name="Elipse 36">
            <a:extLst>
              <a:ext uri="{FF2B5EF4-FFF2-40B4-BE49-F238E27FC236}">
                <a16:creationId xmlns:a16="http://schemas.microsoft.com/office/drawing/2014/main" id="{27955B4F-BED1-C411-C23F-19EF7B816E4E}"/>
              </a:ext>
            </a:extLst>
          </p:cNvPr>
          <p:cNvSpPr/>
          <p:nvPr/>
        </p:nvSpPr>
        <p:spPr>
          <a:xfrm>
            <a:off x="8879859" y="6577105"/>
            <a:ext cx="630621" cy="588673"/>
          </a:xfrm>
          <a:prstGeom prst="ellipse">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s-ES" sz="3600" dirty="0">
                <a:solidFill>
                  <a:schemeClr val="tx1"/>
                </a:solidFill>
              </a:rPr>
              <a:t>5</a:t>
            </a:r>
          </a:p>
        </p:txBody>
      </p:sp>
      <p:sp>
        <p:nvSpPr>
          <p:cNvPr id="38" name="CuadroTexto 37">
            <a:extLst>
              <a:ext uri="{FF2B5EF4-FFF2-40B4-BE49-F238E27FC236}">
                <a16:creationId xmlns:a16="http://schemas.microsoft.com/office/drawing/2014/main" id="{DFBD7EDD-3872-04A0-FDA4-718FB677E748}"/>
              </a:ext>
            </a:extLst>
          </p:cNvPr>
          <p:cNvSpPr txBox="1"/>
          <p:nvPr/>
        </p:nvSpPr>
        <p:spPr>
          <a:xfrm>
            <a:off x="9144000" y="1512001"/>
            <a:ext cx="7874683" cy="593111"/>
          </a:xfrm>
          <a:prstGeom prst="rect">
            <a:avLst/>
          </a:prstGeom>
          <a:noFill/>
        </p:spPr>
        <p:txBody>
          <a:bodyPr wrap="square">
            <a:spAutoFit/>
          </a:bodyPr>
          <a:lstStyle/>
          <a:p>
            <a:pPr marL="0" marR="0" lvl="0" indent="0" algn="ctr" rtl="0">
              <a:lnSpc>
                <a:spcPct val="80357"/>
              </a:lnSpc>
              <a:spcBef>
                <a:spcPts val="0"/>
              </a:spcBef>
              <a:spcAft>
                <a:spcPts val="0"/>
              </a:spcAft>
              <a:buClr>
                <a:srgbClr val="1B1B1B"/>
              </a:buClr>
              <a:buSzPts val="2800"/>
              <a:buFont typeface="Calibri"/>
              <a:buNone/>
            </a:pPr>
            <a:r>
              <a:rPr lang="es-ES" sz="4000" b="1" dirty="0">
                <a:solidFill>
                  <a:schemeClr val="tx1">
                    <a:lumMod val="75000"/>
                    <a:lumOff val="25000"/>
                  </a:schemeClr>
                </a:solidFill>
                <a:latin typeface="Calibri"/>
                <a:ea typeface="Calibri"/>
                <a:cs typeface="Calibri"/>
                <a:sym typeface="Calibri"/>
              </a:rPr>
              <a:t>Análisis Bioinformático</a:t>
            </a:r>
            <a:endParaRPr lang="es-ES" sz="4000" dirty="0">
              <a:solidFill>
                <a:schemeClr val="tx1">
                  <a:lumMod val="75000"/>
                  <a:lumOff val="25000"/>
                </a:schemeClr>
              </a:solidFill>
            </a:endParaRPr>
          </a:p>
        </p:txBody>
      </p:sp>
      <p:pic>
        <p:nvPicPr>
          <p:cNvPr id="3" name="Google Shape;93;p1" descr="No hay ninguna descripción de la foto disponible.">
            <a:extLst>
              <a:ext uri="{FF2B5EF4-FFF2-40B4-BE49-F238E27FC236}">
                <a16:creationId xmlns:a16="http://schemas.microsoft.com/office/drawing/2014/main" id="{9BBCF4EC-8543-3436-F38B-7C23D161D347}"/>
              </a:ext>
            </a:extLst>
          </p:cNvPr>
          <p:cNvPicPr preferRelativeResize="0"/>
          <p:nvPr/>
        </p:nvPicPr>
        <p:blipFill rotWithShape="1">
          <a:blip r:embed="rId5">
            <a:alphaModFix/>
          </a:blip>
          <a:srcRect l="26238" t="22935" r="26586" b="20031"/>
          <a:stretch>
            <a:fillRect/>
          </a:stretch>
        </p:blipFill>
        <p:spPr>
          <a:xfrm>
            <a:off x="15572314" y="9188181"/>
            <a:ext cx="1432577" cy="744819"/>
          </a:xfrm>
          <a:prstGeom prst="rect">
            <a:avLst/>
          </a:prstGeom>
          <a:noFill/>
          <a:ln>
            <a:noFill/>
          </a:ln>
        </p:spPr>
      </p:pic>
      <p:pic>
        <p:nvPicPr>
          <p:cNvPr id="5" name="Google Shape;94;p1" descr="Universidad El Bosque in Colombia : Reviews &amp; Rankings | Student ...">
            <a:extLst>
              <a:ext uri="{FF2B5EF4-FFF2-40B4-BE49-F238E27FC236}">
                <a16:creationId xmlns:a16="http://schemas.microsoft.com/office/drawing/2014/main" id="{1F5BA326-3319-CFDE-DB05-0F6D84EB6857}"/>
              </a:ext>
            </a:extLst>
          </p:cNvPr>
          <p:cNvPicPr preferRelativeResize="0"/>
          <p:nvPr/>
        </p:nvPicPr>
        <p:blipFill rotWithShape="1">
          <a:blip r:embed="rId6">
            <a:alphaModFix/>
          </a:blip>
          <a:srcRect l="14020" t="34765" r="17993" b="25071"/>
          <a:stretch>
            <a:fillRect/>
          </a:stretch>
        </p:blipFill>
        <p:spPr>
          <a:xfrm>
            <a:off x="13472494" y="9291254"/>
            <a:ext cx="1978341" cy="64174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4" name="Google Shape;374;p27"/>
          <p:cNvSpPr txBox="1"/>
          <p:nvPr/>
        </p:nvSpPr>
        <p:spPr>
          <a:xfrm>
            <a:off x="12870168" y="2575697"/>
            <a:ext cx="3999668" cy="1723549"/>
          </a:xfrm>
          <a:prstGeom prst="rect">
            <a:avLst/>
          </a:prstGeom>
          <a:solidFill>
            <a:schemeClr val="accent5">
              <a:lumMod val="20000"/>
              <a:lumOff val="80000"/>
            </a:schemeClr>
          </a:solidFill>
          <a:ln>
            <a:solidFill>
              <a:schemeClr val="bg1"/>
            </a:solidFill>
          </a:ln>
        </p:spPr>
        <p:style>
          <a:lnRef idx="2">
            <a:schemeClr val="accent3"/>
          </a:lnRef>
          <a:fillRef idx="1">
            <a:schemeClr val="lt1"/>
          </a:fillRef>
          <a:effectRef idx="0">
            <a:schemeClr val="accent3"/>
          </a:effectRef>
          <a:fontRef idx="minor">
            <a:schemeClr val="dk1"/>
          </a:fontRef>
        </p:style>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2000" b="1" dirty="0">
                <a:solidFill>
                  <a:srgbClr val="000000"/>
                </a:solidFill>
                <a:latin typeface="Source Sans Pro"/>
                <a:ea typeface="Source Sans Pro"/>
                <a:cs typeface="Arial"/>
                <a:sym typeface="Arial"/>
              </a:rPr>
              <a:t>DSS:</a:t>
            </a:r>
            <a:r>
              <a:rPr lang="en-US" sz="2000" dirty="0">
                <a:solidFill>
                  <a:srgbClr val="000000"/>
                </a:solidFill>
                <a:latin typeface="Source Sans Pro"/>
                <a:ea typeface="Source Sans Pro"/>
                <a:cs typeface="Arial"/>
                <a:sym typeface="Arial"/>
              </a:rPr>
              <a:t> </a:t>
            </a:r>
            <a:r>
              <a:rPr lang="en-US" sz="2000" dirty="0" err="1">
                <a:solidFill>
                  <a:srgbClr val="000000"/>
                </a:solidFill>
                <a:latin typeface="Source Sans Pro"/>
                <a:ea typeface="Source Sans Pro"/>
                <a:cs typeface="Arial"/>
                <a:sym typeface="Arial"/>
              </a:rPr>
              <a:t>usa</a:t>
            </a:r>
            <a:r>
              <a:rPr lang="en-US" sz="2000" dirty="0">
                <a:solidFill>
                  <a:srgbClr val="000000"/>
                </a:solidFill>
                <a:latin typeface="Source Sans Pro"/>
                <a:ea typeface="Source Sans Pro"/>
                <a:cs typeface="Arial"/>
                <a:sym typeface="Arial"/>
              </a:rPr>
              <a:t> un </a:t>
            </a:r>
            <a:r>
              <a:rPr lang="en-US" sz="2000" dirty="0" err="1">
                <a:solidFill>
                  <a:srgbClr val="000000"/>
                </a:solidFill>
                <a:latin typeface="Source Sans Pro"/>
                <a:ea typeface="Source Sans Pro"/>
                <a:cs typeface="Arial"/>
                <a:sym typeface="Arial"/>
              </a:rPr>
              <a:t>modelo</a:t>
            </a:r>
            <a:r>
              <a:rPr lang="en-US" sz="2000" dirty="0">
                <a:solidFill>
                  <a:srgbClr val="000000"/>
                </a:solidFill>
                <a:latin typeface="Source Sans Pro"/>
                <a:ea typeface="Source Sans Pro"/>
                <a:cs typeface="Arial"/>
                <a:sym typeface="Arial"/>
              </a:rPr>
              <a:t> beta-binomial con shrinkage de la dispersion para </a:t>
            </a:r>
            <a:r>
              <a:rPr lang="en-US" sz="2000" dirty="0" err="1">
                <a:solidFill>
                  <a:srgbClr val="000000"/>
                </a:solidFill>
                <a:latin typeface="Source Sans Pro"/>
                <a:ea typeface="Source Sans Pro"/>
                <a:cs typeface="Arial"/>
                <a:sym typeface="Arial"/>
              </a:rPr>
              <a:t>probar</a:t>
            </a:r>
            <a:r>
              <a:rPr lang="en-US" sz="2000" dirty="0">
                <a:solidFill>
                  <a:srgbClr val="000000"/>
                </a:solidFill>
                <a:latin typeface="Source Sans Pro"/>
                <a:ea typeface="Source Sans Pro"/>
                <a:cs typeface="Arial"/>
                <a:sym typeface="Arial"/>
              </a:rPr>
              <a:t> </a:t>
            </a:r>
            <a:r>
              <a:rPr lang="en-US" sz="2000" dirty="0" err="1">
                <a:solidFill>
                  <a:srgbClr val="000000"/>
                </a:solidFill>
                <a:latin typeface="Source Sans Pro"/>
                <a:ea typeface="Source Sans Pro"/>
                <a:cs typeface="Arial"/>
                <a:sym typeface="Arial"/>
              </a:rPr>
              <a:t>diferencias</a:t>
            </a:r>
            <a:r>
              <a:rPr lang="en-US" sz="2000" dirty="0">
                <a:solidFill>
                  <a:srgbClr val="000000"/>
                </a:solidFill>
                <a:latin typeface="Source Sans Pro"/>
                <a:ea typeface="Source Sans Pro"/>
                <a:cs typeface="Arial"/>
                <a:sym typeface="Arial"/>
              </a:rPr>
              <a:t> de </a:t>
            </a:r>
            <a:r>
              <a:rPr lang="en-US" sz="2000" dirty="0" err="1">
                <a:solidFill>
                  <a:srgbClr val="000000"/>
                </a:solidFill>
                <a:latin typeface="Source Sans Pro"/>
                <a:ea typeface="Source Sans Pro"/>
                <a:cs typeface="Arial"/>
                <a:sym typeface="Arial"/>
              </a:rPr>
              <a:t>metilacion</a:t>
            </a:r>
            <a:r>
              <a:rPr lang="en-US" sz="2000" dirty="0">
                <a:solidFill>
                  <a:srgbClr val="000000"/>
                </a:solidFill>
                <a:latin typeface="Source Sans Pro"/>
                <a:ea typeface="Source Sans Pro"/>
                <a:cs typeface="Arial"/>
                <a:sym typeface="Arial"/>
              </a:rPr>
              <a:t> entre </a:t>
            </a:r>
            <a:r>
              <a:rPr lang="en-US" sz="2000" dirty="0" err="1">
                <a:solidFill>
                  <a:srgbClr val="000000"/>
                </a:solidFill>
                <a:latin typeface="Source Sans Pro"/>
                <a:ea typeface="Source Sans Pro"/>
                <a:cs typeface="Arial"/>
                <a:sym typeface="Arial"/>
              </a:rPr>
              <a:t>grupos</a:t>
            </a:r>
            <a:r>
              <a:rPr lang="en-US" sz="2000" dirty="0">
                <a:solidFill>
                  <a:srgbClr val="000000"/>
                </a:solidFill>
                <a:latin typeface="Source Sans Pro"/>
                <a:ea typeface="Source Sans Pro"/>
                <a:cs typeface="Arial"/>
                <a:sym typeface="Arial"/>
              </a:rPr>
              <a:t> y/o </a:t>
            </a:r>
            <a:r>
              <a:rPr lang="en-US" sz="2000" dirty="0" err="1">
                <a:solidFill>
                  <a:srgbClr val="000000"/>
                </a:solidFill>
                <a:latin typeface="Source Sans Pro"/>
                <a:ea typeface="Source Sans Pro"/>
                <a:cs typeface="Arial"/>
                <a:sym typeface="Arial"/>
              </a:rPr>
              <a:t>condciones</a:t>
            </a:r>
            <a:r>
              <a:rPr lang="en-US" sz="2000" dirty="0">
                <a:solidFill>
                  <a:srgbClr val="000000"/>
                </a:solidFill>
                <a:latin typeface="Source Sans Pro"/>
                <a:ea typeface="Source Sans Pro"/>
                <a:cs typeface="Arial"/>
                <a:sym typeface="Arial"/>
              </a:rPr>
              <a:t> </a:t>
            </a:r>
            <a:endParaRPr sz="2000" dirty="0">
              <a:latin typeface="Source Sans Pro"/>
              <a:ea typeface="Source Sans Pro"/>
            </a:endParaRPr>
          </a:p>
        </p:txBody>
      </p:sp>
      <p:sp>
        <p:nvSpPr>
          <p:cNvPr id="378" name="Google Shape;378;p27"/>
          <p:cNvSpPr txBox="1"/>
          <p:nvPr/>
        </p:nvSpPr>
        <p:spPr>
          <a:xfrm>
            <a:off x="12933623" y="5406199"/>
            <a:ext cx="3999668" cy="1938992"/>
          </a:xfrm>
          <a:prstGeom prst="rect">
            <a:avLst/>
          </a:prstGeom>
          <a:solidFill>
            <a:schemeClr val="accent5">
              <a:lumMod val="20000"/>
              <a:lumOff val="80000"/>
            </a:schemeClr>
          </a:solidFill>
          <a:ln>
            <a:solidFill>
              <a:schemeClr val="bg1"/>
            </a:solidFill>
          </a:ln>
        </p:spPr>
        <p:style>
          <a:lnRef idx="2">
            <a:schemeClr val="accent3"/>
          </a:lnRef>
          <a:fillRef idx="1">
            <a:schemeClr val="lt1"/>
          </a:fillRef>
          <a:effectRef idx="0">
            <a:schemeClr val="accent3"/>
          </a:effectRef>
          <a:fontRef idx="minor">
            <a:schemeClr val="dk1"/>
          </a:fontRef>
        </p:style>
        <p:txBody>
          <a:bodyPr spcFirstLastPara="1" wrap="square" lIns="0" tIns="0" rIns="0" bIns="0" anchor="t" anchorCtr="0">
            <a:spAutoFit/>
          </a:bodyPr>
          <a:lstStyle/>
          <a:p>
            <a:pPr marL="0" marR="0" lvl="0" indent="0" algn="ctr" rtl="0">
              <a:lnSpc>
                <a:spcPct val="140039"/>
              </a:lnSpc>
              <a:spcBef>
                <a:spcPts val="0"/>
              </a:spcBef>
              <a:spcAft>
                <a:spcPts val="0"/>
              </a:spcAft>
              <a:buNone/>
            </a:pPr>
            <a:r>
              <a:rPr lang="en-US" sz="1800" dirty="0">
                <a:solidFill>
                  <a:srgbClr val="000000"/>
                </a:solidFill>
                <a:latin typeface="Source Sans Pro"/>
                <a:ea typeface="Source Sans Pro"/>
                <a:cs typeface="Arial"/>
              </a:rPr>
              <a:t>S</a:t>
            </a:r>
            <a:r>
              <a:rPr lang="en-US" sz="1800" dirty="0">
                <a:solidFill>
                  <a:srgbClr val="000000"/>
                </a:solidFill>
                <a:latin typeface="Source Sans Pro"/>
                <a:ea typeface="Source Sans Pro"/>
                <a:cs typeface="Arial"/>
                <a:sym typeface="Arial"/>
              </a:rPr>
              <a:t>e </a:t>
            </a:r>
            <a:r>
              <a:rPr lang="en-US" sz="1800" dirty="0" err="1">
                <a:solidFill>
                  <a:srgbClr val="000000"/>
                </a:solidFill>
                <a:latin typeface="Source Sans Pro"/>
                <a:ea typeface="Source Sans Pro"/>
                <a:cs typeface="Arial"/>
                <a:sym typeface="Arial"/>
              </a:rPr>
              <a:t>comparará</a:t>
            </a:r>
            <a:r>
              <a:rPr lang="en-US" sz="1800" dirty="0">
                <a:solidFill>
                  <a:srgbClr val="000000"/>
                </a:solidFill>
                <a:latin typeface="Source Sans Pro"/>
                <a:ea typeface="Source Sans Pro"/>
                <a:cs typeface="Arial"/>
                <a:sym typeface="Arial"/>
              </a:rPr>
              <a:t> </a:t>
            </a:r>
            <a:r>
              <a:rPr lang="en-US" sz="1800" dirty="0" err="1">
                <a:solidFill>
                  <a:srgbClr val="000000"/>
                </a:solidFill>
                <a:latin typeface="Source Sans Pro"/>
                <a:ea typeface="Source Sans Pro"/>
                <a:cs typeface="Arial"/>
                <a:sym typeface="Arial"/>
              </a:rPr>
              <a:t>esta</a:t>
            </a:r>
            <a:r>
              <a:rPr lang="en-US" sz="1800" dirty="0">
                <a:solidFill>
                  <a:srgbClr val="000000"/>
                </a:solidFill>
                <a:latin typeface="Source Sans Pro"/>
                <a:ea typeface="Source Sans Pro"/>
                <a:cs typeface="Arial"/>
                <a:sym typeface="Arial"/>
              </a:rPr>
              <a:t> </a:t>
            </a:r>
            <a:r>
              <a:rPr lang="en-US" sz="1800" dirty="0" err="1">
                <a:solidFill>
                  <a:srgbClr val="000000"/>
                </a:solidFill>
                <a:latin typeface="Source Sans Pro"/>
                <a:ea typeface="Source Sans Pro"/>
                <a:cs typeface="Arial"/>
                <a:sym typeface="Arial"/>
              </a:rPr>
              <a:t>proporción</a:t>
            </a:r>
            <a:r>
              <a:rPr lang="en-US" sz="1800" dirty="0">
                <a:solidFill>
                  <a:srgbClr val="000000"/>
                </a:solidFill>
                <a:latin typeface="Source Sans Pro"/>
                <a:ea typeface="Source Sans Pro"/>
                <a:cs typeface="Arial"/>
                <a:sym typeface="Arial"/>
              </a:rPr>
              <a:t> en las </a:t>
            </a:r>
            <a:r>
              <a:rPr lang="en-US" sz="1800" dirty="0" err="1">
                <a:solidFill>
                  <a:srgbClr val="000000"/>
                </a:solidFill>
                <a:latin typeface="Source Sans Pro"/>
                <a:ea typeface="Source Sans Pro"/>
                <a:cs typeface="Arial"/>
                <a:sym typeface="Arial"/>
              </a:rPr>
              <a:t>muestras</a:t>
            </a:r>
            <a:r>
              <a:rPr lang="en-US" sz="1800" dirty="0">
                <a:solidFill>
                  <a:srgbClr val="000000"/>
                </a:solidFill>
                <a:latin typeface="Source Sans Pro"/>
                <a:ea typeface="Source Sans Pro"/>
                <a:cs typeface="Arial"/>
                <a:sym typeface="Arial"/>
              </a:rPr>
              <a:t> </a:t>
            </a:r>
            <a:r>
              <a:rPr lang="en-US" sz="1800" dirty="0" err="1">
                <a:solidFill>
                  <a:srgbClr val="000000"/>
                </a:solidFill>
                <a:latin typeface="Source Sans Pro"/>
                <a:ea typeface="Source Sans Pro"/>
                <a:cs typeface="Arial"/>
                <a:sym typeface="Arial"/>
              </a:rPr>
              <a:t>pareadas</a:t>
            </a:r>
            <a:r>
              <a:rPr lang="en-US" sz="1800" dirty="0">
                <a:solidFill>
                  <a:srgbClr val="000000"/>
                </a:solidFill>
                <a:latin typeface="Source Sans Pro"/>
                <a:ea typeface="Source Sans Pro"/>
                <a:cs typeface="Arial"/>
                <a:sym typeface="Arial"/>
              </a:rPr>
              <a:t> </a:t>
            </a:r>
            <a:r>
              <a:rPr lang="en-US" sz="1800" dirty="0" err="1">
                <a:solidFill>
                  <a:srgbClr val="000000"/>
                </a:solidFill>
                <a:latin typeface="Source Sans Pro"/>
                <a:ea typeface="Source Sans Pro"/>
                <a:cs typeface="Arial"/>
                <a:sym typeface="Arial"/>
              </a:rPr>
              <a:t>DNAcf</a:t>
            </a:r>
            <a:r>
              <a:rPr lang="en-US" sz="1800" dirty="0">
                <a:solidFill>
                  <a:srgbClr val="000000"/>
                </a:solidFill>
                <a:latin typeface="Source Sans Pro"/>
                <a:ea typeface="Source Sans Pro"/>
                <a:cs typeface="Arial"/>
                <a:sym typeface="Arial"/>
              </a:rPr>
              <a:t> y tejido </a:t>
            </a:r>
            <a:r>
              <a:rPr lang="en-US" sz="1800" dirty="0" err="1">
                <a:solidFill>
                  <a:srgbClr val="000000"/>
                </a:solidFill>
                <a:latin typeface="Source Sans Pro"/>
                <a:ea typeface="Source Sans Pro"/>
                <a:cs typeface="Arial"/>
                <a:sym typeface="Arial"/>
              </a:rPr>
              <a:t>colonico</a:t>
            </a:r>
            <a:r>
              <a:rPr lang="en-US" sz="1800" dirty="0">
                <a:solidFill>
                  <a:srgbClr val="000000"/>
                </a:solidFill>
                <a:latin typeface="Source Sans Pro"/>
                <a:ea typeface="Source Sans Pro"/>
                <a:cs typeface="Arial"/>
                <a:sym typeface="Arial"/>
              </a:rPr>
              <a:t> </a:t>
            </a:r>
            <a:r>
              <a:rPr lang="en-US" sz="1800" dirty="0" err="1">
                <a:solidFill>
                  <a:srgbClr val="000000"/>
                </a:solidFill>
                <a:latin typeface="Source Sans Pro"/>
                <a:ea typeface="Source Sans Pro"/>
                <a:cs typeface="Arial"/>
                <a:sym typeface="Arial"/>
              </a:rPr>
              <a:t>desde</a:t>
            </a:r>
            <a:r>
              <a:rPr lang="en-US" sz="1800" dirty="0">
                <a:solidFill>
                  <a:srgbClr val="000000"/>
                </a:solidFill>
                <a:latin typeface="Source Sans Pro"/>
                <a:ea typeface="Source Sans Pro"/>
                <a:cs typeface="Arial"/>
                <a:sym typeface="Arial"/>
              </a:rPr>
              <a:t> los </a:t>
            </a:r>
            <a:r>
              <a:rPr lang="en-US" sz="1800" dirty="0" err="1">
                <a:solidFill>
                  <a:srgbClr val="000000"/>
                </a:solidFill>
                <a:latin typeface="Source Sans Pro"/>
                <a:ea typeface="Source Sans Pro"/>
                <a:cs typeface="Arial"/>
                <a:sym typeface="Arial"/>
              </a:rPr>
              <a:t>conteos</a:t>
            </a:r>
            <a:r>
              <a:rPr lang="en-US" sz="1800" dirty="0">
                <a:solidFill>
                  <a:srgbClr val="000000"/>
                </a:solidFill>
                <a:latin typeface="Source Sans Pro"/>
                <a:ea typeface="Source Sans Pro"/>
                <a:cs typeface="Arial"/>
                <a:sym typeface="Arial"/>
              </a:rPr>
              <a:t> de 5mC </a:t>
            </a:r>
            <a:r>
              <a:rPr lang="en-US" sz="1800" dirty="0" err="1">
                <a:solidFill>
                  <a:srgbClr val="000000"/>
                </a:solidFill>
                <a:latin typeface="Source Sans Pro"/>
                <a:ea typeface="Source Sans Pro"/>
                <a:cs typeface="Arial"/>
                <a:sym typeface="Arial"/>
              </a:rPr>
              <a:t>por</a:t>
            </a:r>
            <a:r>
              <a:rPr lang="en-US" sz="1800" dirty="0">
                <a:solidFill>
                  <a:srgbClr val="000000"/>
                </a:solidFill>
                <a:latin typeface="Source Sans Pro"/>
                <a:ea typeface="Source Sans Pro"/>
                <a:cs typeface="Arial"/>
                <a:sym typeface="Arial"/>
              </a:rPr>
              <a:t> sitio CpG </a:t>
            </a:r>
            <a:r>
              <a:rPr lang="en-US" sz="1800" dirty="0" err="1">
                <a:solidFill>
                  <a:srgbClr val="000000"/>
                </a:solidFill>
                <a:latin typeface="Source Sans Pro"/>
                <a:ea typeface="Source Sans Pro"/>
                <a:cs typeface="Arial"/>
                <a:sym typeface="Arial"/>
              </a:rPr>
              <a:t>usando</a:t>
            </a:r>
            <a:r>
              <a:rPr lang="en-US" sz="1800" dirty="0">
                <a:solidFill>
                  <a:srgbClr val="000000"/>
                </a:solidFill>
                <a:latin typeface="Source Sans Pro"/>
                <a:ea typeface="Source Sans Pro"/>
                <a:cs typeface="Arial"/>
                <a:sym typeface="Arial"/>
              </a:rPr>
              <a:t> la </a:t>
            </a:r>
            <a:r>
              <a:rPr lang="en-US" sz="1800" dirty="0" err="1">
                <a:solidFill>
                  <a:srgbClr val="000000"/>
                </a:solidFill>
                <a:latin typeface="Source Sans Pro"/>
                <a:ea typeface="Source Sans Pro"/>
                <a:cs typeface="Arial"/>
                <a:sym typeface="Arial"/>
              </a:rPr>
              <a:t>prueba</a:t>
            </a:r>
            <a:r>
              <a:rPr lang="en-US" sz="1800" dirty="0">
                <a:solidFill>
                  <a:srgbClr val="000000"/>
                </a:solidFill>
                <a:latin typeface="Source Sans Pro"/>
                <a:ea typeface="Source Sans Pro"/>
                <a:cs typeface="Arial"/>
                <a:sym typeface="Arial"/>
              </a:rPr>
              <a:t> de </a:t>
            </a:r>
            <a:r>
              <a:rPr lang="en-US" sz="1800" dirty="0" err="1">
                <a:solidFill>
                  <a:srgbClr val="000000"/>
                </a:solidFill>
                <a:latin typeface="Source Sans Pro"/>
                <a:ea typeface="Source Sans Pro"/>
                <a:cs typeface="Arial"/>
                <a:sym typeface="Arial"/>
              </a:rPr>
              <a:t>Wilconxon</a:t>
            </a:r>
            <a:r>
              <a:rPr lang="en-US" sz="1800" dirty="0">
                <a:solidFill>
                  <a:srgbClr val="000000"/>
                </a:solidFill>
                <a:latin typeface="Source Sans Pro"/>
                <a:ea typeface="Source Sans Pro"/>
                <a:cs typeface="Arial"/>
                <a:sym typeface="Arial"/>
              </a:rPr>
              <a:t> </a:t>
            </a:r>
            <a:r>
              <a:rPr lang="en-US" sz="1800" dirty="0" err="1">
                <a:solidFill>
                  <a:srgbClr val="000000"/>
                </a:solidFill>
                <a:latin typeface="Source Sans Pro"/>
                <a:ea typeface="Source Sans Pro"/>
                <a:cs typeface="Arial"/>
                <a:sym typeface="Arial"/>
              </a:rPr>
              <a:t>pareada</a:t>
            </a:r>
            <a:r>
              <a:rPr lang="en-US" sz="1800" dirty="0">
                <a:solidFill>
                  <a:srgbClr val="000000"/>
                </a:solidFill>
                <a:latin typeface="Source Sans Pro"/>
                <a:ea typeface="Source Sans Pro"/>
                <a:cs typeface="Arial"/>
                <a:sym typeface="Arial"/>
              </a:rPr>
              <a:t>.</a:t>
            </a:r>
            <a:endParaRPr sz="1800" dirty="0">
              <a:latin typeface="Source Sans Pro"/>
              <a:ea typeface="Source Sans Pro"/>
            </a:endParaRPr>
          </a:p>
        </p:txBody>
      </p:sp>
      <p:graphicFrame>
        <p:nvGraphicFramePr>
          <p:cNvPr id="2" name="Diagrama 1">
            <a:extLst>
              <a:ext uri="{FF2B5EF4-FFF2-40B4-BE49-F238E27FC236}">
                <a16:creationId xmlns:a16="http://schemas.microsoft.com/office/drawing/2014/main" id="{79844430-83EA-76D3-C0A0-157ED4BFCB3C}"/>
              </a:ext>
            </a:extLst>
          </p:cNvPr>
          <p:cNvGraphicFramePr/>
          <p:nvPr>
            <p:extLst>
              <p:ext uri="{D42A27DB-BD31-4B8C-83A1-F6EECF244321}">
                <p14:modId xmlns:p14="http://schemas.microsoft.com/office/powerpoint/2010/main" val="2545912546"/>
              </p:ext>
            </p:extLst>
          </p:nvPr>
        </p:nvGraphicFramePr>
        <p:xfrm>
          <a:off x="1162267" y="1540112"/>
          <a:ext cx="10565551" cy="812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8" name="CuadroTexto 47">
            <a:extLst>
              <a:ext uri="{FF2B5EF4-FFF2-40B4-BE49-F238E27FC236}">
                <a16:creationId xmlns:a16="http://schemas.microsoft.com/office/drawing/2014/main" id="{2A29D184-2BDD-E127-D066-42DAA5854569}"/>
              </a:ext>
            </a:extLst>
          </p:cNvPr>
          <p:cNvSpPr txBox="1"/>
          <p:nvPr/>
        </p:nvSpPr>
        <p:spPr>
          <a:xfrm>
            <a:off x="5210448" y="515431"/>
            <a:ext cx="7874683" cy="593111"/>
          </a:xfrm>
          <a:prstGeom prst="rect">
            <a:avLst/>
          </a:prstGeom>
          <a:noFill/>
        </p:spPr>
        <p:txBody>
          <a:bodyPr wrap="square" lIns="91440" tIns="45720" rIns="91440" bIns="45720" anchor="t">
            <a:spAutoFit/>
          </a:bodyPr>
          <a:lstStyle/>
          <a:p>
            <a:pPr algn="ctr">
              <a:lnSpc>
                <a:spcPct val="80357"/>
              </a:lnSpc>
            </a:pPr>
            <a:r>
              <a:rPr lang="es-ES" sz="4000" b="1" dirty="0">
                <a:solidFill>
                  <a:schemeClr val="tx1">
                    <a:lumMod val="75000"/>
                    <a:lumOff val="25000"/>
                  </a:schemeClr>
                </a:solidFill>
                <a:latin typeface="Calibri"/>
                <a:ea typeface="Calibri"/>
                <a:cs typeface="Calibri"/>
                <a:sym typeface="Calibri"/>
              </a:rPr>
              <a:t>Comparación de firmas epigenéticas</a:t>
            </a:r>
            <a:endParaRPr lang="es-ES" dirty="0"/>
          </a:p>
        </p:txBody>
      </p:sp>
      <p:pic>
        <p:nvPicPr>
          <p:cNvPr id="63" name="Imagen 62" descr="Epigenética - Innovative Genomics Institute (IGI)">
            <a:extLst>
              <a:ext uri="{FF2B5EF4-FFF2-40B4-BE49-F238E27FC236}">
                <a16:creationId xmlns:a16="http://schemas.microsoft.com/office/drawing/2014/main" id="{511A66E6-1302-B0DB-3FC0-DD4F2334072B}"/>
              </a:ext>
            </a:extLst>
          </p:cNvPr>
          <p:cNvPicPr>
            <a:picLocks noChangeAspect="1"/>
          </p:cNvPicPr>
          <p:nvPr/>
        </p:nvPicPr>
        <p:blipFill>
          <a:blip r:embed="rId8"/>
          <a:stretch>
            <a:fillRect/>
          </a:stretch>
        </p:blipFill>
        <p:spPr>
          <a:xfrm rot="4800000">
            <a:off x="12183051" y="7281808"/>
            <a:ext cx="4244452" cy="4979521"/>
          </a:xfrm>
          <a:prstGeom prst="rect">
            <a:avLst/>
          </a:prstGeom>
        </p:spPr>
      </p:pic>
      <p:cxnSp>
        <p:nvCxnSpPr>
          <p:cNvPr id="327" name="Conector recto de flecha 326">
            <a:extLst>
              <a:ext uri="{FF2B5EF4-FFF2-40B4-BE49-F238E27FC236}">
                <a16:creationId xmlns:a16="http://schemas.microsoft.com/office/drawing/2014/main" id="{FB1547A0-E38D-9CD9-A1BC-3CF6E47D6196}"/>
              </a:ext>
            </a:extLst>
          </p:cNvPr>
          <p:cNvCxnSpPr>
            <a:cxnSpLocks/>
          </p:cNvCxnSpPr>
          <p:nvPr/>
        </p:nvCxnSpPr>
        <p:spPr>
          <a:xfrm>
            <a:off x="11897335" y="3257370"/>
            <a:ext cx="96317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6" name="Conector recto de flecha 335">
            <a:extLst>
              <a:ext uri="{FF2B5EF4-FFF2-40B4-BE49-F238E27FC236}">
                <a16:creationId xmlns:a16="http://schemas.microsoft.com/office/drawing/2014/main" id="{FF5A32E2-92A5-8357-9933-B140DFE46D52}"/>
              </a:ext>
            </a:extLst>
          </p:cNvPr>
          <p:cNvCxnSpPr>
            <a:cxnSpLocks/>
          </p:cNvCxnSpPr>
          <p:nvPr/>
        </p:nvCxnSpPr>
        <p:spPr>
          <a:xfrm>
            <a:off x="11897335" y="6103363"/>
            <a:ext cx="1013362"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3" name="Google Shape;93;p1" descr="No hay ninguna descripción de la foto disponible.">
            <a:extLst>
              <a:ext uri="{FF2B5EF4-FFF2-40B4-BE49-F238E27FC236}">
                <a16:creationId xmlns:a16="http://schemas.microsoft.com/office/drawing/2014/main" id="{6F8E578A-0A30-943C-CC3E-11E53E089A9A}"/>
              </a:ext>
            </a:extLst>
          </p:cNvPr>
          <p:cNvPicPr preferRelativeResize="0"/>
          <p:nvPr/>
        </p:nvPicPr>
        <p:blipFill rotWithShape="1">
          <a:blip r:embed="rId9">
            <a:alphaModFix/>
          </a:blip>
          <a:srcRect l="26238" t="22935" r="26586" b="20031"/>
          <a:stretch>
            <a:fillRect/>
          </a:stretch>
        </p:blipFill>
        <p:spPr>
          <a:xfrm>
            <a:off x="16153547" y="355880"/>
            <a:ext cx="1432577" cy="744819"/>
          </a:xfrm>
          <a:prstGeom prst="rect">
            <a:avLst/>
          </a:prstGeom>
          <a:noFill/>
          <a:ln>
            <a:noFill/>
          </a:ln>
        </p:spPr>
      </p:pic>
      <p:pic>
        <p:nvPicPr>
          <p:cNvPr id="4" name="Google Shape;94;p1" descr="Universidad El Bosque in Colombia : Reviews &amp; Rankings | Student ...">
            <a:extLst>
              <a:ext uri="{FF2B5EF4-FFF2-40B4-BE49-F238E27FC236}">
                <a16:creationId xmlns:a16="http://schemas.microsoft.com/office/drawing/2014/main" id="{F213D657-7108-512C-B2A6-2B6CCE89494F}"/>
              </a:ext>
            </a:extLst>
          </p:cNvPr>
          <p:cNvPicPr preferRelativeResize="0"/>
          <p:nvPr/>
        </p:nvPicPr>
        <p:blipFill rotWithShape="1">
          <a:blip r:embed="rId10">
            <a:alphaModFix/>
          </a:blip>
          <a:srcRect l="14020" t="34765" r="17993" b="25071"/>
          <a:stretch>
            <a:fillRect/>
          </a:stretch>
        </p:blipFill>
        <p:spPr>
          <a:xfrm>
            <a:off x="14053727" y="458953"/>
            <a:ext cx="1978341" cy="64174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3FFE69FC-1EA2-B5BD-9E3F-FA70A7D41091}"/>
              </a:ext>
            </a:extLst>
          </p:cNvPr>
          <p:cNvPicPr>
            <a:picLocks noChangeAspect="1"/>
          </p:cNvPicPr>
          <p:nvPr/>
        </p:nvPicPr>
        <p:blipFill>
          <a:blip r:embed="rId2"/>
          <a:srcRect t="4724" r="2897" b="15223"/>
          <a:stretch>
            <a:fillRect/>
          </a:stretch>
        </p:blipFill>
        <p:spPr>
          <a:xfrm>
            <a:off x="148706" y="1568638"/>
            <a:ext cx="18006166" cy="7159424"/>
          </a:xfrm>
          <a:prstGeom prst="rect">
            <a:avLst/>
          </a:prstGeom>
        </p:spPr>
      </p:pic>
      <p:sp>
        <p:nvSpPr>
          <p:cNvPr id="5" name="Google Shape;397;p24">
            <a:extLst>
              <a:ext uri="{FF2B5EF4-FFF2-40B4-BE49-F238E27FC236}">
                <a16:creationId xmlns:a16="http://schemas.microsoft.com/office/drawing/2014/main" id="{92E8A9DC-6726-83F5-8F4E-C0BECD9DC90B}"/>
              </a:ext>
            </a:extLst>
          </p:cNvPr>
          <p:cNvSpPr txBox="1"/>
          <p:nvPr/>
        </p:nvSpPr>
        <p:spPr>
          <a:xfrm>
            <a:off x="574595" y="6498177"/>
            <a:ext cx="4296224" cy="1551194"/>
          </a:xfrm>
          <a:prstGeom prst="rect">
            <a:avLst/>
          </a:prstGeom>
          <a:solidFill>
            <a:schemeClr val="accent5">
              <a:lumMod val="20000"/>
              <a:lumOff val="80000"/>
            </a:schemeClr>
          </a:solidFill>
          <a:ln w="9525" cap="flat" cmpd="sng">
            <a:solidFill>
              <a:schemeClr val="bg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0" tIns="0" rIns="0" bIns="0" anchor="t" anchorCtr="0">
            <a:spAutoFit/>
          </a:bodyPr>
          <a:lstStyle/>
          <a:p>
            <a:pPr algn="ctr">
              <a:lnSpc>
                <a:spcPct val="120000"/>
              </a:lnSpc>
            </a:pPr>
            <a:r>
              <a:rPr lang="en-US" sz="2800" b="1" dirty="0">
                <a:solidFill>
                  <a:schemeClr val="dk1"/>
                </a:solidFill>
                <a:latin typeface="Source Sans Pro"/>
                <a:ea typeface="Source Sans Pro"/>
                <a:cs typeface="Calibri"/>
                <a:sym typeface="Calibri"/>
              </a:rPr>
              <a:t>IDENTIFICACIÓN DE NIVELES  SÉRICOS DEL ANTICUERPO </a:t>
            </a:r>
            <a:r>
              <a:rPr lang="en-US" sz="2800" b="1" dirty="0" err="1">
                <a:solidFill>
                  <a:schemeClr val="dk1"/>
                </a:solidFill>
                <a:latin typeface="Source Sans Pro"/>
                <a:ea typeface="Source Sans Pro"/>
                <a:cs typeface="Calibri"/>
                <a:sym typeface="Calibri"/>
              </a:rPr>
              <a:t>SIgA</a:t>
            </a:r>
            <a:endParaRPr lang="es-ES" dirty="0">
              <a:solidFill>
                <a:schemeClr val="dk1"/>
              </a:solidFill>
              <a:latin typeface="Source Sans Pro"/>
              <a:ea typeface="Source Sans Pro"/>
            </a:endParaRPr>
          </a:p>
        </p:txBody>
      </p:sp>
      <p:sp>
        <p:nvSpPr>
          <p:cNvPr id="6" name="CuadroTexto 5">
            <a:extLst>
              <a:ext uri="{FF2B5EF4-FFF2-40B4-BE49-F238E27FC236}">
                <a16:creationId xmlns:a16="http://schemas.microsoft.com/office/drawing/2014/main" id="{12B4A416-53D6-8358-D6E4-2FFE8BA3C0C0}"/>
              </a:ext>
            </a:extLst>
          </p:cNvPr>
          <p:cNvSpPr txBox="1"/>
          <p:nvPr/>
        </p:nvSpPr>
        <p:spPr>
          <a:xfrm>
            <a:off x="1418664" y="955832"/>
            <a:ext cx="15466249" cy="688265"/>
          </a:xfrm>
          <a:prstGeom prst="rect">
            <a:avLst/>
          </a:prstGeom>
          <a:noFill/>
        </p:spPr>
        <p:txBody>
          <a:bodyPr wrap="square" lIns="91440" tIns="45720" rIns="91440" bIns="45720" anchor="t">
            <a:spAutoFit/>
          </a:bodyPr>
          <a:lstStyle/>
          <a:p>
            <a:pPr algn="ctr">
              <a:lnSpc>
                <a:spcPct val="80357"/>
              </a:lnSpc>
            </a:pPr>
            <a:r>
              <a:rPr lang="es-ES" sz="2400" b="1" dirty="0">
                <a:solidFill>
                  <a:schemeClr val="tx1">
                    <a:lumMod val="75000"/>
                    <a:lumOff val="25000"/>
                  </a:schemeClr>
                </a:solidFill>
                <a:latin typeface="Calibri"/>
                <a:ea typeface="Calibri"/>
                <a:cs typeface="Calibri"/>
                <a:sym typeface="Calibri"/>
              </a:rPr>
              <a:t>Metodología del objetivo 3. Asociar los niveles de </a:t>
            </a:r>
            <a:r>
              <a:rPr lang="es-ES" sz="2400" b="1" dirty="0" err="1">
                <a:solidFill>
                  <a:schemeClr val="tx1">
                    <a:lumMod val="75000"/>
                    <a:lumOff val="25000"/>
                  </a:schemeClr>
                </a:solidFill>
                <a:latin typeface="Calibri"/>
                <a:ea typeface="Calibri"/>
                <a:cs typeface="Calibri"/>
                <a:sym typeface="Calibri"/>
              </a:rPr>
              <a:t>SIgA</a:t>
            </a:r>
            <a:r>
              <a:rPr lang="es-ES" sz="2400" b="1" dirty="0">
                <a:solidFill>
                  <a:schemeClr val="tx1">
                    <a:lumMod val="75000"/>
                    <a:lumOff val="25000"/>
                  </a:schemeClr>
                </a:solidFill>
                <a:latin typeface="Calibri"/>
                <a:ea typeface="Calibri"/>
                <a:cs typeface="Calibri"/>
                <a:sym typeface="Calibri"/>
              </a:rPr>
              <a:t> sérica y la firma de metilación identificada en biopsias líquidas y de tejido colónico de pacientes con CU que presentan síntomas de alto riesgo de cáncer colorrectal</a:t>
            </a:r>
            <a:endParaRPr lang="es-ES" sz="1000" dirty="0"/>
          </a:p>
        </p:txBody>
      </p:sp>
      <p:pic>
        <p:nvPicPr>
          <p:cNvPr id="7" name="Imagen 6">
            <a:extLst>
              <a:ext uri="{FF2B5EF4-FFF2-40B4-BE49-F238E27FC236}">
                <a16:creationId xmlns:a16="http://schemas.microsoft.com/office/drawing/2014/main" id="{9D4CFE8B-59C7-C329-70BA-9C88FBADDF6B}"/>
              </a:ext>
            </a:extLst>
          </p:cNvPr>
          <p:cNvPicPr>
            <a:picLocks noChangeAspect="1"/>
          </p:cNvPicPr>
          <p:nvPr/>
        </p:nvPicPr>
        <p:blipFill>
          <a:blip r:embed="rId2"/>
          <a:srcRect l="65617" t="92126" r="-1385" b="-2012"/>
          <a:stretch>
            <a:fillRect/>
          </a:stretch>
        </p:blipFill>
        <p:spPr>
          <a:xfrm>
            <a:off x="13438212" y="9637876"/>
            <a:ext cx="4841704" cy="641889"/>
          </a:xfrm>
          <a:prstGeom prst="rect">
            <a:avLst/>
          </a:prstGeom>
        </p:spPr>
      </p:pic>
      <p:sp>
        <p:nvSpPr>
          <p:cNvPr id="4" name="CuadroTexto 3">
            <a:extLst>
              <a:ext uri="{FF2B5EF4-FFF2-40B4-BE49-F238E27FC236}">
                <a16:creationId xmlns:a16="http://schemas.microsoft.com/office/drawing/2014/main" id="{76A05528-9634-34A6-772B-CD3C77F0D903}"/>
              </a:ext>
            </a:extLst>
          </p:cNvPr>
          <p:cNvSpPr txBox="1"/>
          <p:nvPr/>
        </p:nvSpPr>
        <p:spPr>
          <a:xfrm>
            <a:off x="462971" y="9265409"/>
            <a:ext cx="17816945" cy="430887"/>
          </a:xfrm>
          <a:prstGeom prst="rect">
            <a:avLst/>
          </a:prstGeom>
          <a:noFill/>
        </p:spPr>
        <p:txBody>
          <a:bodyPr wrap="square">
            <a:spAutoFit/>
          </a:bodyPr>
          <a:lstStyle/>
          <a:p>
            <a:r>
              <a:rPr lang="es-ES" sz="1100" b="0" i="0" dirty="0">
                <a:solidFill>
                  <a:srgbClr val="2C3E50"/>
                </a:solidFill>
                <a:effectLst/>
                <a:latin typeface="Calibri" panose="020F0502020204030204" pitchFamily="34" charset="0"/>
              </a:rPr>
              <a:t>Salas-Cuestas F, Bautista-Molano W, Bello-Gualtero JM, Arias I, Castillo DM, Chila-Moreno L, et al. Los niveles más altos de IgA secretora se asocian con un bajo índice de actividad de la enfermedad en pacientes con artritis reactiva y </a:t>
            </a:r>
            <a:r>
              <a:rPr lang="es-ES" sz="1100" b="0" i="0" dirty="0" err="1">
                <a:solidFill>
                  <a:srgbClr val="2C3E50"/>
                </a:solidFill>
                <a:effectLst/>
                <a:latin typeface="Calibri" panose="020F0502020204030204" pitchFamily="34" charset="0"/>
              </a:rPr>
              <a:t>espondiloartritis</a:t>
            </a:r>
            <a:r>
              <a:rPr lang="es-ES" sz="1100" b="0" i="0" dirty="0">
                <a:solidFill>
                  <a:srgbClr val="2C3E50"/>
                </a:solidFill>
                <a:effectLst/>
                <a:latin typeface="Calibri" panose="020F0502020204030204" pitchFamily="34" charset="0"/>
              </a:rPr>
              <a:t> indiferenciada. Fronteras en inmunología. 27 de abril de 2017;8.</a:t>
            </a:r>
            <a:endParaRPr lang="es-ES" sz="1100" dirty="0"/>
          </a:p>
        </p:txBody>
      </p:sp>
      <p:pic>
        <p:nvPicPr>
          <p:cNvPr id="8" name="Google Shape;93;p1" descr="No hay ninguna descripción de la foto disponible.">
            <a:extLst>
              <a:ext uri="{FF2B5EF4-FFF2-40B4-BE49-F238E27FC236}">
                <a16:creationId xmlns:a16="http://schemas.microsoft.com/office/drawing/2014/main" id="{0C9BA725-0378-E1D9-D2B2-2AD3B17E38EF}"/>
              </a:ext>
            </a:extLst>
          </p:cNvPr>
          <p:cNvPicPr preferRelativeResize="0"/>
          <p:nvPr/>
        </p:nvPicPr>
        <p:blipFill rotWithShape="1">
          <a:blip r:embed="rId3">
            <a:alphaModFix/>
          </a:blip>
          <a:srcRect l="26238" t="22935" r="26586" b="20031"/>
          <a:stretch>
            <a:fillRect/>
          </a:stretch>
        </p:blipFill>
        <p:spPr>
          <a:xfrm>
            <a:off x="2552936" y="92242"/>
            <a:ext cx="1432577" cy="744819"/>
          </a:xfrm>
          <a:prstGeom prst="rect">
            <a:avLst/>
          </a:prstGeom>
          <a:noFill/>
          <a:ln>
            <a:noFill/>
          </a:ln>
        </p:spPr>
      </p:pic>
      <p:pic>
        <p:nvPicPr>
          <p:cNvPr id="9" name="Google Shape;94;p1" descr="Universidad El Bosque in Colombia : Reviews &amp; Rankings | Student ...">
            <a:extLst>
              <a:ext uri="{FF2B5EF4-FFF2-40B4-BE49-F238E27FC236}">
                <a16:creationId xmlns:a16="http://schemas.microsoft.com/office/drawing/2014/main" id="{89C09C6F-E408-0BC7-864F-34043A18BB6E}"/>
              </a:ext>
            </a:extLst>
          </p:cNvPr>
          <p:cNvPicPr preferRelativeResize="0"/>
          <p:nvPr/>
        </p:nvPicPr>
        <p:blipFill rotWithShape="1">
          <a:blip r:embed="rId4">
            <a:alphaModFix/>
          </a:blip>
          <a:srcRect l="14020" t="34765" r="17993" b="25071"/>
          <a:stretch>
            <a:fillRect/>
          </a:stretch>
        </p:blipFill>
        <p:spPr>
          <a:xfrm>
            <a:off x="574595" y="208556"/>
            <a:ext cx="1978341" cy="641746"/>
          </a:xfrm>
          <a:prstGeom prst="rect">
            <a:avLst/>
          </a:prstGeom>
          <a:noFill/>
          <a:ln>
            <a:noFill/>
          </a:ln>
        </p:spPr>
      </p:pic>
    </p:spTree>
    <p:extLst>
      <p:ext uri="{BB962C8B-B14F-4D97-AF65-F5344CB8AC3E}">
        <p14:creationId xmlns:p14="http://schemas.microsoft.com/office/powerpoint/2010/main" val="42334220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Gráfico 10">
            <a:extLst>
              <a:ext uri="{FF2B5EF4-FFF2-40B4-BE49-F238E27FC236}">
                <a16:creationId xmlns:a16="http://schemas.microsoft.com/office/drawing/2014/main" id="{85EBD663-3740-494F-AADD-E186DA51E5D2}"/>
              </a:ext>
            </a:extLst>
          </p:cNvPr>
          <p:cNvGraphicFramePr>
            <a:graphicFrameLocks/>
          </p:cNvGraphicFramePr>
          <p:nvPr>
            <p:extLst>
              <p:ext uri="{D42A27DB-BD31-4B8C-83A1-F6EECF244321}">
                <p14:modId xmlns:p14="http://schemas.microsoft.com/office/powerpoint/2010/main" val="3218024078"/>
              </p:ext>
            </p:extLst>
          </p:nvPr>
        </p:nvGraphicFramePr>
        <p:xfrm>
          <a:off x="2268462" y="7427948"/>
          <a:ext cx="3953474" cy="2596120"/>
        </p:xfrm>
        <a:graphic>
          <a:graphicData uri="http://schemas.openxmlformats.org/drawingml/2006/chart">
            <c:chart xmlns:c="http://schemas.openxmlformats.org/drawingml/2006/chart" xmlns:r="http://schemas.openxmlformats.org/officeDocument/2006/relationships" r:id="rId2"/>
          </a:graphicData>
        </a:graphic>
      </p:graphicFrame>
      <p:sp>
        <p:nvSpPr>
          <p:cNvPr id="13" name="CuadroTexto 12">
            <a:extLst>
              <a:ext uri="{FF2B5EF4-FFF2-40B4-BE49-F238E27FC236}">
                <a16:creationId xmlns:a16="http://schemas.microsoft.com/office/drawing/2014/main" id="{B7990F36-D9FF-2D51-89B5-3DC9FF2E9729}"/>
              </a:ext>
            </a:extLst>
          </p:cNvPr>
          <p:cNvSpPr txBox="1"/>
          <p:nvPr/>
        </p:nvSpPr>
        <p:spPr>
          <a:xfrm>
            <a:off x="1985394" y="262932"/>
            <a:ext cx="13620366" cy="1200329"/>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en-US" sz="2400" b="1" dirty="0">
                <a:solidFill>
                  <a:schemeClr val="tx1">
                    <a:lumMod val="75000"/>
                    <a:lumOff val="25000"/>
                  </a:schemeClr>
                </a:solidFill>
                <a:latin typeface="Calibri"/>
                <a:ea typeface="Calibri"/>
                <a:cs typeface="Calibri"/>
              </a:rPr>
              <a:t>Metodologia del objetivo 3. </a:t>
            </a:r>
            <a:r>
              <a:rPr lang="en-US" sz="2400" b="1" dirty="0" err="1">
                <a:solidFill>
                  <a:schemeClr val="tx1">
                    <a:lumMod val="75000"/>
                    <a:lumOff val="25000"/>
                  </a:schemeClr>
                </a:solidFill>
                <a:latin typeface="Calibri"/>
                <a:ea typeface="Calibri"/>
                <a:cs typeface="Calibri"/>
              </a:rPr>
              <a:t>Asociar</a:t>
            </a:r>
            <a:r>
              <a:rPr lang="en-US" sz="2400" b="1" dirty="0">
                <a:solidFill>
                  <a:schemeClr val="tx1">
                    <a:lumMod val="75000"/>
                    <a:lumOff val="25000"/>
                  </a:schemeClr>
                </a:solidFill>
                <a:latin typeface="Calibri"/>
                <a:ea typeface="Calibri"/>
                <a:cs typeface="Calibri"/>
              </a:rPr>
              <a:t> </a:t>
            </a:r>
            <a:r>
              <a:rPr lang="en-US" sz="2400" b="1" dirty="0" err="1">
                <a:solidFill>
                  <a:schemeClr val="tx1">
                    <a:lumMod val="75000"/>
                    <a:lumOff val="25000"/>
                  </a:schemeClr>
                </a:solidFill>
                <a:latin typeface="Calibri"/>
                <a:ea typeface="Calibri"/>
                <a:cs typeface="Calibri"/>
              </a:rPr>
              <a:t>los</a:t>
            </a:r>
            <a:r>
              <a:rPr lang="en-US" sz="2400" b="1" dirty="0">
                <a:solidFill>
                  <a:schemeClr val="tx1">
                    <a:lumMod val="75000"/>
                    <a:lumOff val="25000"/>
                  </a:schemeClr>
                </a:solidFill>
                <a:latin typeface="Calibri"/>
                <a:ea typeface="Calibri"/>
                <a:cs typeface="Calibri"/>
              </a:rPr>
              <a:t> </a:t>
            </a:r>
            <a:r>
              <a:rPr lang="en-US" sz="2400" b="1" dirty="0" err="1">
                <a:solidFill>
                  <a:schemeClr val="tx1">
                    <a:lumMod val="75000"/>
                    <a:lumOff val="25000"/>
                  </a:schemeClr>
                </a:solidFill>
                <a:latin typeface="Calibri"/>
                <a:ea typeface="Calibri"/>
                <a:cs typeface="Calibri"/>
              </a:rPr>
              <a:t>niveles</a:t>
            </a:r>
            <a:r>
              <a:rPr lang="en-US" sz="2400" b="1" dirty="0">
                <a:solidFill>
                  <a:schemeClr val="tx1">
                    <a:lumMod val="75000"/>
                    <a:lumOff val="25000"/>
                  </a:schemeClr>
                </a:solidFill>
                <a:latin typeface="Calibri"/>
                <a:ea typeface="Calibri"/>
                <a:cs typeface="Calibri"/>
              </a:rPr>
              <a:t> de </a:t>
            </a:r>
            <a:r>
              <a:rPr lang="en-US" sz="2400" b="1" dirty="0" err="1">
                <a:solidFill>
                  <a:schemeClr val="tx1">
                    <a:lumMod val="75000"/>
                    <a:lumOff val="25000"/>
                  </a:schemeClr>
                </a:solidFill>
                <a:latin typeface="Calibri"/>
                <a:ea typeface="Calibri"/>
                <a:cs typeface="Calibri"/>
              </a:rPr>
              <a:t>SIgA</a:t>
            </a:r>
            <a:r>
              <a:rPr lang="en-US" sz="2400" b="1" dirty="0">
                <a:solidFill>
                  <a:schemeClr val="tx1">
                    <a:lumMod val="75000"/>
                    <a:lumOff val="25000"/>
                  </a:schemeClr>
                </a:solidFill>
                <a:latin typeface="Calibri"/>
                <a:ea typeface="Calibri"/>
                <a:cs typeface="Calibri"/>
              </a:rPr>
              <a:t> sérica y la </a:t>
            </a:r>
            <a:r>
              <a:rPr lang="en-US" sz="2400" b="1" dirty="0" err="1">
                <a:solidFill>
                  <a:schemeClr val="tx1">
                    <a:lumMod val="75000"/>
                    <a:lumOff val="25000"/>
                  </a:schemeClr>
                </a:solidFill>
                <a:latin typeface="Calibri"/>
                <a:ea typeface="Calibri"/>
                <a:cs typeface="Calibri"/>
              </a:rPr>
              <a:t>firma</a:t>
            </a:r>
            <a:r>
              <a:rPr lang="en-US" sz="2400" b="1" dirty="0">
                <a:solidFill>
                  <a:schemeClr val="tx1">
                    <a:lumMod val="75000"/>
                    <a:lumOff val="25000"/>
                  </a:schemeClr>
                </a:solidFill>
                <a:latin typeface="Calibri"/>
                <a:ea typeface="Calibri"/>
                <a:cs typeface="Calibri"/>
              </a:rPr>
              <a:t> de </a:t>
            </a:r>
            <a:r>
              <a:rPr lang="en-US" sz="2400" b="1" dirty="0" err="1">
                <a:solidFill>
                  <a:schemeClr val="tx1">
                    <a:lumMod val="75000"/>
                    <a:lumOff val="25000"/>
                  </a:schemeClr>
                </a:solidFill>
                <a:latin typeface="Calibri"/>
                <a:ea typeface="Calibri"/>
                <a:cs typeface="Calibri"/>
              </a:rPr>
              <a:t>metilación</a:t>
            </a:r>
            <a:r>
              <a:rPr lang="en-US" sz="2400" b="1" dirty="0">
                <a:solidFill>
                  <a:schemeClr val="tx1">
                    <a:lumMod val="75000"/>
                    <a:lumOff val="25000"/>
                  </a:schemeClr>
                </a:solidFill>
                <a:latin typeface="Calibri"/>
                <a:ea typeface="Calibri"/>
                <a:cs typeface="Calibri"/>
              </a:rPr>
              <a:t> </a:t>
            </a:r>
            <a:r>
              <a:rPr lang="en-US" sz="2400" b="1" dirty="0" err="1">
                <a:solidFill>
                  <a:schemeClr val="tx1">
                    <a:lumMod val="75000"/>
                    <a:lumOff val="25000"/>
                  </a:schemeClr>
                </a:solidFill>
                <a:latin typeface="Calibri"/>
                <a:ea typeface="Calibri"/>
                <a:cs typeface="Calibri"/>
              </a:rPr>
              <a:t>identificada</a:t>
            </a:r>
            <a:r>
              <a:rPr lang="en-US" sz="2400" b="1" dirty="0">
                <a:solidFill>
                  <a:schemeClr val="tx1">
                    <a:lumMod val="75000"/>
                    <a:lumOff val="25000"/>
                  </a:schemeClr>
                </a:solidFill>
                <a:latin typeface="Calibri"/>
                <a:ea typeface="Calibri"/>
                <a:cs typeface="Calibri"/>
              </a:rPr>
              <a:t> en biopsias </a:t>
            </a:r>
            <a:r>
              <a:rPr lang="en-US" sz="2400" b="1" dirty="0" err="1">
                <a:solidFill>
                  <a:schemeClr val="tx1">
                    <a:lumMod val="75000"/>
                    <a:lumOff val="25000"/>
                  </a:schemeClr>
                </a:solidFill>
                <a:latin typeface="Calibri"/>
                <a:ea typeface="Calibri"/>
                <a:cs typeface="Calibri"/>
              </a:rPr>
              <a:t>líquidas</a:t>
            </a:r>
            <a:r>
              <a:rPr lang="en-US" sz="2400" b="1" dirty="0">
                <a:solidFill>
                  <a:schemeClr val="tx1">
                    <a:lumMod val="75000"/>
                    <a:lumOff val="25000"/>
                  </a:schemeClr>
                </a:solidFill>
                <a:latin typeface="Calibri"/>
                <a:ea typeface="Calibri"/>
                <a:cs typeface="Calibri"/>
              </a:rPr>
              <a:t> y de tejido </a:t>
            </a:r>
            <a:r>
              <a:rPr lang="en-US" sz="2400" b="1" dirty="0" err="1">
                <a:solidFill>
                  <a:schemeClr val="tx1">
                    <a:lumMod val="75000"/>
                    <a:lumOff val="25000"/>
                  </a:schemeClr>
                </a:solidFill>
                <a:latin typeface="Calibri"/>
                <a:ea typeface="Calibri"/>
                <a:cs typeface="Calibri"/>
              </a:rPr>
              <a:t>colónico</a:t>
            </a:r>
            <a:r>
              <a:rPr lang="en-US" sz="2400" b="1" dirty="0">
                <a:solidFill>
                  <a:schemeClr val="tx1">
                    <a:lumMod val="75000"/>
                    <a:lumOff val="25000"/>
                  </a:schemeClr>
                </a:solidFill>
                <a:latin typeface="Calibri"/>
                <a:ea typeface="Calibri"/>
                <a:cs typeface="Calibri"/>
              </a:rPr>
              <a:t> de pacientes con CU que </a:t>
            </a:r>
            <a:r>
              <a:rPr lang="en-US" sz="2400" b="1" dirty="0" err="1">
                <a:solidFill>
                  <a:schemeClr val="tx1">
                    <a:lumMod val="75000"/>
                    <a:lumOff val="25000"/>
                  </a:schemeClr>
                </a:solidFill>
                <a:latin typeface="Calibri"/>
                <a:ea typeface="Calibri"/>
                <a:cs typeface="Calibri"/>
              </a:rPr>
              <a:t>presentan</a:t>
            </a:r>
            <a:r>
              <a:rPr lang="en-US" sz="2400" b="1" dirty="0">
                <a:solidFill>
                  <a:schemeClr val="tx1">
                    <a:lumMod val="75000"/>
                    <a:lumOff val="25000"/>
                  </a:schemeClr>
                </a:solidFill>
                <a:latin typeface="Calibri"/>
                <a:ea typeface="Calibri"/>
                <a:cs typeface="Calibri"/>
              </a:rPr>
              <a:t> </a:t>
            </a:r>
            <a:r>
              <a:rPr lang="en-US" sz="2400" b="1" dirty="0" err="1">
                <a:solidFill>
                  <a:schemeClr val="tx1">
                    <a:lumMod val="75000"/>
                    <a:lumOff val="25000"/>
                  </a:schemeClr>
                </a:solidFill>
                <a:latin typeface="Calibri"/>
                <a:ea typeface="Calibri"/>
                <a:cs typeface="Calibri"/>
              </a:rPr>
              <a:t>síntomas</a:t>
            </a:r>
            <a:r>
              <a:rPr lang="en-US" sz="2400" b="1" dirty="0">
                <a:solidFill>
                  <a:schemeClr val="tx1">
                    <a:lumMod val="75000"/>
                    <a:lumOff val="25000"/>
                  </a:schemeClr>
                </a:solidFill>
                <a:latin typeface="Calibri"/>
                <a:ea typeface="Calibri"/>
                <a:cs typeface="Calibri"/>
              </a:rPr>
              <a:t> de alto </a:t>
            </a:r>
            <a:r>
              <a:rPr lang="en-US" sz="2400" b="1" dirty="0" err="1">
                <a:solidFill>
                  <a:schemeClr val="tx1">
                    <a:lumMod val="75000"/>
                    <a:lumOff val="25000"/>
                  </a:schemeClr>
                </a:solidFill>
                <a:latin typeface="Calibri"/>
                <a:ea typeface="Calibri"/>
                <a:cs typeface="Calibri"/>
              </a:rPr>
              <a:t>riesgo</a:t>
            </a:r>
            <a:r>
              <a:rPr lang="en-US" sz="2400" b="1" dirty="0">
                <a:solidFill>
                  <a:schemeClr val="tx1">
                    <a:lumMod val="75000"/>
                    <a:lumOff val="25000"/>
                  </a:schemeClr>
                </a:solidFill>
                <a:latin typeface="Calibri"/>
                <a:ea typeface="Calibri"/>
                <a:cs typeface="Calibri"/>
              </a:rPr>
              <a:t> de </a:t>
            </a:r>
            <a:r>
              <a:rPr lang="en-US" sz="2400" b="1" dirty="0" err="1">
                <a:solidFill>
                  <a:schemeClr val="tx1">
                    <a:lumMod val="75000"/>
                    <a:lumOff val="25000"/>
                  </a:schemeClr>
                </a:solidFill>
                <a:latin typeface="Calibri"/>
                <a:ea typeface="Calibri"/>
                <a:cs typeface="Calibri"/>
              </a:rPr>
              <a:t>cáncer</a:t>
            </a:r>
            <a:r>
              <a:rPr lang="en-US" sz="2400" b="1" dirty="0">
                <a:solidFill>
                  <a:schemeClr val="tx1">
                    <a:lumMod val="75000"/>
                    <a:lumOff val="25000"/>
                  </a:schemeClr>
                </a:solidFill>
                <a:latin typeface="Calibri"/>
                <a:ea typeface="Calibri"/>
                <a:cs typeface="Calibri"/>
              </a:rPr>
              <a:t> </a:t>
            </a:r>
            <a:r>
              <a:rPr lang="en-US" sz="2400" b="1" dirty="0" err="1">
                <a:solidFill>
                  <a:schemeClr val="tx1">
                    <a:lumMod val="75000"/>
                    <a:lumOff val="25000"/>
                  </a:schemeClr>
                </a:solidFill>
                <a:latin typeface="Calibri"/>
                <a:ea typeface="Calibri"/>
                <a:cs typeface="Calibri"/>
              </a:rPr>
              <a:t>colorrectal</a:t>
            </a:r>
            <a:endParaRPr lang="es-ES" sz="2400" b="1" dirty="0">
              <a:solidFill>
                <a:schemeClr val="tx1">
                  <a:lumMod val="75000"/>
                  <a:lumOff val="25000"/>
                </a:schemeClr>
              </a:solidFill>
              <a:latin typeface="Calibri"/>
              <a:ea typeface="Calibri"/>
              <a:cs typeface="Calibri"/>
            </a:endParaRPr>
          </a:p>
        </p:txBody>
      </p:sp>
      <p:grpSp>
        <p:nvGrpSpPr>
          <p:cNvPr id="14" name="Grupo 13">
            <a:extLst>
              <a:ext uri="{FF2B5EF4-FFF2-40B4-BE49-F238E27FC236}">
                <a16:creationId xmlns:a16="http://schemas.microsoft.com/office/drawing/2014/main" id="{867E7B32-5D31-CFEB-F84A-31F82DC24BB1}"/>
              </a:ext>
            </a:extLst>
          </p:cNvPr>
          <p:cNvGrpSpPr/>
          <p:nvPr/>
        </p:nvGrpSpPr>
        <p:grpSpPr>
          <a:xfrm>
            <a:off x="936746" y="1626546"/>
            <a:ext cx="7159751" cy="5187564"/>
            <a:chOff x="9471108" y="1862448"/>
            <a:chExt cx="7159751" cy="5187564"/>
          </a:xfrm>
        </p:grpSpPr>
        <p:pic>
          <p:nvPicPr>
            <p:cNvPr id="4" name="chart">
              <a:extLst>
                <a:ext uri="{FF2B5EF4-FFF2-40B4-BE49-F238E27FC236}">
                  <a16:creationId xmlns:a16="http://schemas.microsoft.com/office/drawing/2014/main" id="{20D75F62-8A00-9BDC-DF3F-08F06D6FDD76}"/>
                </a:ext>
              </a:extLst>
            </p:cNvPr>
            <p:cNvPicPr>
              <a:picLocks noChangeAspect="1"/>
            </p:cNvPicPr>
            <p:nvPr/>
          </p:nvPicPr>
          <p:blipFill>
            <a:blip r:embed="rId3"/>
            <a:stretch>
              <a:fillRect/>
            </a:stretch>
          </p:blipFill>
          <p:spPr>
            <a:xfrm>
              <a:off x="9471108" y="1862448"/>
              <a:ext cx="7159751" cy="5187564"/>
            </a:xfrm>
            <a:prstGeom prst="rect">
              <a:avLst/>
            </a:prstGeom>
          </p:spPr>
        </p:pic>
        <p:sp>
          <p:nvSpPr>
            <p:cNvPr id="6" name="Diagrama de flujo: proceso 5">
              <a:extLst>
                <a:ext uri="{FF2B5EF4-FFF2-40B4-BE49-F238E27FC236}">
                  <a16:creationId xmlns:a16="http://schemas.microsoft.com/office/drawing/2014/main" id="{D1C9B516-1B04-68E3-312B-82A8849F8E47}"/>
                </a:ext>
              </a:extLst>
            </p:cNvPr>
            <p:cNvSpPr/>
            <p:nvPr/>
          </p:nvSpPr>
          <p:spPr>
            <a:xfrm>
              <a:off x="15091660" y="1940680"/>
              <a:ext cx="1244008" cy="461301"/>
            </a:xfrm>
            <a:prstGeom prst="flowChartProcess">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ES"/>
            </a:p>
          </p:txBody>
        </p:sp>
        <p:sp>
          <p:nvSpPr>
            <p:cNvPr id="7" name="Diagrama de flujo: proceso 6">
              <a:extLst>
                <a:ext uri="{FF2B5EF4-FFF2-40B4-BE49-F238E27FC236}">
                  <a16:creationId xmlns:a16="http://schemas.microsoft.com/office/drawing/2014/main" id="{EEBCB294-45EC-62D1-6177-8E8433A01494}"/>
                </a:ext>
              </a:extLst>
            </p:cNvPr>
            <p:cNvSpPr/>
            <p:nvPr/>
          </p:nvSpPr>
          <p:spPr>
            <a:xfrm>
              <a:off x="11162733" y="2079874"/>
              <a:ext cx="1035031" cy="369332"/>
            </a:xfrm>
            <a:prstGeom prst="flowChartProcess">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ES"/>
            </a:p>
          </p:txBody>
        </p:sp>
        <p:sp>
          <p:nvSpPr>
            <p:cNvPr id="9" name="CuadroTexto 8">
              <a:extLst>
                <a:ext uri="{FF2B5EF4-FFF2-40B4-BE49-F238E27FC236}">
                  <a16:creationId xmlns:a16="http://schemas.microsoft.com/office/drawing/2014/main" id="{B268B1FE-2DD3-3520-F2E8-D3D85D4CA931}"/>
                </a:ext>
              </a:extLst>
            </p:cNvPr>
            <p:cNvSpPr txBox="1"/>
            <p:nvPr/>
          </p:nvSpPr>
          <p:spPr>
            <a:xfrm>
              <a:off x="11162732" y="2079874"/>
              <a:ext cx="1035031" cy="369332"/>
            </a:xfrm>
            <a:prstGeom prst="rect">
              <a:avLst/>
            </a:prstGeom>
            <a:noFill/>
          </p:spPr>
          <p:txBody>
            <a:bodyPr wrap="square" rtlCol="0">
              <a:spAutoFit/>
            </a:bodyPr>
            <a:lstStyle/>
            <a:p>
              <a:pPr algn="ctr"/>
              <a:r>
                <a:rPr lang="es-ES" sz="1800" b="1" dirty="0"/>
                <a:t>Curva</a:t>
              </a:r>
              <a:endParaRPr lang="es-ES" b="1" dirty="0"/>
            </a:p>
          </p:txBody>
        </p:sp>
        <p:sp>
          <p:nvSpPr>
            <p:cNvPr id="10" name="CuadroTexto 9">
              <a:extLst>
                <a:ext uri="{FF2B5EF4-FFF2-40B4-BE49-F238E27FC236}">
                  <a16:creationId xmlns:a16="http://schemas.microsoft.com/office/drawing/2014/main" id="{BB642F1F-4C5D-8A6B-BFE4-AF6137EA6B6E}"/>
                </a:ext>
              </a:extLst>
            </p:cNvPr>
            <p:cNvSpPr txBox="1"/>
            <p:nvPr/>
          </p:nvSpPr>
          <p:spPr>
            <a:xfrm>
              <a:off x="14979335" y="1923443"/>
              <a:ext cx="1468657" cy="523220"/>
            </a:xfrm>
            <a:prstGeom prst="rect">
              <a:avLst/>
            </a:prstGeom>
            <a:noFill/>
          </p:spPr>
          <p:txBody>
            <a:bodyPr wrap="square" rtlCol="0">
              <a:spAutoFit/>
            </a:bodyPr>
            <a:lstStyle/>
            <a:p>
              <a:pPr algn="ctr"/>
              <a:r>
                <a:rPr lang="es-ES" b="1" dirty="0"/>
                <a:t>Control positivo </a:t>
              </a:r>
              <a:r>
                <a:rPr lang="es-ES" b="1" dirty="0" err="1"/>
                <a:t>ileon</a:t>
              </a:r>
              <a:endParaRPr lang="es-ES" sz="1100" b="1" dirty="0"/>
            </a:p>
          </p:txBody>
        </p:sp>
        <p:sp>
          <p:nvSpPr>
            <p:cNvPr id="15" name="Diagrama de flujo: proceso 14">
              <a:extLst>
                <a:ext uri="{FF2B5EF4-FFF2-40B4-BE49-F238E27FC236}">
                  <a16:creationId xmlns:a16="http://schemas.microsoft.com/office/drawing/2014/main" id="{F2809118-9C4F-5D37-70D9-0D285CD36A60}"/>
                </a:ext>
              </a:extLst>
            </p:cNvPr>
            <p:cNvSpPr/>
            <p:nvPr/>
          </p:nvSpPr>
          <p:spPr>
            <a:xfrm>
              <a:off x="15032082" y="5426470"/>
              <a:ext cx="1147356" cy="1332554"/>
            </a:xfrm>
            <a:prstGeom prst="flowChartProcess">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s-ES"/>
            </a:p>
          </p:txBody>
        </p:sp>
        <p:sp>
          <p:nvSpPr>
            <p:cNvPr id="16" name="Diagrama de flujo: proceso 15">
              <a:extLst>
                <a:ext uri="{FF2B5EF4-FFF2-40B4-BE49-F238E27FC236}">
                  <a16:creationId xmlns:a16="http://schemas.microsoft.com/office/drawing/2014/main" id="{3FFE8D0B-8469-A7B6-F778-3348E50FC587}"/>
                </a:ext>
              </a:extLst>
            </p:cNvPr>
            <p:cNvSpPr/>
            <p:nvPr/>
          </p:nvSpPr>
          <p:spPr>
            <a:xfrm>
              <a:off x="13784578" y="6311848"/>
              <a:ext cx="971720" cy="447176"/>
            </a:xfrm>
            <a:prstGeom prst="flowChartProcess">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s-ES"/>
            </a:p>
          </p:txBody>
        </p:sp>
        <p:sp>
          <p:nvSpPr>
            <p:cNvPr id="17" name="CuadroTexto 16">
              <a:extLst>
                <a:ext uri="{FF2B5EF4-FFF2-40B4-BE49-F238E27FC236}">
                  <a16:creationId xmlns:a16="http://schemas.microsoft.com/office/drawing/2014/main" id="{EC2F4B18-AE04-ECCF-592F-1411A15B3ED8}"/>
                </a:ext>
              </a:extLst>
            </p:cNvPr>
            <p:cNvSpPr txBox="1"/>
            <p:nvPr/>
          </p:nvSpPr>
          <p:spPr>
            <a:xfrm>
              <a:off x="13675977" y="6311848"/>
              <a:ext cx="1188922" cy="430887"/>
            </a:xfrm>
            <a:prstGeom prst="rect">
              <a:avLst/>
            </a:prstGeom>
            <a:noFill/>
          </p:spPr>
          <p:txBody>
            <a:bodyPr wrap="square" rtlCol="0">
              <a:spAutoFit/>
            </a:bodyPr>
            <a:lstStyle/>
            <a:p>
              <a:pPr algn="ctr"/>
              <a:r>
                <a:rPr lang="es-ES" sz="1100" b="1" dirty="0"/>
                <a:t>Control negativo PBS)</a:t>
              </a:r>
              <a:endParaRPr lang="es-ES" sz="1000" b="1" dirty="0"/>
            </a:p>
          </p:txBody>
        </p:sp>
      </p:grpSp>
      <p:sp>
        <p:nvSpPr>
          <p:cNvPr id="3" name="CuadroTexto 2">
            <a:extLst>
              <a:ext uri="{FF2B5EF4-FFF2-40B4-BE49-F238E27FC236}">
                <a16:creationId xmlns:a16="http://schemas.microsoft.com/office/drawing/2014/main" id="{72C3B05E-9A0E-EC57-C8F9-C46DDC19779B}"/>
              </a:ext>
            </a:extLst>
          </p:cNvPr>
          <p:cNvSpPr txBox="1"/>
          <p:nvPr/>
        </p:nvSpPr>
        <p:spPr>
          <a:xfrm>
            <a:off x="10050072" y="1747804"/>
            <a:ext cx="7001439" cy="707886"/>
          </a:xfrm>
          <a:prstGeom prst="rect">
            <a:avLst/>
          </a:prstGeom>
          <a:noFill/>
          <a:ln>
            <a:solidFill>
              <a:schemeClr val="tx1"/>
            </a:solidFill>
            <a:prstDash val="sysDash"/>
          </a:ln>
        </p:spPr>
        <p:txBody>
          <a:bodyPr wrap="square">
            <a:spAutoFit/>
          </a:bodyPr>
          <a:lstStyle/>
          <a:p>
            <a:pPr algn="ctr"/>
            <a:r>
              <a:rPr lang="es-ES" sz="2000" b="1" dirty="0"/>
              <a:t>Lectura a 450 nm</a:t>
            </a:r>
          </a:p>
          <a:p>
            <a:r>
              <a:rPr lang="es-ES" sz="2000" dirty="0"/>
              <a:t>La densidad óptica (DO)  se mide a 450 nm en el lector.</a:t>
            </a:r>
          </a:p>
        </p:txBody>
      </p:sp>
      <p:sp>
        <p:nvSpPr>
          <p:cNvPr id="8" name="CuadroTexto 7">
            <a:extLst>
              <a:ext uri="{FF2B5EF4-FFF2-40B4-BE49-F238E27FC236}">
                <a16:creationId xmlns:a16="http://schemas.microsoft.com/office/drawing/2014/main" id="{4A90236A-DA75-4BC5-97E9-7CC5F19D19D8}"/>
              </a:ext>
            </a:extLst>
          </p:cNvPr>
          <p:cNvSpPr txBox="1"/>
          <p:nvPr/>
        </p:nvSpPr>
        <p:spPr>
          <a:xfrm>
            <a:off x="10159719" y="4343281"/>
            <a:ext cx="6995503" cy="1323439"/>
          </a:xfrm>
          <a:prstGeom prst="rect">
            <a:avLst/>
          </a:prstGeom>
          <a:noFill/>
          <a:ln>
            <a:solidFill>
              <a:schemeClr val="tx1"/>
            </a:solidFill>
            <a:prstDash val="sysDash"/>
          </a:ln>
        </p:spPr>
        <p:txBody>
          <a:bodyPr wrap="square">
            <a:spAutoFit/>
          </a:bodyPr>
          <a:lstStyle/>
          <a:p>
            <a:pPr algn="ctr"/>
            <a:r>
              <a:rPr lang="es-ES" sz="1600" b="1" dirty="0"/>
              <a:t>Criterio de validez y control de </a:t>
            </a:r>
          </a:p>
          <a:p>
            <a:r>
              <a:rPr lang="es-ES" sz="1600" b="1" dirty="0"/>
              <a:t>Control positivo (colon 1:100 o íleon):</a:t>
            </a:r>
            <a:br>
              <a:rPr lang="es-ES" sz="1600" dirty="0"/>
            </a:br>
            <a:r>
              <a:rPr lang="es-ES" sz="1600" dirty="0"/>
              <a:t>Debe dar una absorbancia </a:t>
            </a:r>
            <a:r>
              <a:rPr lang="es-ES" sz="1600" b="1" dirty="0"/>
              <a:t>alta</a:t>
            </a:r>
            <a:r>
              <a:rPr lang="es-ES" sz="1600" dirty="0"/>
              <a:t> (≥ 0.2 y al menos el doble del blanco).</a:t>
            </a:r>
          </a:p>
          <a:p>
            <a:r>
              <a:rPr lang="es-ES" sz="1600" b="1" dirty="0"/>
              <a:t>Control negativo (PBS):</a:t>
            </a:r>
            <a:br>
              <a:rPr lang="es-ES" sz="1600" dirty="0"/>
            </a:br>
            <a:r>
              <a:rPr lang="es-ES" sz="1600" dirty="0"/>
              <a:t>La absorbancia </a:t>
            </a:r>
            <a:r>
              <a:rPr lang="es-ES" sz="1600" b="1" dirty="0"/>
              <a:t>muy baja</a:t>
            </a:r>
            <a:r>
              <a:rPr lang="es-ES" sz="1600" dirty="0"/>
              <a:t>, cercana al blanco.</a:t>
            </a:r>
          </a:p>
        </p:txBody>
      </p:sp>
      <p:sp>
        <p:nvSpPr>
          <p:cNvPr id="12" name="CuadroTexto 11">
            <a:extLst>
              <a:ext uri="{FF2B5EF4-FFF2-40B4-BE49-F238E27FC236}">
                <a16:creationId xmlns:a16="http://schemas.microsoft.com/office/drawing/2014/main" id="{7B07269B-BDA7-0F58-168F-6847B81E51BF}"/>
              </a:ext>
            </a:extLst>
          </p:cNvPr>
          <p:cNvSpPr txBox="1"/>
          <p:nvPr/>
        </p:nvSpPr>
        <p:spPr>
          <a:xfrm>
            <a:off x="10044136" y="6037769"/>
            <a:ext cx="6995503" cy="1015663"/>
          </a:xfrm>
          <a:prstGeom prst="rect">
            <a:avLst/>
          </a:prstGeom>
          <a:noFill/>
          <a:ln>
            <a:solidFill>
              <a:schemeClr val="tx1"/>
            </a:solidFill>
            <a:prstDash val="sysDash"/>
          </a:ln>
        </p:spPr>
        <p:txBody>
          <a:bodyPr wrap="square">
            <a:spAutoFit/>
          </a:bodyPr>
          <a:lstStyle/>
          <a:p>
            <a:pPr algn="ctr"/>
            <a:r>
              <a:rPr lang="es-ES" sz="2000" b="1" dirty="0"/>
              <a:t>Curva estándar → concentraciones de </a:t>
            </a:r>
            <a:r>
              <a:rPr lang="es-ES" sz="2000" b="1" dirty="0" err="1"/>
              <a:t>SIgA</a:t>
            </a:r>
            <a:r>
              <a:rPr lang="es-ES" sz="2000" b="1" dirty="0"/>
              <a:t> </a:t>
            </a:r>
          </a:p>
          <a:p>
            <a:r>
              <a:rPr lang="es-ES" sz="2000" dirty="0"/>
              <a:t>Las muestras se compararán con la curva estándar para obtener concentraciones de </a:t>
            </a:r>
            <a:r>
              <a:rPr lang="es-ES" sz="2000" b="1" dirty="0" err="1"/>
              <a:t>SIgA</a:t>
            </a:r>
            <a:r>
              <a:rPr lang="es-ES" sz="2000" dirty="0"/>
              <a:t>. </a:t>
            </a:r>
            <a:endParaRPr lang="es-ES" sz="2000" b="1" dirty="0"/>
          </a:p>
        </p:txBody>
      </p:sp>
      <p:pic>
        <p:nvPicPr>
          <p:cNvPr id="2" name="Google Shape;93;p1" descr="No hay ninguna descripción de la foto disponible.">
            <a:extLst>
              <a:ext uri="{FF2B5EF4-FFF2-40B4-BE49-F238E27FC236}">
                <a16:creationId xmlns:a16="http://schemas.microsoft.com/office/drawing/2014/main" id="{893C6868-FAC0-88F2-2A10-B96E100582B9}"/>
              </a:ext>
            </a:extLst>
          </p:cNvPr>
          <p:cNvPicPr preferRelativeResize="0"/>
          <p:nvPr/>
        </p:nvPicPr>
        <p:blipFill rotWithShape="1">
          <a:blip r:embed="rId4">
            <a:alphaModFix/>
          </a:blip>
          <a:srcRect l="26238" t="22935" r="26586" b="20031"/>
          <a:stretch>
            <a:fillRect/>
          </a:stretch>
        </p:blipFill>
        <p:spPr>
          <a:xfrm>
            <a:off x="15572314" y="9188181"/>
            <a:ext cx="1432577" cy="744819"/>
          </a:xfrm>
          <a:prstGeom prst="rect">
            <a:avLst/>
          </a:prstGeom>
          <a:noFill/>
          <a:ln>
            <a:noFill/>
          </a:ln>
        </p:spPr>
      </p:pic>
      <p:pic>
        <p:nvPicPr>
          <p:cNvPr id="5" name="Google Shape;94;p1" descr="Universidad El Bosque in Colombia : Reviews &amp; Rankings | Student ...">
            <a:extLst>
              <a:ext uri="{FF2B5EF4-FFF2-40B4-BE49-F238E27FC236}">
                <a16:creationId xmlns:a16="http://schemas.microsoft.com/office/drawing/2014/main" id="{DA948651-46B3-3E52-7744-7AA3A7627F64}"/>
              </a:ext>
            </a:extLst>
          </p:cNvPr>
          <p:cNvPicPr preferRelativeResize="0"/>
          <p:nvPr/>
        </p:nvPicPr>
        <p:blipFill rotWithShape="1">
          <a:blip r:embed="rId5">
            <a:alphaModFix/>
          </a:blip>
          <a:srcRect l="14020" t="34765" r="17993" b="25071"/>
          <a:stretch>
            <a:fillRect/>
          </a:stretch>
        </p:blipFill>
        <p:spPr>
          <a:xfrm>
            <a:off x="13472494" y="9291254"/>
            <a:ext cx="1978341" cy="641746"/>
          </a:xfrm>
          <a:prstGeom prst="rect">
            <a:avLst/>
          </a:prstGeom>
          <a:noFill/>
          <a:ln>
            <a:noFill/>
          </a:ln>
        </p:spPr>
      </p:pic>
      <p:sp>
        <p:nvSpPr>
          <p:cNvPr id="21" name="CuadroTexto 20">
            <a:extLst>
              <a:ext uri="{FF2B5EF4-FFF2-40B4-BE49-F238E27FC236}">
                <a16:creationId xmlns:a16="http://schemas.microsoft.com/office/drawing/2014/main" id="{F12159FA-3B8C-BEC6-CCBD-CCDE1D546F52}"/>
              </a:ext>
            </a:extLst>
          </p:cNvPr>
          <p:cNvSpPr txBox="1"/>
          <p:nvPr/>
        </p:nvSpPr>
        <p:spPr>
          <a:xfrm>
            <a:off x="10056010" y="2932920"/>
            <a:ext cx="6995503" cy="1200329"/>
          </a:xfrm>
          <a:prstGeom prst="rect">
            <a:avLst/>
          </a:prstGeom>
          <a:noFill/>
          <a:ln>
            <a:solidFill>
              <a:schemeClr val="tx1"/>
            </a:solidFill>
            <a:prstDash val="sysDash"/>
          </a:ln>
        </p:spPr>
        <p:txBody>
          <a:bodyPr wrap="square">
            <a:spAutoFit/>
          </a:bodyPr>
          <a:lstStyle/>
          <a:p>
            <a:pPr algn="ctr"/>
            <a:r>
              <a:rPr lang="es-ES" sz="1800" b="1" dirty="0"/>
              <a:t>Normalizar contra el blanco</a:t>
            </a:r>
          </a:p>
          <a:p>
            <a:r>
              <a:rPr lang="es-ES" sz="1800" dirty="0"/>
              <a:t>El blanco es </a:t>
            </a:r>
            <a:r>
              <a:rPr lang="es-ES" sz="1800" dirty="0">
                <a:solidFill>
                  <a:sysClr val="windowText" lastClr="000000"/>
                </a:solidFill>
              </a:rPr>
              <a:t>el</a:t>
            </a:r>
            <a:r>
              <a:rPr lang="es-ES" sz="1800" dirty="0"/>
              <a:t> pozo sin muestra.</a:t>
            </a:r>
          </a:p>
          <a:p>
            <a:r>
              <a:rPr lang="es-ES" sz="1800" dirty="0"/>
              <a:t>Normalizar = restar a cada pozo su DO</a:t>
            </a:r>
            <a:endParaRPr lang="es-ES" sz="1800" b="1" dirty="0"/>
          </a:p>
          <a:p>
            <a:pPr algn="ctr"/>
            <a:r>
              <a:rPr lang="es-ES" sz="1800" b="1" dirty="0" err="1"/>
              <a:t>DO_corrigida</a:t>
            </a:r>
            <a:r>
              <a:rPr lang="es-ES" sz="1800" b="1" dirty="0"/>
              <a:t> = </a:t>
            </a:r>
            <a:r>
              <a:rPr lang="es-ES" sz="1800" b="1" dirty="0" err="1"/>
              <a:t>DO_muestra</a:t>
            </a:r>
            <a:r>
              <a:rPr lang="es-ES" sz="1800" b="1" dirty="0"/>
              <a:t> − </a:t>
            </a:r>
            <a:r>
              <a:rPr lang="es-ES" sz="1800" b="1" dirty="0" err="1"/>
              <a:t>DO_blanco</a:t>
            </a:r>
            <a:endParaRPr lang="es-ES" sz="1800" b="1" dirty="0"/>
          </a:p>
        </p:txBody>
      </p:sp>
      <p:sp>
        <p:nvSpPr>
          <p:cNvPr id="23" name="Rectangle 2">
            <a:extLst>
              <a:ext uri="{FF2B5EF4-FFF2-40B4-BE49-F238E27FC236}">
                <a16:creationId xmlns:a16="http://schemas.microsoft.com/office/drawing/2014/main" id="{A11D8089-DD8A-B05B-8DBC-4564E7A496F1}"/>
              </a:ext>
            </a:extLst>
          </p:cNvPr>
          <p:cNvSpPr>
            <a:spLocks noChangeArrowheads="1"/>
          </p:cNvSpPr>
          <p:nvPr/>
        </p:nvSpPr>
        <p:spPr bwMode="auto">
          <a:xfrm>
            <a:off x="10044135" y="7526011"/>
            <a:ext cx="6995503" cy="64633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s-ES" altLang="es-ES" sz="1800" b="1" i="0" u="none" strike="noStrike" cap="none" normalizeH="0" baseline="0" dirty="0">
                <a:ln>
                  <a:noFill/>
                </a:ln>
                <a:solidFill>
                  <a:schemeClr val="tx1"/>
                </a:solidFill>
                <a:effectLst/>
                <a:latin typeface="Arial" panose="020B0604020202020204" pitchFamily="34" charset="0"/>
              </a:rPr>
              <a:t>Control positivo (</a:t>
            </a:r>
            <a:r>
              <a:rPr kumimoji="0" lang="es-ES" altLang="es-ES" sz="1800" b="1" i="0" u="none" strike="noStrike" cap="none" normalizeH="0" baseline="0" dirty="0" err="1">
                <a:ln>
                  <a:noFill/>
                </a:ln>
                <a:solidFill>
                  <a:schemeClr val="tx1"/>
                </a:solidFill>
                <a:effectLst/>
                <a:latin typeface="Arial" panose="020B0604020202020204" pitchFamily="34" charset="0"/>
              </a:rPr>
              <a:t>ileon</a:t>
            </a:r>
            <a:r>
              <a:rPr kumimoji="0" lang="es-ES" altLang="es-ES" sz="1800" b="1" i="0" u="none" strike="noStrike" cap="none" normalizeH="0" baseline="0" dirty="0">
                <a:ln>
                  <a:noFill/>
                </a:ln>
                <a:solidFill>
                  <a:schemeClr val="tx1"/>
                </a:solidFill>
                <a:effectLst/>
                <a:latin typeface="Arial" panose="020B0604020202020204" pitchFamily="34" charset="0"/>
              </a:rPr>
              <a:t> 1:100):</a:t>
            </a:r>
            <a:r>
              <a:rPr kumimoji="0" lang="es-ES" altLang="es-ES" sz="1800" b="0" i="0" u="none" strike="noStrike" cap="none" normalizeH="0" baseline="0" dirty="0">
                <a:ln>
                  <a:noFill/>
                </a:ln>
                <a:solidFill>
                  <a:schemeClr val="tx1"/>
                </a:solidFill>
                <a:effectLst/>
                <a:latin typeface="Arial" panose="020B0604020202020204" pitchFamily="34" charset="0"/>
              </a:rPr>
              <a:t> asegura que el sistema funciona </a:t>
            </a:r>
          </a:p>
          <a:p>
            <a:pPr marL="0" marR="0" lvl="0" indent="0" algn="l" defTabSz="914400" rtl="0" eaLnBrk="0" fontAlgn="base" latinLnBrk="0" hangingPunct="0">
              <a:lnSpc>
                <a:spcPct val="100000"/>
              </a:lnSpc>
              <a:spcBef>
                <a:spcPct val="0"/>
              </a:spcBef>
              <a:spcAft>
                <a:spcPct val="0"/>
              </a:spcAft>
              <a:buClrTx/>
              <a:buSzTx/>
              <a:tabLst/>
            </a:pPr>
            <a:r>
              <a:rPr kumimoji="0" lang="es-ES" altLang="es-ES" sz="1800" b="1" i="0" u="none" strike="noStrike" cap="none" normalizeH="0" baseline="0" dirty="0">
                <a:ln>
                  <a:noFill/>
                </a:ln>
                <a:solidFill>
                  <a:schemeClr val="tx1"/>
                </a:solidFill>
                <a:effectLst/>
                <a:latin typeface="Arial" panose="020B0604020202020204" pitchFamily="34" charset="0"/>
              </a:rPr>
              <a:t>Control negativo (PBS): </a:t>
            </a:r>
            <a:r>
              <a:rPr kumimoji="0" lang="es-ES" altLang="es-ES" sz="1800" b="0" i="0" u="none" strike="noStrike" cap="none" normalizeH="0" baseline="0" dirty="0">
                <a:ln>
                  <a:noFill/>
                </a:ln>
                <a:solidFill>
                  <a:schemeClr val="tx1"/>
                </a:solidFill>
                <a:effectLst/>
                <a:latin typeface="Arial" panose="020B0604020202020204" pitchFamily="34" charset="0"/>
              </a:rPr>
              <a:t> asegura que no hay color inespecífico</a:t>
            </a:r>
          </a:p>
        </p:txBody>
      </p:sp>
      <p:sp>
        <p:nvSpPr>
          <p:cNvPr id="25" name="CuadroTexto 24">
            <a:extLst>
              <a:ext uri="{FF2B5EF4-FFF2-40B4-BE49-F238E27FC236}">
                <a16:creationId xmlns:a16="http://schemas.microsoft.com/office/drawing/2014/main" id="{DB105F04-2697-71F3-E250-4268DDEC5B9B}"/>
              </a:ext>
            </a:extLst>
          </p:cNvPr>
          <p:cNvSpPr txBox="1"/>
          <p:nvPr/>
        </p:nvSpPr>
        <p:spPr>
          <a:xfrm>
            <a:off x="3341630" y="7136961"/>
            <a:ext cx="1673715" cy="307777"/>
          </a:xfrm>
          <a:prstGeom prst="rect">
            <a:avLst/>
          </a:prstGeom>
          <a:noFill/>
        </p:spPr>
        <p:txBody>
          <a:bodyPr wrap="square">
            <a:spAutoFit/>
          </a:bodyPr>
          <a:lstStyle/>
          <a:p>
            <a:pPr algn="ctr"/>
            <a:r>
              <a:rPr lang="es-ES" sz="1400" b="1" dirty="0"/>
              <a:t>Curva estándar </a:t>
            </a:r>
            <a:endParaRPr lang="es-ES" dirty="0"/>
          </a:p>
        </p:txBody>
      </p:sp>
    </p:spTree>
    <p:extLst>
      <p:ext uri="{BB962C8B-B14F-4D97-AF65-F5344CB8AC3E}">
        <p14:creationId xmlns:p14="http://schemas.microsoft.com/office/powerpoint/2010/main" val="27336885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2" name="CuadroTexto 1">
            <a:extLst>
              <a:ext uri="{FF2B5EF4-FFF2-40B4-BE49-F238E27FC236}">
                <a16:creationId xmlns:a16="http://schemas.microsoft.com/office/drawing/2014/main" id="{2C125135-2BE5-FEEB-5766-8B18DC040B75}"/>
              </a:ext>
            </a:extLst>
          </p:cNvPr>
          <p:cNvSpPr txBox="1"/>
          <p:nvPr/>
        </p:nvSpPr>
        <p:spPr>
          <a:xfrm>
            <a:off x="1773381" y="169519"/>
            <a:ext cx="14777259" cy="707886"/>
          </a:xfrm>
          <a:prstGeom prst="rect">
            <a:avLst/>
          </a:prstGeom>
          <a:noFill/>
          <a:ln>
            <a:noFill/>
          </a:ln>
        </p:spPr>
        <p:style>
          <a:lnRef idx="1">
            <a:schemeClr val="accent3"/>
          </a:lnRef>
          <a:fillRef idx="2">
            <a:schemeClr val="accent3"/>
          </a:fillRef>
          <a:effectRef idx="1">
            <a:schemeClr val="accent3"/>
          </a:effectRef>
          <a:fontRef idx="minor">
            <a:schemeClr val="dk1"/>
          </a:fontRef>
        </p:style>
        <p:txBody>
          <a:bodyPr wrap="square">
            <a:spAutoFit/>
          </a:bodyPr>
          <a:lstStyle/>
          <a:p>
            <a:pPr algn="ctr"/>
            <a:r>
              <a:rPr lang="en-US" sz="2000" b="1" dirty="0">
                <a:solidFill>
                  <a:schemeClr val="tx1">
                    <a:lumMod val="75000"/>
                    <a:lumOff val="25000"/>
                  </a:schemeClr>
                </a:solidFill>
                <a:latin typeface="Source Sans Pro" panose="020B0503030403020204" pitchFamily="34" charset="0"/>
                <a:ea typeface="Source Sans Pro" panose="020B0503030403020204" pitchFamily="34" charset="0"/>
                <a:cs typeface="Calibri"/>
              </a:rPr>
              <a:t>Metodologia del objetivo 3. </a:t>
            </a:r>
            <a:r>
              <a:rPr lang="en-US" sz="2000" b="1" dirty="0" err="1">
                <a:solidFill>
                  <a:schemeClr val="tx1">
                    <a:lumMod val="75000"/>
                    <a:lumOff val="25000"/>
                  </a:schemeClr>
                </a:solidFill>
                <a:latin typeface="Source Sans Pro" panose="020B0503030403020204" pitchFamily="34" charset="0"/>
                <a:ea typeface="Source Sans Pro" panose="020B0503030403020204" pitchFamily="34" charset="0"/>
                <a:cs typeface="Calibri"/>
              </a:rPr>
              <a:t>Asociar</a:t>
            </a:r>
            <a:r>
              <a:rPr lang="en-US" sz="2000" b="1" dirty="0">
                <a:solidFill>
                  <a:schemeClr val="tx1">
                    <a:lumMod val="75000"/>
                    <a:lumOff val="25000"/>
                  </a:schemeClr>
                </a:solidFill>
                <a:latin typeface="Source Sans Pro" panose="020B0503030403020204" pitchFamily="34" charset="0"/>
                <a:ea typeface="Source Sans Pro" panose="020B0503030403020204" pitchFamily="34" charset="0"/>
                <a:cs typeface="Calibri"/>
              </a:rPr>
              <a:t> </a:t>
            </a:r>
            <a:r>
              <a:rPr lang="en-US" sz="2000" b="1" dirty="0" err="1">
                <a:solidFill>
                  <a:schemeClr val="tx1">
                    <a:lumMod val="75000"/>
                    <a:lumOff val="25000"/>
                  </a:schemeClr>
                </a:solidFill>
                <a:latin typeface="Source Sans Pro" panose="020B0503030403020204" pitchFamily="34" charset="0"/>
                <a:ea typeface="Source Sans Pro" panose="020B0503030403020204" pitchFamily="34" charset="0"/>
                <a:cs typeface="Calibri"/>
              </a:rPr>
              <a:t>los</a:t>
            </a:r>
            <a:r>
              <a:rPr lang="en-US" sz="2000" b="1" dirty="0">
                <a:solidFill>
                  <a:schemeClr val="tx1">
                    <a:lumMod val="75000"/>
                    <a:lumOff val="25000"/>
                  </a:schemeClr>
                </a:solidFill>
                <a:latin typeface="Source Sans Pro" panose="020B0503030403020204" pitchFamily="34" charset="0"/>
                <a:ea typeface="Source Sans Pro" panose="020B0503030403020204" pitchFamily="34" charset="0"/>
                <a:cs typeface="Calibri"/>
              </a:rPr>
              <a:t> </a:t>
            </a:r>
            <a:r>
              <a:rPr lang="en-US" sz="2000" b="1" dirty="0" err="1">
                <a:solidFill>
                  <a:schemeClr val="tx1">
                    <a:lumMod val="75000"/>
                    <a:lumOff val="25000"/>
                  </a:schemeClr>
                </a:solidFill>
                <a:latin typeface="Source Sans Pro" panose="020B0503030403020204" pitchFamily="34" charset="0"/>
                <a:ea typeface="Source Sans Pro" panose="020B0503030403020204" pitchFamily="34" charset="0"/>
                <a:cs typeface="Calibri"/>
              </a:rPr>
              <a:t>niveles</a:t>
            </a:r>
            <a:r>
              <a:rPr lang="en-US" sz="2000" b="1" dirty="0">
                <a:solidFill>
                  <a:schemeClr val="tx1">
                    <a:lumMod val="75000"/>
                    <a:lumOff val="25000"/>
                  </a:schemeClr>
                </a:solidFill>
                <a:latin typeface="Source Sans Pro" panose="020B0503030403020204" pitchFamily="34" charset="0"/>
                <a:ea typeface="Source Sans Pro" panose="020B0503030403020204" pitchFamily="34" charset="0"/>
                <a:cs typeface="Calibri"/>
              </a:rPr>
              <a:t> de </a:t>
            </a:r>
            <a:r>
              <a:rPr lang="en-US" sz="2000" b="1" dirty="0" err="1">
                <a:solidFill>
                  <a:schemeClr val="tx1">
                    <a:lumMod val="75000"/>
                    <a:lumOff val="25000"/>
                  </a:schemeClr>
                </a:solidFill>
                <a:latin typeface="Source Sans Pro" panose="020B0503030403020204" pitchFamily="34" charset="0"/>
                <a:ea typeface="Source Sans Pro" panose="020B0503030403020204" pitchFamily="34" charset="0"/>
                <a:cs typeface="Calibri"/>
              </a:rPr>
              <a:t>SIgA</a:t>
            </a:r>
            <a:r>
              <a:rPr lang="en-US" sz="2000" b="1" dirty="0">
                <a:solidFill>
                  <a:schemeClr val="tx1">
                    <a:lumMod val="75000"/>
                    <a:lumOff val="25000"/>
                  </a:schemeClr>
                </a:solidFill>
                <a:latin typeface="Source Sans Pro" panose="020B0503030403020204" pitchFamily="34" charset="0"/>
                <a:ea typeface="Source Sans Pro" panose="020B0503030403020204" pitchFamily="34" charset="0"/>
                <a:cs typeface="Calibri"/>
              </a:rPr>
              <a:t> sérica y la </a:t>
            </a:r>
            <a:r>
              <a:rPr lang="en-US" sz="2000" b="1" dirty="0" err="1">
                <a:solidFill>
                  <a:schemeClr val="tx1">
                    <a:lumMod val="75000"/>
                    <a:lumOff val="25000"/>
                  </a:schemeClr>
                </a:solidFill>
                <a:latin typeface="Source Sans Pro" panose="020B0503030403020204" pitchFamily="34" charset="0"/>
                <a:ea typeface="Source Sans Pro" panose="020B0503030403020204" pitchFamily="34" charset="0"/>
                <a:cs typeface="Calibri"/>
              </a:rPr>
              <a:t>firma</a:t>
            </a:r>
            <a:r>
              <a:rPr lang="en-US" sz="2000" b="1" dirty="0">
                <a:solidFill>
                  <a:schemeClr val="tx1">
                    <a:lumMod val="75000"/>
                    <a:lumOff val="25000"/>
                  </a:schemeClr>
                </a:solidFill>
                <a:latin typeface="Source Sans Pro" panose="020B0503030403020204" pitchFamily="34" charset="0"/>
                <a:ea typeface="Source Sans Pro" panose="020B0503030403020204" pitchFamily="34" charset="0"/>
                <a:cs typeface="Calibri"/>
              </a:rPr>
              <a:t> de </a:t>
            </a:r>
            <a:r>
              <a:rPr lang="en-US" sz="2000" b="1" dirty="0" err="1">
                <a:solidFill>
                  <a:schemeClr val="tx1">
                    <a:lumMod val="75000"/>
                    <a:lumOff val="25000"/>
                  </a:schemeClr>
                </a:solidFill>
                <a:latin typeface="Source Sans Pro" panose="020B0503030403020204" pitchFamily="34" charset="0"/>
                <a:ea typeface="Source Sans Pro" panose="020B0503030403020204" pitchFamily="34" charset="0"/>
                <a:cs typeface="Calibri"/>
              </a:rPr>
              <a:t>metilación</a:t>
            </a:r>
            <a:r>
              <a:rPr lang="en-US" sz="2000" b="1" dirty="0">
                <a:solidFill>
                  <a:schemeClr val="tx1">
                    <a:lumMod val="75000"/>
                    <a:lumOff val="25000"/>
                  </a:schemeClr>
                </a:solidFill>
                <a:latin typeface="Source Sans Pro" panose="020B0503030403020204" pitchFamily="34" charset="0"/>
                <a:ea typeface="Source Sans Pro" panose="020B0503030403020204" pitchFamily="34" charset="0"/>
                <a:cs typeface="Calibri"/>
              </a:rPr>
              <a:t> </a:t>
            </a:r>
            <a:r>
              <a:rPr lang="en-US" sz="2000" b="1" dirty="0" err="1">
                <a:solidFill>
                  <a:schemeClr val="tx1">
                    <a:lumMod val="75000"/>
                    <a:lumOff val="25000"/>
                  </a:schemeClr>
                </a:solidFill>
                <a:latin typeface="Source Sans Pro" panose="020B0503030403020204" pitchFamily="34" charset="0"/>
                <a:ea typeface="Source Sans Pro" panose="020B0503030403020204" pitchFamily="34" charset="0"/>
                <a:cs typeface="Calibri"/>
              </a:rPr>
              <a:t>identificada</a:t>
            </a:r>
            <a:r>
              <a:rPr lang="en-US" sz="2000" b="1" dirty="0">
                <a:solidFill>
                  <a:schemeClr val="tx1">
                    <a:lumMod val="75000"/>
                    <a:lumOff val="25000"/>
                  </a:schemeClr>
                </a:solidFill>
                <a:latin typeface="Source Sans Pro" panose="020B0503030403020204" pitchFamily="34" charset="0"/>
                <a:ea typeface="Source Sans Pro" panose="020B0503030403020204" pitchFamily="34" charset="0"/>
                <a:cs typeface="Calibri"/>
              </a:rPr>
              <a:t> en biopsias </a:t>
            </a:r>
            <a:r>
              <a:rPr lang="en-US" sz="2000" b="1" dirty="0" err="1">
                <a:solidFill>
                  <a:schemeClr val="tx1">
                    <a:lumMod val="75000"/>
                    <a:lumOff val="25000"/>
                  </a:schemeClr>
                </a:solidFill>
                <a:latin typeface="Source Sans Pro" panose="020B0503030403020204" pitchFamily="34" charset="0"/>
                <a:ea typeface="Source Sans Pro" panose="020B0503030403020204" pitchFamily="34" charset="0"/>
                <a:cs typeface="Calibri"/>
              </a:rPr>
              <a:t>líquidas</a:t>
            </a:r>
            <a:r>
              <a:rPr lang="en-US" sz="2000" b="1" dirty="0">
                <a:solidFill>
                  <a:schemeClr val="tx1">
                    <a:lumMod val="75000"/>
                    <a:lumOff val="25000"/>
                  </a:schemeClr>
                </a:solidFill>
                <a:latin typeface="Source Sans Pro" panose="020B0503030403020204" pitchFamily="34" charset="0"/>
                <a:ea typeface="Source Sans Pro" panose="020B0503030403020204" pitchFamily="34" charset="0"/>
                <a:cs typeface="Calibri"/>
              </a:rPr>
              <a:t> y de tejido </a:t>
            </a:r>
            <a:r>
              <a:rPr lang="en-US" sz="2000" b="1" dirty="0" err="1">
                <a:solidFill>
                  <a:schemeClr val="tx1">
                    <a:lumMod val="75000"/>
                    <a:lumOff val="25000"/>
                  </a:schemeClr>
                </a:solidFill>
                <a:latin typeface="Source Sans Pro" panose="020B0503030403020204" pitchFamily="34" charset="0"/>
                <a:ea typeface="Source Sans Pro" panose="020B0503030403020204" pitchFamily="34" charset="0"/>
                <a:cs typeface="Calibri"/>
              </a:rPr>
              <a:t>colónico</a:t>
            </a:r>
            <a:r>
              <a:rPr lang="en-US" sz="2000" b="1" dirty="0">
                <a:solidFill>
                  <a:schemeClr val="tx1">
                    <a:lumMod val="75000"/>
                    <a:lumOff val="25000"/>
                  </a:schemeClr>
                </a:solidFill>
                <a:latin typeface="Source Sans Pro" panose="020B0503030403020204" pitchFamily="34" charset="0"/>
                <a:ea typeface="Source Sans Pro" panose="020B0503030403020204" pitchFamily="34" charset="0"/>
                <a:cs typeface="Calibri"/>
              </a:rPr>
              <a:t> de pacientes con CU que </a:t>
            </a:r>
            <a:r>
              <a:rPr lang="en-US" sz="2000" b="1" dirty="0" err="1">
                <a:solidFill>
                  <a:schemeClr val="tx1">
                    <a:lumMod val="75000"/>
                    <a:lumOff val="25000"/>
                  </a:schemeClr>
                </a:solidFill>
                <a:latin typeface="Source Sans Pro" panose="020B0503030403020204" pitchFamily="34" charset="0"/>
                <a:ea typeface="Source Sans Pro" panose="020B0503030403020204" pitchFamily="34" charset="0"/>
                <a:cs typeface="Calibri"/>
              </a:rPr>
              <a:t>presentan</a:t>
            </a:r>
            <a:r>
              <a:rPr lang="en-US" sz="2000" b="1" dirty="0">
                <a:solidFill>
                  <a:schemeClr val="tx1">
                    <a:lumMod val="75000"/>
                    <a:lumOff val="25000"/>
                  </a:schemeClr>
                </a:solidFill>
                <a:latin typeface="Source Sans Pro" panose="020B0503030403020204" pitchFamily="34" charset="0"/>
                <a:ea typeface="Source Sans Pro" panose="020B0503030403020204" pitchFamily="34" charset="0"/>
                <a:cs typeface="Calibri"/>
              </a:rPr>
              <a:t> </a:t>
            </a:r>
            <a:r>
              <a:rPr lang="en-US" sz="2000" b="1" dirty="0" err="1">
                <a:solidFill>
                  <a:schemeClr val="tx1">
                    <a:lumMod val="75000"/>
                    <a:lumOff val="25000"/>
                  </a:schemeClr>
                </a:solidFill>
                <a:latin typeface="Source Sans Pro" panose="020B0503030403020204" pitchFamily="34" charset="0"/>
                <a:ea typeface="Source Sans Pro" panose="020B0503030403020204" pitchFamily="34" charset="0"/>
                <a:cs typeface="Calibri"/>
              </a:rPr>
              <a:t>síntomas</a:t>
            </a:r>
            <a:r>
              <a:rPr lang="en-US" sz="2000" b="1" dirty="0">
                <a:solidFill>
                  <a:schemeClr val="tx1">
                    <a:lumMod val="75000"/>
                    <a:lumOff val="25000"/>
                  </a:schemeClr>
                </a:solidFill>
                <a:latin typeface="Source Sans Pro" panose="020B0503030403020204" pitchFamily="34" charset="0"/>
                <a:ea typeface="Source Sans Pro" panose="020B0503030403020204" pitchFamily="34" charset="0"/>
                <a:cs typeface="Calibri"/>
              </a:rPr>
              <a:t> de alto </a:t>
            </a:r>
            <a:r>
              <a:rPr lang="en-US" sz="2000" b="1" dirty="0" err="1">
                <a:solidFill>
                  <a:schemeClr val="tx1">
                    <a:lumMod val="75000"/>
                    <a:lumOff val="25000"/>
                  </a:schemeClr>
                </a:solidFill>
                <a:latin typeface="Source Sans Pro" panose="020B0503030403020204" pitchFamily="34" charset="0"/>
                <a:ea typeface="Source Sans Pro" panose="020B0503030403020204" pitchFamily="34" charset="0"/>
                <a:cs typeface="Calibri"/>
              </a:rPr>
              <a:t>riesgo</a:t>
            </a:r>
            <a:r>
              <a:rPr lang="en-US" sz="2000" b="1" dirty="0">
                <a:solidFill>
                  <a:schemeClr val="tx1">
                    <a:lumMod val="75000"/>
                    <a:lumOff val="25000"/>
                  </a:schemeClr>
                </a:solidFill>
                <a:latin typeface="Source Sans Pro" panose="020B0503030403020204" pitchFamily="34" charset="0"/>
                <a:ea typeface="Source Sans Pro" panose="020B0503030403020204" pitchFamily="34" charset="0"/>
                <a:cs typeface="Calibri"/>
              </a:rPr>
              <a:t> de </a:t>
            </a:r>
            <a:r>
              <a:rPr lang="en-US" sz="2000" b="1" dirty="0" err="1">
                <a:solidFill>
                  <a:schemeClr val="tx1">
                    <a:lumMod val="75000"/>
                    <a:lumOff val="25000"/>
                  </a:schemeClr>
                </a:solidFill>
                <a:latin typeface="Source Sans Pro" panose="020B0503030403020204" pitchFamily="34" charset="0"/>
                <a:ea typeface="Source Sans Pro" panose="020B0503030403020204" pitchFamily="34" charset="0"/>
                <a:cs typeface="Calibri"/>
              </a:rPr>
              <a:t>cáncer</a:t>
            </a:r>
            <a:r>
              <a:rPr lang="en-US" sz="2000" b="1" dirty="0">
                <a:solidFill>
                  <a:schemeClr val="tx1">
                    <a:lumMod val="75000"/>
                    <a:lumOff val="25000"/>
                  </a:schemeClr>
                </a:solidFill>
                <a:latin typeface="Source Sans Pro" panose="020B0503030403020204" pitchFamily="34" charset="0"/>
                <a:ea typeface="Source Sans Pro" panose="020B0503030403020204" pitchFamily="34" charset="0"/>
                <a:cs typeface="Calibri"/>
              </a:rPr>
              <a:t> </a:t>
            </a:r>
            <a:r>
              <a:rPr lang="en-US" sz="2000" b="1" dirty="0" err="1">
                <a:solidFill>
                  <a:schemeClr val="tx1">
                    <a:lumMod val="75000"/>
                    <a:lumOff val="25000"/>
                  </a:schemeClr>
                </a:solidFill>
                <a:latin typeface="Source Sans Pro" panose="020B0503030403020204" pitchFamily="34" charset="0"/>
                <a:ea typeface="Source Sans Pro" panose="020B0503030403020204" pitchFamily="34" charset="0"/>
                <a:cs typeface="Calibri"/>
              </a:rPr>
              <a:t>colorrectal</a:t>
            </a:r>
            <a:endParaRPr lang="es-ES" sz="2000" b="1" dirty="0">
              <a:solidFill>
                <a:schemeClr val="tx1">
                  <a:lumMod val="75000"/>
                  <a:lumOff val="25000"/>
                </a:schemeClr>
              </a:solidFill>
              <a:latin typeface="Source Sans Pro" panose="020B0503030403020204" pitchFamily="34" charset="0"/>
              <a:ea typeface="Source Sans Pro" panose="020B0503030403020204" pitchFamily="34" charset="0"/>
              <a:cs typeface="Calibri"/>
            </a:endParaRPr>
          </a:p>
        </p:txBody>
      </p:sp>
      <p:sp>
        <p:nvSpPr>
          <p:cNvPr id="4" name="CuadroTexto 3">
            <a:extLst>
              <a:ext uri="{FF2B5EF4-FFF2-40B4-BE49-F238E27FC236}">
                <a16:creationId xmlns:a16="http://schemas.microsoft.com/office/drawing/2014/main" id="{38658AD3-CA50-9527-258B-B3B4C70FF37A}"/>
              </a:ext>
            </a:extLst>
          </p:cNvPr>
          <p:cNvSpPr txBox="1"/>
          <p:nvPr/>
        </p:nvSpPr>
        <p:spPr>
          <a:xfrm>
            <a:off x="5746954" y="2696675"/>
            <a:ext cx="5654041" cy="6001643"/>
          </a:xfrm>
          <a:prstGeom prst="rect">
            <a:avLst/>
          </a:prstGeom>
          <a:noFill/>
          <a:ln>
            <a:solidFill>
              <a:schemeClr val="tx1"/>
            </a:solidFill>
            <a:prstDash val="sysDash"/>
          </a:ln>
        </p:spPr>
        <p:txBody>
          <a:bodyPr wrap="square">
            <a:spAutoFit/>
          </a:bodyPr>
          <a:lstStyle/>
          <a:p>
            <a:r>
              <a:rPr lang="es-ES" sz="2400" b="1" dirty="0">
                <a:latin typeface="Source Sans Pro" panose="020B0503030403020204" pitchFamily="34" charset="0"/>
                <a:ea typeface="Source Sans Pro" panose="020B0503030403020204" pitchFamily="34" charset="0"/>
              </a:rPr>
              <a:t>Registro y software</a:t>
            </a:r>
            <a:endParaRPr lang="es-ES" sz="2400" dirty="0">
              <a:latin typeface="Source Sans Pro" panose="020B0503030403020204" pitchFamily="34" charset="0"/>
              <a:ea typeface="Source Sans Pro" panose="020B0503030403020204" pitchFamily="34" charset="0"/>
            </a:endParaRPr>
          </a:p>
          <a:p>
            <a:pPr algn="ctr"/>
            <a:r>
              <a:rPr lang="es-ES" sz="2400" dirty="0">
                <a:latin typeface="Source Sans Pro" panose="020B0503030403020204" pitchFamily="34" charset="0"/>
                <a:ea typeface="Source Sans Pro" panose="020B0503030403020204" pitchFamily="34" charset="0"/>
              </a:rPr>
              <a:t>Los resultados se registraron en Excel y se analizaron en SPSS v26 (Windows).</a:t>
            </a:r>
          </a:p>
          <a:p>
            <a:r>
              <a:rPr lang="es-ES" sz="2400" b="1" dirty="0">
                <a:latin typeface="Source Sans Pro" panose="020B0503030403020204" pitchFamily="34" charset="0"/>
                <a:ea typeface="Source Sans Pro" panose="020B0503030403020204" pitchFamily="34" charset="0"/>
              </a:rPr>
              <a:t>Análisis descriptivo</a:t>
            </a:r>
            <a:endParaRPr lang="es-ES" sz="2400" dirty="0">
              <a:latin typeface="Source Sans Pro" panose="020B0503030403020204" pitchFamily="34" charset="0"/>
              <a:ea typeface="Source Sans Pro" panose="020B0503030403020204" pitchFamily="34" charset="0"/>
            </a:endParaRPr>
          </a:p>
          <a:p>
            <a:pPr algn="ctr"/>
            <a:r>
              <a:rPr lang="es-ES" sz="2400" dirty="0">
                <a:latin typeface="Source Sans Pro" panose="020B0503030403020204" pitchFamily="34" charset="0"/>
                <a:ea typeface="Source Sans Pro" panose="020B0503030403020204" pitchFamily="34" charset="0"/>
              </a:rPr>
              <a:t>Variables continuas: medidas de tendencia central.</a:t>
            </a:r>
          </a:p>
          <a:p>
            <a:pPr algn="ctr"/>
            <a:r>
              <a:rPr lang="es-ES" sz="2400" dirty="0">
                <a:latin typeface="Source Sans Pro" panose="020B0503030403020204" pitchFamily="34" charset="0"/>
                <a:ea typeface="Source Sans Pro" panose="020B0503030403020204" pitchFamily="34" charset="0"/>
              </a:rPr>
              <a:t>Variables categóricas: análisis de frecuencias.</a:t>
            </a:r>
          </a:p>
          <a:p>
            <a:r>
              <a:rPr lang="es-ES" sz="2400" b="1" dirty="0">
                <a:latin typeface="Source Sans Pro" panose="020B0503030403020204" pitchFamily="34" charset="0"/>
                <a:ea typeface="Source Sans Pro" panose="020B0503030403020204" pitchFamily="34" charset="0"/>
              </a:rPr>
              <a:t>Análisis inferencial</a:t>
            </a:r>
            <a:endParaRPr lang="es-ES" sz="2400" dirty="0">
              <a:latin typeface="Source Sans Pro" panose="020B0503030403020204" pitchFamily="34" charset="0"/>
              <a:ea typeface="Source Sans Pro" panose="020B0503030403020204" pitchFamily="34" charset="0"/>
            </a:endParaRPr>
          </a:p>
          <a:p>
            <a:pPr algn="ctr"/>
            <a:r>
              <a:rPr lang="es-ES" sz="2400" dirty="0">
                <a:latin typeface="Source Sans Pro" panose="020B0503030403020204" pitchFamily="34" charset="0"/>
                <a:ea typeface="Source Sans Pro" panose="020B0503030403020204" pitchFamily="34" charset="0"/>
              </a:rPr>
              <a:t>Relación entre variables: prueba de Chi-cuadrado o prueba exacta de Fisher, según supuestos estadísticos.</a:t>
            </a:r>
          </a:p>
          <a:p>
            <a:r>
              <a:rPr lang="es-ES" sz="2400" b="1" dirty="0">
                <a:latin typeface="Source Sans Pro" panose="020B0503030403020204" pitchFamily="34" charset="0"/>
                <a:ea typeface="Source Sans Pro" panose="020B0503030403020204" pitchFamily="34" charset="0"/>
              </a:rPr>
              <a:t>Criterios de significancia</a:t>
            </a:r>
            <a:endParaRPr lang="es-ES" sz="2400" dirty="0">
              <a:latin typeface="Source Sans Pro" panose="020B0503030403020204" pitchFamily="34" charset="0"/>
              <a:ea typeface="Source Sans Pro" panose="020B0503030403020204" pitchFamily="34" charset="0"/>
            </a:endParaRPr>
          </a:p>
          <a:p>
            <a:pPr algn="ctr"/>
            <a:r>
              <a:rPr lang="es-ES" sz="2400" dirty="0">
                <a:latin typeface="Source Sans Pro" panose="020B0503030403020204" pitchFamily="34" charset="0"/>
                <a:ea typeface="Source Sans Pro" panose="020B0503030403020204" pitchFamily="34" charset="0"/>
              </a:rPr>
              <a:t>Nivel de confianza: 95 %.</a:t>
            </a:r>
          </a:p>
          <a:p>
            <a:pPr algn="ctr"/>
            <a:r>
              <a:rPr lang="es-ES" sz="2400" dirty="0">
                <a:latin typeface="Source Sans Pro" panose="020B0503030403020204" pitchFamily="34" charset="0"/>
                <a:ea typeface="Source Sans Pro" panose="020B0503030403020204" pitchFamily="34" charset="0"/>
              </a:rPr>
              <a:t>Valores p ≤ 0.05 considerados significativos</a:t>
            </a:r>
          </a:p>
        </p:txBody>
      </p:sp>
      <p:pic>
        <p:nvPicPr>
          <p:cNvPr id="3" name="Imagen 2" descr="Actualización a SPSS 26">
            <a:extLst>
              <a:ext uri="{FF2B5EF4-FFF2-40B4-BE49-F238E27FC236}">
                <a16:creationId xmlns:a16="http://schemas.microsoft.com/office/drawing/2014/main" id="{593C32B2-B1FF-9DE0-7213-BF7DD2C645D6}"/>
              </a:ext>
            </a:extLst>
          </p:cNvPr>
          <p:cNvPicPr>
            <a:picLocks noChangeAspect="1"/>
          </p:cNvPicPr>
          <p:nvPr/>
        </p:nvPicPr>
        <p:blipFill>
          <a:blip r:embed="rId3"/>
          <a:srcRect l="6557" t="11956" r="12022" b="1630"/>
          <a:stretch>
            <a:fillRect/>
          </a:stretch>
        </p:blipFill>
        <p:spPr>
          <a:xfrm>
            <a:off x="1404165" y="2379499"/>
            <a:ext cx="2885514" cy="3095915"/>
          </a:xfrm>
          <a:prstGeom prst="rect">
            <a:avLst/>
          </a:prstGeom>
        </p:spPr>
      </p:pic>
      <p:pic>
        <p:nvPicPr>
          <p:cNvPr id="5" name="Imagen 4" descr="Intervalos de confianza para la media - MUNDO ESTADÍSTICO">
            <a:extLst>
              <a:ext uri="{FF2B5EF4-FFF2-40B4-BE49-F238E27FC236}">
                <a16:creationId xmlns:a16="http://schemas.microsoft.com/office/drawing/2014/main" id="{72638075-F7C4-572A-80B0-17007FAC2708}"/>
              </a:ext>
            </a:extLst>
          </p:cNvPr>
          <p:cNvPicPr>
            <a:picLocks noChangeAspect="1"/>
          </p:cNvPicPr>
          <p:nvPr/>
        </p:nvPicPr>
        <p:blipFill>
          <a:blip r:embed="rId4"/>
          <a:srcRect r="-121" b="5063"/>
          <a:stretch>
            <a:fillRect/>
          </a:stretch>
        </p:blipFill>
        <p:spPr>
          <a:xfrm>
            <a:off x="174099" y="6011238"/>
            <a:ext cx="5345646" cy="2901695"/>
          </a:xfrm>
          <a:prstGeom prst="rect">
            <a:avLst/>
          </a:prstGeom>
        </p:spPr>
      </p:pic>
      <p:sp>
        <p:nvSpPr>
          <p:cNvPr id="7" name="CuadroTexto 6">
            <a:extLst>
              <a:ext uri="{FF2B5EF4-FFF2-40B4-BE49-F238E27FC236}">
                <a16:creationId xmlns:a16="http://schemas.microsoft.com/office/drawing/2014/main" id="{CB02F4FE-2CA7-3E92-8A25-B78D992A6862}"/>
              </a:ext>
            </a:extLst>
          </p:cNvPr>
          <p:cNvSpPr txBox="1"/>
          <p:nvPr/>
        </p:nvSpPr>
        <p:spPr>
          <a:xfrm>
            <a:off x="1630680" y="1135789"/>
            <a:ext cx="14919960" cy="707886"/>
          </a:xfrm>
          <a:prstGeom prst="rect">
            <a:avLst/>
          </a:prstGeom>
          <a:noFill/>
        </p:spPr>
        <p:txBody>
          <a:bodyPr wrap="square">
            <a:spAutoFit/>
          </a:bodyPr>
          <a:lstStyle/>
          <a:p>
            <a:pPr algn="ctr"/>
            <a:r>
              <a:rPr lang="es-ES" sz="2000" b="1" dirty="0">
                <a:solidFill>
                  <a:schemeClr val="tx1">
                    <a:lumMod val="75000"/>
                    <a:lumOff val="25000"/>
                  </a:schemeClr>
                </a:solidFill>
                <a:latin typeface="Source Sans Pro" panose="020B0503030403020204" pitchFamily="34" charset="0"/>
                <a:ea typeface="Source Sans Pro" panose="020B0503030403020204" pitchFamily="34" charset="0"/>
                <a:cs typeface="Calibri"/>
              </a:rPr>
              <a:t>Metodología del objetivó 4: Analizar las asociaciones entre los patrones de metilación, los niveles de IgA secretora y los marcadores de inflamación en pacientes con CU con alto riesgo de CCR</a:t>
            </a:r>
          </a:p>
        </p:txBody>
      </p:sp>
      <p:pic>
        <p:nvPicPr>
          <p:cNvPr id="8" name="Picture 2" descr="Imagen generada">
            <a:extLst>
              <a:ext uri="{FF2B5EF4-FFF2-40B4-BE49-F238E27FC236}">
                <a16:creationId xmlns:a16="http://schemas.microsoft.com/office/drawing/2014/main" id="{1C5B3A2D-20D1-D4D4-28E2-FA951DFE78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28204" y="3749039"/>
            <a:ext cx="6400375" cy="426691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6" name="Google Shape;93;p1" descr="No hay ninguna descripción de la foto disponible.">
            <a:extLst>
              <a:ext uri="{FF2B5EF4-FFF2-40B4-BE49-F238E27FC236}">
                <a16:creationId xmlns:a16="http://schemas.microsoft.com/office/drawing/2014/main" id="{906DA400-A22C-3FE4-9740-790B6A28EF04}"/>
              </a:ext>
            </a:extLst>
          </p:cNvPr>
          <p:cNvPicPr preferRelativeResize="0"/>
          <p:nvPr/>
        </p:nvPicPr>
        <p:blipFill rotWithShape="1">
          <a:blip r:embed="rId6">
            <a:alphaModFix/>
          </a:blip>
          <a:srcRect l="26238" t="22935" r="26586" b="20031"/>
          <a:stretch>
            <a:fillRect/>
          </a:stretch>
        </p:blipFill>
        <p:spPr>
          <a:xfrm>
            <a:off x="15572314" y="9188181"/>
            <a:ext cx="1432577" cy="744819"/>
          </a:xfrm>
          <a:prstGeom prst="rect">
            <a:avLst/>
          </a:prstGeom>
          <a:noFill/>
          <a:ln>
            <a:noFill/>
          </a:ln>
        </p:spPr>
      </p:pic>
      <p:pic>
        <p:nvPicPr>
          <p:cNvPr id="9" name="Google Shape;94;p1" descr="Universidad El Bosque in Colombia : Reviews &amp; Rankings | Student ...">
            <a:extLst>
              <a:ext uri="{FF2B5EF4-FFF2-40B4-BE49-F238E27FC236}">
                <a16:creationId xmlns:a16="http://schemas.microsoft.com/office/drawing/2014/main" id="{69EC5ECE-DEAF-E4F6-6DD8-F31A65DADCF7}"/>
              </a:ext>
            </a:extLst>
          </p:cNvPr>
          <p:cNvPicPr preferRelativeResize="0"/>
          <p:nvPr/>
        </p:nvPicPr>
        <p:blipFill rotWithShape="1">
          <a:blip r:embed="rId7">
            <a:alphaModFix/>
          </a:blip>
          <a:srcRect l="14020" t="34765" r="17993" b="25071"/>
          <a:stretch>
            <a:fillRect/>
          </a:stretch>
        </p:blipFill>
        <p:spPr>
          <a:xfrm>
            <a:off x="13472494" y="9291254"/>
            <a:ext cx="1978341" cy="64174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F23C721C-16E9-A9CE-1C7F-CAD8CF96145E}"/>
              </a:ext>
            </a:extLst>
          </p:cNvPr>
          <p:cNvSpPr txBox="1"/>
          <p:nvPr/>
        </p:nvSpPr>
        <p:spPr>
          <a:xfrm>
            <a:off x="5288070" y="335280"/>
            <a:ext cx="7000911" cy="199625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4000" b="1" dirty="0">
                <a:solidFill>
                  <a:schemeClr val="tx1">
                    <a:lumMod val="75000"/>
                    <a:lumOff val="25000"/>
                  </a:schemeClr>
                </a:solidFill>
                <a:latin typeface="Calibri"/>
                <a:ea typeface="Calibri"/>
                <a:cs typeface="Calibri"/>
                <a:sym typeface="Calibri"/>
              </a:rPr>
              <a:t>Consideraciones </a:t>
            </a:r>
            <a:r>
              <a:rPr lang="en-US" sz="4000" b="1" dirty="0" err="1">
                <a:solidFill>
                  <a:schemeClr val="tx1">
                    <a:lumMod val="75000"/>
                    <a:lumOff val="25000"/>
                  </a:schemeClr>
                </a:solidFill>
                <a:latin typeface="Calibri"/>
                <a:ea typeface="Calibri"/>
                <a:cs typeface="Calibri"/>
                <a:sym typeface="Calibri"/>
              </a:rPr>
              <a:t>éticas</a:t>
            </a:r>
            <a:endParaRPr lang="en-US" sz="4000" b="1" dirty="0">
              <a:solidFill>
                <a:schemeClr val="tx1">
                  <a:lumMod val="75000"/>
                  <a:lumOff val="25000"/>
                </a:schemeClr>
              </a:solidFill>
              <a:latin typeface="Calibri"/>
              <a:ea typeface="Calibri"/>
              <a:cs typeface="Calibri"/>
            </a:endParaRPr>
          </a:p>
        </p:txBody>
      </p:sp>
      <p:sp>
        <p:nvSpPr>
          <p:cNvPr id="3" name="Marcador de texto 2">
            <a:extLst>
              <a:ext uri="{FF2B5EF4-FFF2-40B4-BE49-F238E27FC236}">
                <a16:creationId xmlns:a16="http://schemas.microsoft.com/office/drawing/2014/main" id="{6D803562-96D6-2FAC-6EA3-F93EA72B5083}"/>
              </a:ext>
            </a:extLst>
          </p:cNvPr>
          <p:cNvSpPr>
            <a:spLocks noGrp="1"/>
          </p:cNvSpPr>
          <p:nvPr>
            <p:ph type="body" idx="1"/>
          </p:nvPr>
        </p:nvSpPr>
        <p:spPr>
          <a:xfrm>
            <a:off x="2209800" y="2331538"/>
            <a:ext cx="13868400" cy="6263639"/>
          </a:xfrm>
          <a:ln>
            <a:solidFill>
              <a:schemeClr val="tx1"/>
            </a:solidFill>
            <a:prstDash val="dashDot"/>
          </a:ln>
        </p:spPr>
        <p:style>
          <a:lnRef idx="2">
            <a:schemeClr val="accent4"/>
          </a:lnRef>
          <a:fillRef idx="1">
            <a:schemeClr val="lt1"/>
          </a:fillRef>
          <a:effectRef idx="0">
            <a:schemeClr val="accent4"/>
          </a:effectRef>
          <a:fontRef idx="minor">
            <a:schemeClr val="dk1"/>
          </a:fontRef>
        </p:style>
        <p:txBody>
          <a:bodyPr vert="horz" lIns="91440" tIns="45720" rIns="91440" bIns="45720" rtlCol="0">
            <a:normAutofit/>
          </a:bodyPr>
          <a:lstStyle/>
          <a:p>
            <a:pPr indent="-228600" algn="just">
              <a:lnSpc>
                <a:spcPct val="90000"/>
              </a:lnSpc>
              <a:buFont typeface="Arial" panose="020B0604020202020204" pitchFamily="34" charset="0"/>
              <a:buChar char="•"/>
            </a:pPr>
            <a:endParaRPr lang="en-US" sz="2400" kern="1200" dirty="0">
              <a:solidFill>
                <a:schemeClr val="tx1"/>
              </a:solidFill>
              <a:latin typeface="+mn-lt"/>
              <a:ea typeface="+mn-ea"/>
              <a:cs typeface="+mn-cs"/>
            </a:endParaRPr>
          </a:p>
          <a:p>
            <a:pPr indent="-228600" algn="just">
              <a:lnSpc>
                <a:spcPct val="90000"/>
              </a:lnSpc>
              <a:buFont typeface="Arial" panose="020B0604020202020204" pitchFamily="34" charset="0"/>
              <a:buChar char="•"/>
            </a:pPr>
            <a:endParaRPr lang="en-US" sz="2400" kern="1200" dirty="0">
              <a:solidFill>
                <a:schemeClr val="tx1"/>
              </a:solidFill>
              <a:latin typeface="+mn-lt"/>
              <a:ea typeface="+mn-ea"/>
              <a:cs typeface="+mn-cs"/>
            </a:endParaRPr>
          </a:p>
          <a:p>
            <a:pPr indent="-228600" algn="just">
              <a:lnSpc>
                <a:spcPct val="90000"/>
              </a:lnSpc>
              <a:buFont typeface="Arial" panose="020B0604020202020204" pitchFamily="34" charset="0"/>
              <a:buChar char="•"/>
            </a:pPr>
            <a:r>
              <a:rPr lang="en-US" sz="2400" kern="1200" dirty="0">
                <a:solidFill>
                  <a:schemeClr val="tx1"/>
                </a:solidFill>
                <a:latin typeface="Source Sans Pro" panose="020B0503030403020204" pitchFamily="34" charset="0"/>
                <a:ea typeface="Source Sans Pro" panose="020B0503030403020204" pitchFamily="34" charset="0"/>
                <a:cs typeface="+mn-cs"/>
              </a:rPr>
              <a:t>La </a:t>
            </a:r>
            <a:r>
              <a:rPr lang="en-US" sz="2400" kern="1200" dirty="0" err="1">
                <a:solidFill>
                  <a:schemeClr val="tx1"/>
                </a:solidFill>
                <a:latin typeface="Source Sans Pro" panose="020B0503030403020204" pitchFamily="34" charset="0"/>
                <a:ea typeface="Source Sans Pro" panose="020B0503030403020204" pitchFamily="34" charset="0"/>
                <a:cs typeface="+mn-cs"/>
              </a:rPr>
              <a:t>normativa</a:t>
            </a:r>
            <a:r>
              <a:rPr lang="en-US" sz="2400" kern="1200" dirty="0">
                <a:solidFill>
                  <a:schemeClr val="tx1"/>
                </a:solidFill>
                <a:latin typeface="Source Sans Pro" panose="020B0503030403020204" pitchFamily="34" charset="0"/>
                <a:ea typeface="Source Sans Pro" panose="020B0503030403020204" pitchFamily="34" charset="0"/>
                <a:cs typeface="+mn-cs"/>
              </a:rPr>
              <a:t> Colombiana </a:t>
            </a:r>
            <a:r>
              <a:rPr lang="en-US" sz="2400" kern="1200" dirty="0" err="1">
                <a:solidFill>
                  <a:schemeClr val="tx1"/>
                </a:solidFill>
                <a:latin typeface="Source Sans Pro" panose="020B0503030403020204" pitchFamily="34" charset="0"/>
                <a:ea typeface="Source Sans Pro" panose="020B0503030403020204" pitchFamily="34" charset="0"/>
                <a:cs typeface="+mn-cs"/>
              </a:rPr>
              <a:t>establecida</a:t>
            </a:r>
            <a:r>
              <a:rPr lang="en-US" sz="2400" kern="1200" dirty="0">
                <a:solidFill>
                  <a:schemeClr val="tx1"/>
                </a:solidFill>
                <a:latin typeface="Source Sans Pro" panose="020B0503030403020204" pitchFamily="34" charset="0"/>
                <a:ea typeface="Source Sans Pro" panose="020B0503030403020204" pitchFamily="34" charset="0"/>
                <a:cs typeface="+mn-cs"/>
              </a:rPr>
              <a:t> en </a:t>
            </a:r>
            <a:r>
              <a:rPr lang="en-US" sz="2400" kern="1200" dirty="0" err="1">
                <a:solidFill>
                  <a:schemeClr val="tx1"/>
                </a:solidFill>
                <a:latin typeface="Source Sans Pro" panose="020B0503030403020204" pitchFamily="34" charset="0"/>
                <a:ea typeface="Source Sans Pro" panose="020B0503030403020204" pitchFamily="34" charset="0"/>
                <a:cs typeface="+mn-cs"/>
              </a:rPr>
              <a:t>Resolución</a:t>
            </a:r>
            <a:r>
              <a:rPr lang="en-US" sz="2400" kern="1200" dirty="0">
                <a:solidFill>
                  <a:schemeClr val="tx1"/>
                </a:solidFill>
                <a:latin typeface="Source Sans Pro" panose="020B0503030403020204" pitchFamily="34" charset="0"/>
                <a:ea typeface="Source Sans Pro" panose="020B0503030403020204" pitchFamily="34" charset="0"/>
                <a:cs typeface="+mn-cs"/>
              </a:rPr>
              <a:t> 8430 de 1993 </a:t>
            </a:r>
            <a:r>
              <a:rPr lang="en-US" sz="2400" kern="1200" dirty="0" err="1">
                <a:solidFill>
                  <a:schemeClr val="tx1"/>
                </a:solidFill>
                <a:latin typeface="Source Sans Pro" panose="020B0503030403020204" pitchFamily="34" charset="0"/>
                <a:ea typeface="Source Sans Pro" panose="020B0503030403020204" pitchFamily="34" charset="0"/>
                <a:cs typeface="+mn-cs"/>
              </a:rPr>
              <a:t>por</a:t>
            </a:r>
            <a:r>
              <a:rPr lang="en-US" sz="2400" kern="1200" dirty="0">
                <a:solidFill>
                  <a:schemeClr val="tx1"/>
                </a:solidFill>
                <a:latin typeface="Source Sans Pro" panose="020B0503030403020204" pitchFamily="34" charset="0"/>
                <a:ea typeface="Source Sans Pro" panose="020B0503030403020204" pitchFamily="34" charset="0"/>
                <a:cs typeface="+mn-cs"/>
              </a:rPr>
              <a:t> la que se </a:t>
            </a:r>
            <a:r>
              <a:rPr lang="en-US" sz="2400" kern="1200" dirty="0" err="1">
                <a:solidFill>
                  <a:schemeClr val="tx1"/>
                </a:solidFill>
                <a:latin typeface="Source Sans Pro" panose="020B0503030403020204" pitchFamily="34" charset="0"/>
                <a:ea typeface="Source Sans Pro" panose="020B0503030403020204" pitchFamily="34" charset="0"/>
                <a:cs typeface="+mn-cs"/>
              </a:rPr>
              <a:t>establecen</a:t>
            </a:r>
            <a:r>
              <a:rPr lang="en-US" sz="2400" kern="1200" dirty="0">
                <a:solidFill>
                  <a:schemeClr val="tx1"/>
                </a:solidFill>
                <a:latin typeface="Source Sans Pro" panose="020B0503030403020204" pitchFamily="34" charset="0"/>
                <a:ea typeface="Source Sans Pro" panose="020B0503030403020204" pitchFamily="34" charset="0"/>
                <a:cs typeface="+mn-cs"/>
              </a:rPr>
              <a:t> las </a:t>
            </a:r>
            <a:r>
              <a:rPr lang="en-US" sz="2400" kern="1200" dirty="0" err="1">
                <a:solidFill>
                  <a:schemeClr val="tx1"/>
                </a:solidFill>
                <a:latin typeface="Source Sans Pro" panose="020B0503030403020204" pitchFamily="34" charset="0"/>
                <a:ea typeface="Source Sans Pro" panose="020B0503030403020204" pitchFamily="34" charset="0"/>
                <a:cs typeface="+mn-cs"/>
              </a:rPr>
              <a:t>normas</a:t>
            </a:r>
            <a:r>
              <a:rPr lang="en-US" sz="2400" kern="1200" dirty="0">
                <a:solidFill>
                  <a:schemeClr val="tx1"/>
                </a:solidFill>
                <a:latin typeface="Source Sans Pro" panose="020B0503030403020204" pitchFamily="34" charset="0"/>
                <a:ea typeface="Source Sans Pro" panose="020B0503030403020204" pitchFamily="34" charset="0"/>
                <a:cs typeface="+mn-cs"/>
              </a:rPr>
              <a:t> </a:t>
            </a:r>
            <a:r>
              <a:rPr lang="en-US" sz="2400" kern="1200" dirty="0" err="1">
                <a:solidFill>
                  <a:schemeClr val="tx1"/>
                </a:solidFill>
                <a:latin typeface="Source Sans Pro" panose="020B0503030403020204" pitchFamily="34" charset="0"/>
                <a:ea typeface="Source Sans Pro" panose="020B0503030403020204" pitchFamily="34" charset="0"/>
                <a:cs typeface="+mn-cs"/>
              </a:rPr>
              <a:t>científicas</a:t>
            </a:r>
            <a:r>
              <a:rPr lang="en-US" sz="2400" kern="1200" dirty="0">
                <a:solidFill>
                  <a:schemeClr val="tx1"/>
                </a:solidFill>
                <a:latin typeface="Source Sans Pro" panose="020B0503030403020204" pitchFamily="34" charset="0"/>
                <a:ea typeface="Source Sans Pro" panose="020B0503030403020204" pitchFamily="34" charset="0"/>
                <a:cs typeface="+mn-cs"/>
              </a:rPr>
              <a:t>, </a:t>
            </a:r>
            <a:r>
              <a:rPr lang="en-US" sz="2400" kern="1200" dirty="0" err="1">
                <a:solidFill>
                  <a:schemeClr val="tx1"/>
                </a:solidFill>
                <a:latin typeface="Source Sans Pro" panose="020B0503030403020204" pitchFamily="34" charset="0"/>
                <a:ea typeface="Source Sans Pro" panose="020B0503030403020204" pitchFamily="34" charset="0"/>
                <a:cs typeface="+mn-cs"/>
              </a:rPr>
              <a:t>técnicas</a:t>
            </a:r>
            <a:r>
              <a:rPr lang="en-US" sz="2400" kern="1200" dirty="0">
                <a:solidFill>
                  <a:schemeClr val="tx1"/>
                </a:solidFill>
                <a:latin typeface="Source Sans Pro" panose="020B0503030403020204" pitchFamily="34" charset="0"/>
                <a:ea typeface="Source Sans Pro" panose="020B0503030403020204" pitchFamily="34" charset="0"/>
                <a:cs typeface="+mn-cs"/>
              </a:rPr>
              <a:t> y </a:t>
            </a:r>
            <a:r>
              <a:rPr lang="en-US" sz="2400" kern="1200" dirty="0" err="1">
                <a:solidFill>
                  <a:schemeClr val="tx1"/>
                </a:solidFill>
                <a:latin typeface="Source Sans Pro" panose="020B0503030403020204" pitchFamily="34" charset="0"/>
                <a:ea typeface="Source Sans Pro" panose="020B0503030403020204" pitchFamily="34" charset="0"/>
                <a:cs typeface="+mn-cs"/>
              </a:rPr>
              <a:t>administrativas</a:t>
            </a:r>
            <a:r>
              <a:rPr lang="en-US" sz="2400" kern="1200" dirty="0">
                <a:solidFill>
                  <a:schemeClr val="tx1"/>
                </a:solidFill>
                <a:latin typeface="Source Sans Pro" panose="020B0503030403020204" pitchFamily="34" charset="0"/>
                <a:ea typeface="Source Sans Pro" panose="020B0503030403020204" pitchFamily="34" charset="0"/>
                <a:cs typeface="+mn-cs"/>
              </a:rPr>
              <a:t> para la </a:t>
            </a:r>
            <a:r>
              <a:rPr lang="en-US" sz="2400" kern="1200" dirty="0" err="1">
                <a:solidFill>
                  <a:schemeClr val="tx1"/>
                </a:solidFill>
                <a:latin typeface="Source Sans Pro" panose="020B0503030403020204" pitchFamily="34" charset="0"/>
                <a:ea typeface="Source Sans Pro" panose="020B0503030403020204" pitchFamily="34" charset="0"/>
                <a:cs typeface="+mn-cs"/>
              </a:rPr>
              <a:t>investigación</a:t>
            </a:r>
            <a:r>
              <a:rPr lang="en-US" sz="2400" kern="1200" dirty="0">
                <a:solidFill>
                  <a:schemeClr val="tx1"/>
                </a:solidFill>
                <a:latin typeface="Source Sans Pro" panose="020B0503030403020204" pitchFamily="34" charset="0"/>
                <a:ea typeface="Source Sans Pro" panose="020B0503030403020204" pitchFamily="34" charset="0"/>
                <a:cs typeface="+mn-cs"/>
              </a:rPr>
              <a:t> en </a:t>
            </a:r>
            <a:r>
              <a:rPr lang="en-US" sz="2400" kern="1200" dirty="0" err="1">
                <a:solidFill>
                  <a:schemeClr val="tx1"/>
                </a:solidFill>
                <a:latin typeface="Source Sans Pro" panose="020B0503030403020204" pitchFamily="34" charset="0"/>
                <a:ea typeface="Source Sans Pro" panose="020B0503030403020204" pitchFamily="34" charset="0"/>
                <a:cs typeface="+mn-cs"/>
              </a:rPr>
              <a:t>salud</a:t>
            </a:r>
            <a:r>
              <a:rPr lang="en-US" sz="2400" kern="1200" dirty="0">
                <a:solidFill>
                  <a:schemeClr val="tx1"/>
                </a:solidFill>
                <a:latin typeface="Source Sans Pro" panose="020B0503030403020204" pitchFamily="34" charset="0"/>
                <a:ea typeface="Source Sans Pro" panose="020B0503030403020204" pitchFamily="34" charset="0"/>
                <a:cs typeface="+mn-cs"/>
              </a:rPr>
              <a:t>.</a:t>
            </a:r>
          </a:p>
          <a:p>
            <a:pPr indent="-228600" algn="just">
              <a:lnSpc>
                <a:spcPct val="90000"/>
              </a:lnSpc>
              <a:buFont typeface="Arial" panose="020B0604020202020204" pitchFamily="34" charset="0"/>
              <a:buChar char="•"/>
            </a:pPr>
            <a:endParaRPr lang="en-US" sz="2400" kern="1200" dirty="0">
              <a:solidFill>
                <a:schemeClr val="tx1"/>
              </a:solidFill>
              <a:latin typeface="Source Sans Pro" panose="020B0503030403020204" pitchFamily="34" charset="0"/>
              <a:ea typeface="Source Sans Pro" panose="020B0503030403020204" pitchFamily="34" charset="0"/>
              <a:cs typeface="+mn-cs"/>
            </a:endParaRPr>
          </a:p>
          <a:p>
            <a:pPr indent="-228600" algn="just">
              <a:lnSpc>
                <a:spcPct val="90000"/>
              </a:lnSpc>
              <a:buFont typeface="Arial" panose="020B0604020202020204" pitchFamily="34" charset="0"/>
              <a:buChar char="•"/>
            </a:pPr>
            <a:r>
              <a:rPr lang="en-US" sz="2400" kern="1200" dirty="0">
                <a:solidFill>
                  <a:schemeClr val="tx1"/>
                </a:solidFill>
                <a:latin typeface="Source Sans Pro" panose="020B0503030403020204" pitchFamily="34" charset="0"/>
                <a:ea typeface="Source Sans Pro" panose="020B0503030403020204" pitchFamily="34" charset="0"/>
                <a:cs typeface="+mn-cs"/>
              </a:rPr>
              <a:t>Esta </a:t>
            </a:r>
            <a:r>
              <a:rPr lang="en-US" sz="2400" kern="1200" dirty="0" err="1">
                <a:solidFill>
                  <a:schemeClr val="tx1"/>
                </a:solidFill>
                <a:latin typeface="Source Sans Pro" panose="020B0503030403020204" pitchFamily="34" charset="0"/>
                <a:ea typeface="Source Sans Pro" panose="020B0503030403020204" pitchFamily="34" charset="0"/>
                <a:cs typeface="+mn-cs"/>
              </a:rPr>
              <a:t>investigación</a:t>
            </a:r>
            <a:r>
              <a:rPr lang="en-US" sz="2400" kern="1200" dirty="0">
                <a:solidFill>
                  <a:schemeClr val="tx1"/>
                </a:solidFill>
                <a:latin typeface="Source Sans Pro" panose="020B0503030403020204" pitchFamily="34" charset="0"/>
                <a:ea typeface="Source Sans Pro" panose="020B0503030403020204" pitchFamily="34" charset="0"/>
                <a:cs typeface="+mn-cs"/>
              </a:rPr>
              <a:t> </a:t>
            </a:r>
            <a:r>
              <a:rPr lang="en-US" sz="2400" kern="1200" dirty="0" err="1">
                <a:solidFill>
                  <a:schemeClr val="tx1"/>
                </a:solidFill>
                <a:latin typeface="Source Sans Pro" panose="020B0503030403020204" pitchFamily="34" charset="0"/>
                <a:ea typeface="Source Sans Pro" panose="020B0503030403020204" pitchFamily="34" charset="0"/>
                <a:cs typeface="+mn-cs"/>
              </a:rPr>
              <a:t>tendrá</a:t>
            </a:r>
            <a:r>
              <a:rPr lang="en-US" sz="2400" kern="1200" dirty="0">
                <a:solidFill>
                  <a:schemeClr val="tx1"/>
                </a:solidFill>
                <a:latin typeface="Source Sans Pro" panose="020B0503030403020204" pitchFamily="34" charset="0"/>
                <a:ea typeface="Source Sans Pro" panose="020B0503030403020204" pitchFamily="34" charset="0"/>
                <a:cs typeface="+mn-cs"/>
              </a:rPr>
              <a:t> en </a:t>
            </a:r>
            <a:r>
              <a:rPr lang="en-US" sz="2400" kern="1200" dirty="0" err="1">
                <a:solidFill>
                  <a:schemeClr val="tx1"/>
                </a:solidFill>
                <a:latin typeface="Source Sans Pro" panose="020B0503030403020204" pitchFamily="34" charset="0"/>
                <a:ea typeface="Source Sans Pro" panose="020B0503030403020204" pitchFamily="34" charset="0"/>
                <a:cs typeface="+mn-cs"/>
              </a:rPr>
              <a:t>cuenta</a:t>
            </a:r>
            <a:r>
              <a:rPr lang="en-US" sz="2400" kern="1200" dirty="0">
                <a:solidFill>
                  <a:schemeClr val="tx1"/>
                </a:solidFill>
                <a:latin typeface="Source Sans Pro" panose="020B0503030403020204" pitchFamily="34" charset="0"/>
                <a:ea typeface="Source Sans Pro" panose="020B0503030403020204" pitchFamily="34" charset="0"/>
                <a:cs typeface="+mn-cs"/>
              </a:rPr>
              <a:t> </a:t>
            </a:r>
            <a:r>
              <a:rPr lang="en-US" sz="2400" kern="1200" dirty="0" err="1">
                <a:solidFill>
                  <a:schemeClr val="tx1"/>
                </a:solidFill>
                <a:latin typeface="Source Sans Pro" panose="020B0503030403020204" pitchFamily="34" charset="0"/>
                <a:ea typeface="Source Sans Pro" panose="020B0503030403020204" pitchFamily="34" charset="0"/>
                <a:cs typeface="+mn-cs"/>
              </a:rPr>
              <a:t>los</a:t>
            </a:r>
            <a:r>
              <a:rPr lang="en-US" sz="2400" kern="1200" dirty="0">
                <a:solidFill>
                  <a:schemeClr val="tx1"/>
                </a:solidFill>
                <a:latin typeface="Source Sans Pro" panose="020B0503030403020204" pitchFamily="34" charset="0"/>
                <a:ea typeface="Source Sans Pro" panose="020B0503030403020204" pitchFamily="34" charset="0"/>
                <a:cs typeface="+mn-cs"/>
              </a:rPr>
              <a:t> </a:t>
            </a:r>
            <a:r>
              <a:rPr lang="en-US" sz="2400" kern="1200" dirty="0" err="1">
                <a:solidFill>
                  <a:schemeClr val="tx1"/>
                </a:solidFill>
                <a:latin typeface="Source Sans Pro" panose="020B0503030403020204" pitchFamily="34" charset="0"/>
                <a:ea typeface="Source Sans Pro" panose="020B0503030403020204" pitchFamily="34" charset="0"/>
                <a:cs typeface="+mn-cs"/>
              </a:rPr>
              <a:t>artículos</a:t>
            </a:r>
            <a:r>
              <a:rPr lang="en-US" sz="2400" kern="1200" dirty="0">
                <a:solidFill>
                  <a:schemeClr val="tx1"/>
                </a:solidFill>
                <a:latin typeface="Source Sans Pro" panose="020B0503030403020204" pitchFamily="34" charset="0"/>
                <a:ea typeface="Source Sans Pro" panose="020B0503030403020204" pitchFamily="34" charset="0"/>
                <a:cs typeface="+mn-cs"/>
              </a:rPr>
              <a:t> a </a:t>
            </a:r>
            <a:r>
              <a:rPr lang="en-US" sz="2400" kern="1200" dirty="0" err="1">
                <a:solidFill>
                  <a:schemeClr val="tx1"/>
                </a:solidFill>
                <a:latin typeface="Source Sans Pro" panose="020B0503030403020204" pitchFamily="34" charset="0"/>
                <a:ea typeface="Source Sans Pro" panose="020B0503030403020204" pitchFamily="34" charset="0"/>
                <a:cs typeface="+mn-cs"/>
              </a:rPr>
              <a:t>los</a:t>
            </a:r>
            <a:r>
              <a:rPr lang="en-US" sz="2400" kern="1200" dirty="0">
                <a:solidFill>
                  <a:schemeClr val="tx1"/>
                </a:solidFill>
                <a:latin typeface="Source Sans Pro" panose="020B0503030403020204" pitchFamily="34" charset="0"/>
                <a:ea typeface="Source Sans Pro" panose="020B0503030403020204" pitchFamily="34" charset="0"/>
                <a:cs typeface="+mn-cs"/>
              </a:rPr>
              <a:t> que </a:t>
            </a:r>
            <a:r>
              <a:rPr lang="en-US" sz="2400" kern="1200" dirty="0" err="1">
                <a:solidFill>
                  <a:schemeClr val="tx1"/>
                </a:solidFill>
                <a:latin typeface="Source Sans Pro" panose="020B0503030403020204" pitchFamily="34" charset="0"/>
                <a:ea typeface="Source Sans Pro" panose="020B0503030403020204" pitchFamily="34" charset="0"/>
                <a:cs typeface="+mn-cs"/>
              </a:rPr>
              <a:t>hace</a:t>
            </a:r>
            <a:r>
              <a:rPr lang="en-US" sz="2400" kern="1200" dirty="0">
                <a:solidFill>
                  <a:schemeClr val="tx1"/>
                </a:solidFill>
                <a:latin typeface="Source Sans Pro" panose="020B0503030403020204" pitchFamily="34" charset="0"/>
                <a:ea typeface="Source Sans Pro" panose="020B0503030403020204" pitchFamily="34" charset="0"/>
                <a:cs typeface="+mn-cs"/>
              </a:rPr>
              <a:t> </a:t>
            </a:r>
            <a:r>
              <a:rPr lang="en-US" sz="2400" kern="1200" dirty="0" err="1">
                <a:solidFill>
                  <a:schemeClr val="tx1"/>
                </a:solidFill>
                <a:latin typeface="Source Sans Pro" panose="020B0503030403020204" pitchFamily="34" charset="0"/>
                <a:ea typeface="Source Sans Pro" panose="020B0503030403020204" pitchFamily="34" charset="0"/>
                <a:cs typeface="+mn-cs"/>
              </a:rPr>
              <a:t>alusión</a:t>
            </a:r>
            <a:r>
              <a:rPr lang="en-US" sz="2400" kern="1200" dirty="0">
                <a:solidFill>
                  <a:schemeClr val="tx1"/>
                </a:solidFill>
                <a:latin typeface="Source Sans Pro" panose="020B0503030403020204" pitchFamily="34" charset="0"/>
                <a:ea typeface="Source Sans Pro" panose="020B0503030403020204" pitchFamily="34" charset="0"/>
                <a:cs typeface="+mn-cs"/>
              </a:rPr>
              <a:t> </a:t>
            </a:r>
            <a:r>
              <a:rPr lang="en-US" sz="2400" kern="1200" dirty="0" err="1">
                <a:solidFill>
                  <a:schemeClr val="tx1"/>
                </a:solidFill>
                <a:latin typeface="Source Sans Pro" panose="020B0503030403020204" pitchFamily="34" charset="0"/>
                <a:ea typeface="Source Sans Pro" panose="020B0503030403020204" pitchFamily="34" charset="0"/>
                <a:cs typeface="+mn-cs"/>
              </a:rPr>
              <a:t>dicha</a:t>
            </a:r>
            <a:r>
              <a:rPr lang="en-US" sz="2400" kern="1200" dirty="0">
                <a:solidFill>
                  <a:schemeClr val="tx1"/>
                </a:solidFill>
                <a:latin typeface="Source Sans Pro" panose="020B0503030403020204" pitchFamily="34" charset="0"/>
                <a:ea typeface="Source Sans Pro" panose="020B0503030403020204" pitchFamily="34" charset="0"/>
                <a:cs typeface="+mn-cs"/>
              </a:rPr>
              <a:t> </a:t>
            </a:r>
            <a:r>
              <a:rPr lang="en-US" sz="2400" kern="1200" dirty="0" err="1">
                <a:solidFill>
                  <a:schemeClr val="tx1"/>
                </a:solidFill>
                <a:latin typeface="Source Sans Pro" panose="020B0503030403020204" pitchFamily="34" charset="0"/>
                <a:ea typeface="Source Sans Pro" panose="020B0503030403020204" pitchFamily="34" charset="0"/>
                <a:cs typeface="+mn-cs"/>
              </a:rPr>
              <a:t>resolución</a:t>
            </a:r>
            <a:r>
              <a:rPr lang="en-US" sz="2400" kern="1200" dirty="0">
                <a:solidFill>
                  <a:schemeClr val="tx1"/>
                </a:solidFill>
                <a:latin typeface="Source Sans Pro" panose="020B0503030403020204" pitchFamily="34" charset="0"/>
                <a:ea typeface="Source Sans Pro" panose="020B0503030403020204" pitchFamily="34" charset="0"/>
                <a:cs typeface="+mn-cs"/>
              </a:rPr>
              <a:t> en </a:t>
            </a:r>
            <a:r>
              <a:rPr lang="en-US" sz="2400" kern="1200" dirty="0" err="1">
                <a:solidFill>
                  <a:schemeClr val="tx1"/>
                </a:solidFill>
                <a:latin typeface="Source Sans Pro" panose="020B0503030403020204" pitchFamily="34" charset="0"/>
                <a:ea typeface="Source Sans Pro" panose="020B0503030403020204" pitchFamily="34" charset="0"/>
                <a:cs typeface="+mn-cs"/>
              </a:rPr>
              <a:t>el</a:t>
            </a:r>
            <a:r>
              <a:rPr lang="en-US" sz="2400" kern="1200" dirty="0">
                <a:solidFill>
                  <a:schemeClr val="tx1"/>
                </a:solidFill>
                <a:latin typeface="Source Sans Pro" panose="020B0503030403020204" pitchFamily="34" charset="0"/>
                <a:ea typeface="Source Sans Pro" panose="020B0503030403020204" pitchFamily="34" charset="0"/>
                <a:cs typeface="+mn-cs"/>
              </a:rPr>
              <a:t> </a:t>
            </a:r>
            <a:r>
              <a:rPr lang="en-US" sz="2400" kern="1200" dirty="0" err="1">
                <a:solidFill>
                  <a:schemeClr val="tx1"/>
                </a:solidFill>
                <a:latin typeface="Source Sans Pro" panose="020B0503030403020204" pitchFamily="34" charset="0"/>
                <a:ea typeface="Source Sans Pro" panose="020B0503030403020204" pitchFamily="34" charset="0"/>
                <a:cs typeface="+mn-cs"/>
              </a:rPr>
              <a:t>capítulo</a:t>
            </a:r>
            <a:r>
              <a:rPr lang="en-US" sz="2400" kern="1200" dirty="0">
                <a:solidFill>
                  <a:schemeClr val="tx1"/>
                </a:solidFill>
                <a:latin typeface="Source Sans Pro" panose="020B0503030403020204" pitchFamily="34" charset="0"/>
                <a:ea typeface="Source Sans Pro" panose="020B0503030403020204" pitchFamily="34" charset="0"/>
                <a:cs typeface="+mn-cs"/>
              </a:rPr>
              <a:t> I de </a:t>
            </a:r>
            <a:r>
              <a:rPr lang="en-US" sz="2400" kern="1200" dirty="0" err="1">
                <a:solidFill>
                  <a:schemeClr val="tx1"/>
                </a:solidFill>
                <a:latin typeface="Source Sans Pro" panose="020B0503030403020204" pitchFamily="34" charset="0"/>
                <a:ea typeface="Source Sans Pro" panose="020B0503030403020204" pitchFamily="34" charset="0"/>
                <a:cs typeface="+mn-cs"/>
              </a:rPr>
              <a:t>los</a:t>
            </a:r>
            <a:r>
              <a:rPr lang="en-US" sz="2400" kern="1200" dirty="0">
                <a:solidFill>
                  <a:schemeClr val="tx1"/>
                </a:solidFill>
                <a:latin typeface="Source Sans Pro" panose="020B0503030403020204" pitchFamily="34" charset="0"/>
                <a:ea typeface="Source Sans Pro" panose="020B0503030403020204" pitchFamily="34" charset="0"/>
                <a:cs typeface="+mn-cs"/>
              </a:rPr>
              <a:t> </a:t>
            </a:r>
            <a:r>
              <a:rPr lang="en-US" sz="2400" kern="1200" dirty="0" err="1">
                <a:solidFill>
                  <a:schemeClr val="tx1"/>
                </a:solidFill>
                <a:latin typeface="Source Sans Pro" panose="020B0503030403020204" pitchFamily="34" charset="0"/>
                <a:ea typeface="Source Sans Pro" panose="020B0503030403020204" pitchFamily="34" charset="0"/>
                <a:cs typeface="+mn-cs"/>
              </a:rPr>
              <a:t>aspectos</a:t>
            </a:r>
            <a:r>
              <a:rPr lang="en-US" sz="2400" kern="1200" dirty="0">
                <a:solidFill>
                  <a:schemeClr val="tx1"/>
                </a:solidFill>
                <a:latin typeface="Source Sans Pro" panose="020B0503030403020204" pitchFamily="34" charset="0"/>
                <a:ea typeface="Source Sans Pro" panose="020B0503030403020204" pitchFamily="34" charset="0"/>
                <a:cs typeface="+mn-cs"/>
              </a:rPr>
              <a:t> </a:t>
            </a:r>
            <a:r>
              <a:rPr lang="en-US" sz="2400" kern="1200" dirty="0" err="1">
                <a:solidFill>
                  <a:schemeClr val="tx1"/>
                </a:solidFill>
                <a:latin typeface="Source Sans Pro" panose="020B0503030403020204" pitchFamily="34" charset="0"/>
                <a:ea typeface="Source Sans Pro" panose="020B0503030403020204" pitchFamily="34" charset="0"/>
                <a:cs typeface="+mn-cs"/>
              </a:rPr>
              <a:t>éticos</a:t>
            </a:r>
            <a:r>
              <a:rPr lang="en-US" sz="2400" kern="1200" dirty="0">
                <a:solidFill>
                  <a:schemeClr val="tx1"/>
                </a:solidFill>
                <a:latin typeface="Source Sans Pro" panose="020B0503030403020204" pitchFamily="34" charset="0"/>
                <a:ea typeface="Source Sans Pro" panose="020B0503030403020204" pitchFamily="34" charset="0"/>
                <a:cs typeface="+mn-cs"/>
              </a:rPr>
              <a:t> de la </a:t>
            </a:r>
            <a:r>
              <a:rPr lang="en-US" sz="2400" kern="1200" dirty="0" err="1">
                <a:solidFill>
                  <a:schemeClr val="tx1"/>
                </a:solidFill>
                <a:latin typeface="Source Sans Pro" panose="020B0503030403020204" pitchFamily="34" charset="0"/>
                <a:ea typeface="Source Sans Pro" panose="020B0503030403020204" pitchFamily="34" charset="0"/>
                <a:cs typeface="+mn-cs"/>
              </a:rPr>
              <a:t>investigación</a:t>
            </a:r>
            <a:r>
              <a:rPr lang="en-US" sz="2400" kern="1200" dirty="0">
                <a:solidFill>
                  <a:schemeClr val="tx1"/>
                </a:solidFill>
                <a:latin typeface="Source Sans Pro" panose="020B0503030403020204" pitchFamily="34" charset="0"/>
                <a:ea typeface="Source Sans Pro" panose="020B0503030403020204" pitchFamily="34" charset="0"/>
                <a:cs typeface="+mn-cs"/>
              </a:rPr>
              <a:t> en </a:t>
            </a:r>
            <a:r>
              <a:rPr lang="en-US" sz="2400" kern="1200" dirty="0" err="1">
                <a:solidFill>
                  <a:schemeClr val="tx1"/>
                </a:solidFill>
                <a:latin typeface="Source Sans Pro" panose="020B0503030403020204" pitchFamily="34" charset="0"/>
                <a:ea typeface="Source Sans Pro" panose="020B0503030403020204" pitchFamily="34" charset="0"/>
                <a:cs typeface="+mn-cs"/>
              </a:rPr>
              <a:t>humanos</a:t>
            </a:r>
            <a:r>
              <a:rPr lang="en-US" sz="2400" kern="1200" dirty="0">
                <a:solidFill>
                  <a:schemeClr val="tx1"/>
                </a:solidFill>
                <a:latin typeface="Source Sans Pro" panose="020B0503030403020204" pitchFamily="34" charset="0"/>
                <a:ea typeface="Source Sans Pro" panose="020B0503030403020204" pitchFamily="34" charset="0"/>
                <a:cs typeface="+mn-cs"/>
              </a:rPr>
              <a:t> y </a:t>
            </a:r>
            <a:r>
              <a:rPr lang="en-US" sz="2400" kern="1200" dirty="0" err="1">
                <a:solidFill>
                  <a:schemeClr val="tx1"/>
                </a:solidFill>
                <a:latin typeface="Source Sans Pro" panose="020B0503030403020204" pitchFamily="34" charset="0"/>
                <a:ea typeface="Source Sans Pro" panose="020B0503030403020204" pitchFamily="34" charset="0"/>
                <a:cs typeface="+mn-cs"/>
              </a:rPr>
              <a:t>por</a:t>
            </a:r>
            <a:r>
              <a:rPr lang="en-US" sz="2400" kern="1200" dirty="0">
                <a:solidFill>
                  <a:schemeClr val="tx1"/>
                </a:solidFill>
                <a:latin typeface="Source Sans Pro" panose="020B0503030403020204" pitchFamily="34" charset="0"/>
                <a:ea typeface="Source Sans Pro" panose="020B0503030403020204" pitchFamily="34" charset="0"/>
                <a:cs typeface="+mn-cs"/>
              </a:rPr>
              <a:t> las </a:t>
            </a:r>
            <a:r>
              <a:rPr lang="en-US" sz="2400" kern="1200" dirty="0" err="1">
                <a:solidFill>
                  <a:schemeClr val="tx1"/>
                </a:solidFill>
                <a:latin typeface="Source Sans Pro" panose="020B0503030403020204" pitchFamily="34" charset="0"/>
                <a:ea typeface="Source Sans Pro" panose="020B0503030403020204" pitchFamily="34" charset="0"/>
                <a:cs typeface="+mn-cs"/>
              </a:rPr>
              <a:t>características</a:t>
            </a:r>
            <a:r>
              <a:rPr lang="en-US" sz="2400" kern="1200" dirty="0">
                <a:solidFill>
                  <a:schemeClr val="tx1"/>
                </a:solidFill>
                <a:latin typeface="Source Sans Pro" panose="020B0503030403020204" pitchFamily="34" charset="0"/>
                <a:ea typeface="Source Sans Pro" panose="020B0503030403020204" pitchFamily="34" charset="0"/>
                <a:cs typeface="+mn-cs"/>
              </a:rPr>
              <a:t> del </a:t>
            </a:r>
            <a:r>
              <a:rPr lang="en-US" sz="2400" b="1" kern="1200" dirty="0" err="1">
                <a:solidFill>
                  <a:schemeClr val="tx1"/>
                </a:solidFill>
                <a:latin typeface="Source Sans Pro" panose="020B0503030403020204" pitchFamily="34" charset="0"/>
                <a:ea typeface="Source Sans Pro" panose="020B0503030403020204" pitchFamily="34" charset="0"/>
                <a:cs typeface="+mn-cs"/>
              </a:rPr>
              <a:t>estudio</a:t>
            </a:r>
            <a:r>
              <a:rPr lang="en-US" sz="2400" b="1" kern="1200" dirty="0">
                <a:solidFill>
                  <a:schemeClr val="tx1"/>
                </a:solidFill>
                <a:latin typeface="Source Sans Pro" panose="020B0503030403020204" pitchFamily="34" charset="0"/>
                <a:ea typeface="Source Sans Pro" panose="020B0503030403020204" pitchFamily="34" charset="0"/>
                <a:cs typeface="+mn-cs"/>
              </a:rPr>
              <a:t> lo </a:t>
            </a:r>
            <a:r>
              <a:rPr lang="en-US" sz="2400" b="1" kern="1200" dirty="0" err="1">
                <a:solidFill>
                  <a:schemeClr val="tx1"/>
                </a:solidFill>
                <a:latin typeface="Source Sans Pro" panose="020B0503030403020204" pitchFamily="34" charset="0"/>
                <a:ea typeface="Source Sans Pro" panose="020B0503030403020204" pitchFamily="34" charset="0"/>
                <a:cs typeface="+mn-cs"/>
              </a:rPr>
              <a:t>clasifica</a:t>
            </a:r>
            <a:r>
              <a:rPr lang="en-US" sz="2400" b="1" kern="1200" dirty="0">
                <a:solidFill>
                  <a:schemeClr val="tx1"/>
                </a:solidFill>
                <a:latin typeface="Source Sans Pro" panose="020B0503030403020204" pitchFamily="34" charset="0"/>
                <a:ea typeface="Source Sans Pro" panose="020B0503030403020204" pitchFamily="34" charset="0"/>
                <a:cs typeface="+mn-cs"/>
              </a:rPr>
              <a:t> </a:t>
            </a:r>
            <a:r>
              <a:rPr lang="en-US" sz="2400" b="1" kern="1200" dirty="0" err="1">
                <a:solidFill>
                  <a:schemeClr val="tx1"/>
                </a:solidFill>
                <a:latin typeface="Source Sans Pro" panose="020B0503030403020204" pitchFamily="34" charset="0"/>
                <a:ea typeface="Source Sans Pro" panose="020B0503030403020204" pitchFamily="34" charset="0"/>
                <a:cs typeface="+mn-cs"/>
              </a:rPr>
              <a:t>como</a:t>
            </a:r>
            <a:r>
              <a:rPr lang="en-US" sz="2400" b="1" kern="1200" dirty="0">
                <a:solidFill>
                  <a:schemeClr val="tx1"/>
                </a:solidFill>
                <a:latin typeface="Source Sans Pro" panose="020B0503030403020204" pitchFamily="34" charset="0"/>
                <a:ea typeface="Source Sans Pro" panose="020B0503030403020204" pitchFamily="34" charset="0"/>
                <a:cs typeface="+mn-cs"/>
              </a:rPr>
              <a:t> </a:t>
            </a:r>
            <a:r>
              <a:rPr lang="en-US" sz="2400" b="1" kern="1200" dirty="0" err="1">
                <a:solidFill>
                  <a:schemeClr val="tx1"/>
                </a:solidFill>
                <a:latin typeface="Source Sans Pro" panose="020B0503030403020204" pitchFamily="34" charset="0"/>
                <a:ea typeface="Source Sans Pro" panose="020B0503030403020204" pitchFamily="34" charset="0"/>
                <a:cs typeface="+mn-cs"/>
              </a:rPr>
              <a:t>riesgo</a:t>
            </a:r>
            <a:r>
              <a:rPr lang="en-US" sz="2400" b="1" kern="1200" dirty="0">
                <a:solidFill>
                  <a:schemeClr val="tx1"/>
                </a:solidFill>
                <a:latin typeface="Source Sans Pro" panose="020B0503030403020204" pitchFamily="34" charset="0"/>
                <a:ea typeface="Source Sans Pro" panose="020B0503030403020204" pitchFamily="34" charset="0"/>
                <a:cs typeface="+mn-cs"/>
              </a:rPr>
              <a:t> mayor que </a:t>
            </a:r>
            <a:r>
              <a:rPr lang="en-US" sz="2400" b="1" kern="1200" dirty="0" err="1">
                <a:solidFill>
                  <a:schemeClr val="tx1"/>
                </a:solidFill>
                <a:latin typeface="Source Sans Pro" panose="020B0503030403020204" pitchFamily="34" charset="0"/>
                <a:ea typeface="Source Sans Pro" panose="020B0503030403020204" pitchFamily="34" charset="0"/>
                <a:cs typeface="+mn-cs"/>
              </a:rPr>
              <a:t>el</a:t>
            </a:r>
            <a:r>
              <a:rPr lang="en-US" sz="2400" b="1" kern="1200" dirty="0">
                <a:solidFill>
                  <a:schemeClr val="tx1"/>
                </a:solidFill>
                <a:latin typeface="Source Sans Pro" panose="020B0503030403020204" pitchFamily="34" charset="0"/>
                <a:ea typeface="Source Sans Pro" panose="020B0503030403020204" pitchFamily="34" charset="0"/>
                <a:cs typeface="+mn-cs"/>
              </a:rPr>
              <a:t> </a:t>
            </a:r>
            <a:r>
              <a:rPr lang="en-US" sz="2400" b="1" kern="1200" dirty="0" err="1">
                <a:solidFill>
                  <a:schemeClr val="tx1"/>
                </a:solidFill>
                <a:latin typeface="Source Sans Pro" panose="020B0503030403020204" pitchFamily="34" charset="0"/>
                <a:ea typeface="Source Sans Pro" panose="020B0503030403020204" pitchFamily="34" charset="0"/>
                <a:cs typeface="+mn-cs"/>
              </a:rPr>
              <a:t>mínimo</a:t>
            </a:r>
            <a:r>
              <a:rPr lang="en-US" sz="2400" kern="1200" dirty="0">
                <a:solidFill>
                  <a:schemeClr val="tx1"/>
                </a:solidFill>
                <a:latin typeface="Source Sans Pro" panose="020B0503030403020204" pitchFamily="34" charset="0"/>
                <a:ea typeface="Source Sans Pro" panose="020B0503030403020204" pitchFamily="34" charset="0"/>
                <a:cs typeface="+mn-cs"/>
              </a:rPr>
              <a:t>, (La </a:t>
            </a:r>
            <a:r>
              <a:rPr lang="en-US" sz="2400" kern="1200" dirty="0" err="1">
                <a:solidFill>
                  <a:schemeClr val="tx1"/>
                </a:solidFill>
                <a:latin typeface="Source Sans Pro" panose="020B0503030403020204" pitchFamily="34" charset="0"/>
                <a:ea typeface="Source Sans Pro" panose="020B0503030403020204" pitchFamily="34" charset="0"/>
                <a:cs typeface="+mn-cs"/>
              </a:rPr>
              <a:t>colonoscopia</a:t>
            </a:r>
            <a:r>
              <a:rPr lang="en-US" sz="2400" kern="1200" dirty="0">
                <a:solidFill>
                  <a:schemeClr val="tx1"/>
                </a:solidFill>
                <a:latin typeface="Source Sans Pro" panose="020B0503030403020204" pitchFamily="34" charset="0"/>
                <a:ea typeface="Source Sans Pro" panose="020B0503030403020204" pitchFamily="34" charset="0"/>
                <a:cs typeface="+mn-cs"/>
              </a:rPr>
              <a:t> es </a:t>
            </a:r>
            <a:r>
              <a:rPr lang="en-US" sz="2400" kern="1200" dirty="0" err="1">
                <a:solidFill>
                  <a:schemeClr val="tx1"/>
                </a:solidFill>
                <a:latin typeface="Source Sans Pro" panose="020B0503030403020204" pitchFamily="34" charset="0"/>
                <a:ea typeface="Source Sans Pro" panose="020B0503030403020204" pitchFamily="34" charset="0"/>
                <a:cs typeface="+mn-cs"/>
              </a:rPr>
              <a:t>clínicamente</a:t>
            </a:r>
            <a:r>
              <a:rPr lang="en-US" sz="2400" kern="1200" dirty="0">
                <a:solidFill>
                  <a:schemeClr val="tx1"/>
                </a:solidFill>
                <a:latin typeface="Source Sans Pro" panose="020B0503030403020204" pitchFamily="34" charset="0"/>
                <a:ea typeface="Source Sans Pro" panose="020B0503030403020204" pitchFamily="34" charset="0"/>
                <a:cs typeface="+mn-cs"/>
              </a:rPr>
              <a:t> </a:t>
            </a:r>
            <a:r>
              <a:rPr lang="en-US" sz="2400" kern="1200" dirty="0" err="1">
                <a:solidFill>
                  <a:schemeClr val="tx1"/>
                </a:solidFill>
                <a:latin typeface="Source Sans Pro" panose="020B0503030403020204" pitchFamily="34" charset="0"/>
                <a:ea typeface="Source Sans Pro" panose="020B0503030403020204" pitchFamily="34" charset="0"/>
                <a:cs typeface="+mn-cs"/>
              </a:rPr>
              <a:t>indicada</a:t>
            </a:r>
            <a:r>
              <a:rPr lang="en-US" sz="2400" kern="1200" dirty="0">
                <a:solidFill>
                  <a:schemeClr val="tx1"/>
                </a:solidFill>
                <a:latin typeface="Source Sans Pro" panose="020B0503030403020204" pitchFamily="34" charset="0"/>
                <a:ea typeface="Source Sans Pro" panose="020B0503030403020204" pitchFamily="34" charset="0"/>
                <a:cs typeface="+mn-cs"/>
              </a:rPr>
              <a:t>), </a:t>
            </a:r>
            <a:r>
              <a:rPr lang="en-US" sz="2400" b="1" kern="1200" dirty="0" err="1">
                <a:solidFill>
                  <a:schemeClr val="tx1"/>
                </a:solidFill>
                <a:latin typeface="Source Sans Pro" panose="020B0503030403020204" pitchFamily="34" charset="0"/>
                <a:ea typeface="Source Sans Pro" panose="020B0503030403020204" pitchFamily="34" charset="0"/>
                <a:cs typeface="+mn-cs"/>
              </a:rPr>
              <a:t>todo</a:t>
            </a:r>
            <a:r>
              <a:rPr lang="en-US" sz="2400" b="1" kern="1200" dirty="0">
                <a:solidFill>
                  <a:schemeClr val="tx1"/>
                </a:solidFill>
                <a:latin typeface="Source Sans Pro" panose="020B0503030403020204" pitchFamily="34" charset="0"/>
                <a:ea typeface="Source Sans Pro" panose="020B0503030403020204" pitchFamily="34" charset="0"/>
                <a:cs typeface="+mn-cs"/>
              </a:rPr>
              <a:t> </a:t>
            </a:r>
            <a:r>
              <a:rPr lang="en-US" sz="2400" b="1" kern="1200" dirty="0" err="1">
                <a:solidFill>
                  <a:schemeClr val="tx1"/>
                </a:solidFill>
                <a:latin typeface="Source Sans Pro" panose="020B0503030403020204" pitchFamily="34" charset="0"/>
                <a:ea typeface="Source Sans Pro" panose="020B0503030403020204" pitchFamily="34" charset="0"/>
                <a:cs typeface="+mn-cs"/>
              </a:rPr>
              <a:t>participante</a:t>
            </a:r>
            <a:r>
              <a:rPr lang="en-US" sz="2400" b="1" kern="1200" dirty="0">
                <a:solidFill>
                  <a:schemeClr val="tx1"/>
                </a:solidFill>
                <a:latin typeface="Source Sans Pro" panose="020B0503030403020204" pitchFamily="34" charset="0"/>
                <a:ea typeface="Source Sans Pro" panose="020B0503030403020204" pitchFamily="34" charset="0"/>
                <a:cs typeface="+mn-cs"/>
              </a:rPr>
              <a:t> </a:t>
            </a:r>
            <a:r>
              <a:rPr lang="en-US" sz="2400" b="1" kern="1200" dirty="0" err="1">
                <a:solidFill>
                  <a:schemeClr val="tx1"/>
                </a:solidFill>
                <a:latin typeface="Source Sans Pro" panose="020B0503030403020204" pitchFamily="34" charset="0"/>
                <a:ea typeface="Source Sans Pro" panose="020B0503030403020204" pitchFamily="34" charset="0"/>
                <a:cs typeface="+mn-cs"/>
              </a:rPr>
              <a:t>firmará</a:t>
            </a:r>
            <a:r>
              <a:rPr lang="en-US" sz="2400" b="1" kern="1200" dirty="0">
                <a:solidFill>
                  <a:schemeClr val="tx1"/>
                </a:solidFill>
                <a:latin typeface="Source Sans Pro" panose="020B0503030403020204" pitchFamily="34" charset="0"/>
                <a:ea typeface="Source Sans Pro" panose="020B0503030403020204" pitchFamily="34" charset="0"/>
                <a:cs typeface="+mn-cs"/>
              </a:rPr>
              <a:t> un </a:t>
            </a:r>
            <a:r>
              <a:rPr lang="en-US" sz="2400" b="1" kern="1200" dirty="0" err="1">
                <a:solidFill>
                  <a:schemeClr val="tx1"/>
                </a:solidFill>
                <a:latin typeface="Source Sans Pro" panose="020B0503030403020204" pitchFamily="34" charset="0"/>
                <a:ea typeface="Source Sans Pro" panose="020B0503030403020204" pitchFamily="34" charset="0"/>
                <a:cs typeface="+mn-cs"/>
              </a:rPr>
              <a:t>consentimiento</a:t>
            </a:r>
            <a:r>
              <a:rPr lang="en-US" sz="2400" b="1" kern="1200" dirty="0">
                <a:solidFill>
                  <a:schemeClr val="tx1"/>
                </a:solidFill>
                <a:latin typeface="Source Sans Pro" panose="020B0503030403020204" pitchFamily="34" charset="0"/>
                <a:ea typeface="Source Sans Pro" panose="020B0503030403020204" pitchFamily="34" charset="0"/>
                <a:cs typeface="+mn-cs"/>
              </a:rPr>
              <a:t> </a:t>
            </a:r>
            <a:r>
              <a:rPr lang="en-US" sz="2400" b="1" kern="1200" dirty="0" err="1">
                <a:solidFill>
                  <a:schemeClr val="tx1"/>
                </a:solidFill>
                <a:latin typeface="Source Sans Pro" panose="020B0503030403020204" pitchFamily="34" charset="0"/>
                <a:ea typeface="Source Sans Pro" panose="020B0503030403020204" pitchFamily="34" charset="0"/>
                <a:cs typeface="+mn-cs"/>
              </a:rPr>
              <a:t>informado</a:t>
            </a:r>
            <a:r>
              <a:rPr lang="en-US" sz="2400" b="1" kern="1200" dirty="0">
                <a:solidFill>
                  <a:schemeClr val="tx1"/>
                </a:solidFill>
                <a:latin typeface="Source Sans Pro" panose="020B0503030403020204" pitchFamily="34" charset="0"/>
                <a:ea typeface="Source Sans Pro" panose="020B0503030403020204" pitchFamily="34" charset="0"/>
                <a:cs typeface="+mn-cs"/>
              </a:rPr>
              <a:t> antes de </a:t>
            </a:r>
            <a:r>
              <a:rPr lang="en-US" sz="2400" b="1" kern="1200" dirty="0" err="1">
                <a:solidFill>
                  <a:schemeClr val="tx1"/>
                </a:solidFill>
                <a:latin typeface="Source Sans Pro" panose="020B0503030403020204" pitchFamily="34" charset="0"/>
                <a:ea typeface="Source Sans Pro" panose="020B0503030403020204" pitchFamily="34" charset="0"/>
                <a:cs typeface="+mn-cs"/>
              </a:rPr>
              <a:t>iniciar</a:t>
            </a:r>
            <a:r>
              <a:rPr lang="en-US" sz="2400" b="1" kern="1200" dirty="0">
                <a:solidFill>
                  <a:schemeClr val="tx1"/>
                </a:solidFill>
                <a:latin typeface="Source Sans Pro" panose="020B0503030403020204" pitchFamily="34" charset="0"/>
                <a:ea typeface="Source Sans Pro" panose="020B0503030403020204" pitchFamily="34" charset="0"/>
                <a:cs typeface="+mn-cs"/>
              </a:rPr>
              <a:t> </a:t>
            </a:r>
            <a:r>
              <a:rPr lang="en-US" sz="2400" b="1" kern="1200" dirty="0" err="1">
                <a:solidFill>
                  <a:schemeClr val="tx1"/>
                </a:solidFill>
                <a:latin typeface="Source Sans Pro" panose="020B0503030403020204" pitchFamily="34" charset="0"/>
                <a:ea typeface="Source Sans Pro" panose="020B0503030403020204" pitchFamily="34" charset="0"/>
                <a:cs typeface="+mn-cs"/>
              </a:rPr>
              <a:t>el</a:t>
            </a:r>
            <a:r>
              <a:rPr lang="en-US" sz="2400" b="1" kern="1200" dirty="0">
                <a:solidFill>
                  <a:schemeClr val="tx1"/>
                </a:solidFill>
                <a:latin typeface="Source Sans Pro" panose="020B0503030403020204" pitchFamily="34" charset="0"/>
                <a:ea typeface="Source Sans Pro" panose="020B0503030403020204" pitchFamily="34" charset="0"/>
                <a:cs typeface="+mn-cs"/>
              </a:rPr>
              <a:t> </a:t>
            </a:r>
            <a:r>
              <a:rPr lang="en-US" sz="2400" b="1" kern="1200" dirty="0" err="1">
                <a:solidFill>
                  <a:schemeClr val="tx1"/>
                </a:solidFill>
                <a:latin typeface="Source Sans Pro" panose="020B0503030403020204" pitchFamily="34" charset="0"/>
                <a:ea typeface="Source Sans Pro" panose="020B0503030403020204" pitchFamily="34" charset="0"/>
                <a:cs typeface="+mn-cs"/>
              </a:rPr>
              <a:t>estudio</a:t>
            </a:r>
            <a:r>
              <a:rPr lang="en-US" sz="2400" kern="1200" dirty="0">
                <a:solidFill>
                  <a:schemeClr val="tx1"/>
                </a:solidFill>
                <a:latin typeface="Source Sans Pro" panose="020B0503030403020204" pitchFamily="34" charset="0"/>
                <a:ea typeface="Source Sans Pro" panose="020B0503030403020204" pitchFamily="34" charset="0"/>
                <a:cs typeface="+mn-cs"/>
              </a:rPr>
              <a:t>. </a:t>
            </a:r>
          </a:p>
          <a:p>
            <a:pPr indent="-228600" algn="just">
              <a:lnSpc>
                <a:spcPct val="90000"/>
              </a:lnSpc>
              <a:buFont typeface="Arial" panose="020B0604020202020204" pitchFamily="34" charset="0"/>
              <a:buChar char="•"/>
            </a:pPr>
            <a:endParaRPr lang="en-US" sz="2400" kern="1200" dirty="0">
              <a:solidFill>
                <a:schemeClr val="tx1"/>
              </a:solidFill>
              <a:latin typeface="Source Sans Pro" panose="020B0503030403020204" pitchFamily="34" charset="0"/>
              <a:ea typeface="Source Sans Pro" panose="020B0503030403020204" pitchFamily="34" charset="0"/>
              <a:cs typeface="+mn-cs"/>
            </a:endParaRPr>
          </a:p>
          <a:p>
            <a:pPr indent="-228600" algn="just">
              <a:lnSpc>
                <a:spcPct val="90000"/>
              </a:lnSpc>
              <a:buFont typeface="Arial" panose="020B0604020202020204" pitchFamily="34" charset="0"/>
              <a:buChar char="•"/>
            </a:pPr>
            <a:r>
              <a:rPr lang="en-US" sz="2400" kern="1200" dirty="0">
                <a:solidFill>
                  <a:schemeClr val="tx1"/>
                </a:solidFill>
                <a:latin typeface="Source Sans Pro" panose="020B0503030403020204" pitchFamily="34" charset="0"/>
                <a:ea typeface="Source Sans Pro" panose="020B0503030403020204" pitchFamily="34" charset="0"/>
                <a:cs typeface="+mn-cs"/>
              </a:rPr>
              <a:t>Este </a:t>
            </a:r>
            <a:r>
              <a:rPr lang="en-US" sz="2400" kern="1200" dirty="0" err="1">
                <a:solidFill>
                  <a:schemeClr val="tx1"/>
                </a:solidFill>
                <a:latin typeface="Source Sans Pro" panose="020B0503030403020204" pitchFamily="34" charset="0"/>
                <a:ea typeface="Source Sans Pro" panose="020B0503030403020204" pitchFamily="34" charset="0"/>
                <a:cs typeface="+mn-cs"/>
              </a:rPr>
              <a:t>trabajo</a:t>
            </a:r>
            <a:r>
              <a:rPr lang="en-US" sz="2400" kern="1200" dirty="0">
                <a:solidFill>
                  <a:schemeClr val="tx1"/>
                </a:solidFill>
                <a:latin typeface="Source Sans Pro" panose="020B0503030403020204" pitchFamily="34" charset="0"/>
                <a:ea typeface="Source Sans Pro" panose="020B0503030403020204" pitchFamily="34" charset="0"/>
                <a:cs typeface="+mn-cs"/>
              </a:rPr>
              <a:t> de </a:t>
            </a:r>
            <a:r>
              <a:rPr lang="en-US" sz="2400" kern="1200" dirty="0" err="1">
                <a:solidFill>
                  <a:schemeClr val="tx1"/>
                </a:solidFill>
                <a:latin typeface="Source Sans Pro" panose="020B0503030403020204" pitchFamily="34" charset="0"/>
                <a:ea typeface="Source Sans Pro" panose="020B0503030403020204" pitchFamily="34" charset="0"/>
                <a:cs typeface="+mn-cs"/>
              </a:rPr>
              <a:t>investigación</a:t>
            </a:r>
            <a:r>
              <a:rPr lang="en-US" sz="2400" kern="1200" dirty="0">
                <a:solidFill>
                  <a:schemeClr val="tx1"/>
                </a:solidFill>
                <a:latin typeface="Source Sans Pro" panose="020B0503030403020204" pitchFamily="34" charset="0"/>
                <a:ea typeface="Source Sans Pro" panose="020B0503030403020204" pitchFamily="34" charset="0"/>
                <a:cs typeface="+mn-cs"/>
              </a:rPr>
              <a:t> </a:t>
            </a:r>
            <a:r>
              <a:rPr lang="en-US" sz="2400" kern="1200" dirty="0" err="1">
                <a:solidFill>
                  <a:schemeClr val="tx1"/>
                </a:solidFill>
                <a:latin typeface="Source Sans Pro" panose="020B0503030403020204" pitchFamily="34" charset="0"/>
                <a:ea typeface="Source Sans Pro" panose="020B0503030403020204" pitchFamily="34" charset="0"/>
                <a:cs typeface="+mn-cs"/>
              </a:rPr>
              <a:t>cuenta</a:t>
            </a:r>
            <a:r>
              <a:rPr lang="en-US" sz="2400" kern="1200" dirty="0">
                <a:solidFill>
                  <a:schemeClr val="tx1"/>
                </a:solidFill>
                <a:latin typeface="Source Sans Pro" panose="020B0503030403020204" pitchFamily="34" charset="0"/>
                <a:ea typeface="Source Sans Pro" panose="020B0503030403020204" pitchFamily="34" charset="0"/>
                <a:cs typeface="+mn-cs"/>
              </a:rPr>
              <a:t> con aval </a:t>
            </a:r>
            <a:r>
              <a:rPr lang="en-US" sz="2400" kern="1200" dirty="0" err="1">
                <a:solidFill>
                  <a:schemeClr val="tx1"/>
                </a:solidFill>
                <a:latin typeface="Source Sans Pro" panose="020B0503030403020204" pitchFamily="34" charset="0"/>
                <a:ea typeface="Source Sans Pro" panose="020B0503030403020204" pitchFamily="34" charset="0"/>
                <a:cs typeface="+mn-cs"/>
              </a:rPr>
              <a:t>ético</a:t>
            </a:r>
            <a:r>
              <a:rPr lang="en-US" sz="2400" kern="1200" dirty="0">
                <a:solidFill>
                  <a:schemeClr val="tx1"/>
                </a:solidFill>
                <a:latin typeface="Source Sans Pro" panose="020B0503030403020204" pitchFamily="34" charset="0"/>
                <a:ea typeface="Source Sans Pro" panose="020B0503030403020204" pitchFamily="34" charset="0"/>
                <a:cs typeface="+mn-cs"/>
              </a:rPr>
              <a:t> del </a:t>
            </a:r>
            <a:r>
              <a:rPr lang="en-US" sz="2400" kern="1200" dirty="0" err="1">
                <a:solidFill>
                  <a:schemeClr val="tx1"/>
                </a:solidFill>
                <a:latin typeface="Source Sans Pro" panose="020B0503030403020204" pitchFamily="34" charset="0"/>
                <a:ea typeface="Source Sans Pro" panose="020B0503030403020204" pitchFamily="34" charset="0"/>
                <a:cs typeface="+mn-cs"/>
              </a:rPr>
              <a:t>comité</a:t>
            </a:r>
            <a:r>
              <a:rPr lang="en-US" sz="2400" kern="1200" dirty="0">
                <a:solidFill>
                  <a:schemeClr val="tx1"/>
                </a:solidFill>
                <a:latin typeface="Source Sans Pro" panose="020B0503030403020204" pitchFamily="34" charset="0"/>
                <a:ea typeface="Source Sans Pro" panose="020B0503030403020204" pitchFamily="34" charset="0"/>
                <a:cs typeface="+mn-cs"/>
              </a:rPr>
              <a:t> de </a:t>
            </a:r>
            <a:r>
              <a:rPr lang="en-US" sz="2400" kern="1200" dirty="0" err="1">
                <a:solidFill>
                  <a:schemeClr val="tx1"/>
                </a:solidFill>
                <a:latin typeface="Source Sans Pro" panose="020B0503030403020204" pitchFamily="34" charset="0"/>
                <a:ea typeface="Source Sans Pro" panose="020B0503030403020204" pitchFamily="34" charset="0"/>
                <a:cs typeface="+mn-cs"/>
              </a:rPr>
              <a:t>investigaciones</a:t>
            </a:r>
            <a:r>
              <a:rPr lang="en-US" sz="2400" kern="1200" dirty="0">
                <a:solidFill>
                  <a:schemeClr val="tx1"/>
                </a:solidFill>
                <a:latin typeface="Source Sans Pro" panose="020B0503030403020204" pitchFamily="34" charset="0"/>
                <a:ea typeface="Source Sans Pro" panose="020B0503030403020204" pitchFamily="34" charset="0"/>
                <a:cs typeface="+mn-cs"/>
              </a:rPr>
              <a:t> del HIC Bucaramanga - </a:t>
            </a:r>
            <a:r>
              <a:rPr lang="en-US" sz="2400" kern="1200" dirty="0" err="1">
                <a:solidFill>
                  <a:schemeClr val="tx1"/>
                </a:solidFill>
                <a:latin typeface="Source Sans Pro" panose="020B0503030403020204" pitchFamily="34" charset="0"/>
                <a:ea typeface="Source Sans Pro" panose="020B0503030403020204" pitchFamily="34" charset="0"/>
                <a:cs typeface="+mn-cs"/>
              </a:rPr>
              <a:t>fundación</a:t>
            </a:r>
            <a:r>
              <a:rPr lang="en-US" sz="2400" kern="1200" dirty="0">
                <a:solidFill>
                  <a:schemeClr val="tx1"/>
                </a:solidFill>
                <a:latin typeface="Source Sans Pro" panose="020B0503030403020204" pitchFamily="34" charset="0"/>
                <a:ea typeface="Source Sans Pro" panose="020B0503030403020204" pitchFamily="34" charset="0"/>
                <a:cs typeface="+mn-cs"/>
              </a:rPr>
              <a:t> cardiovascular de Bucaramanga Colombia.</a:t>
            </a:r>
          </a:p>
          <a:p>
            <a:pPr marL="228600" indent="0" algn="just">
              <a:lnSpc>
                <a:spcPct val="90000"/>
              </a:lnSpc>
              <a:buNone/>
            </a:pPr>
            <a:endParaRPr lang="en-US" sz="2400" kern="1200" dirty="0">
              <a:solidFill>
                <a:schemeClr val="tx1"/>
              </a:solidFill>
              <a:latin typeface="Source Sans Pro" panose="020B0503030403020204" pitchFamily="34" charset="0"/>
              <a:ea typeface="Source Sans Pro" panose="020B0503030403020204" pitchFamily="34" charset="0"/>
              <a:cs typeface="+mn-cs"/>
            </a:endParaRPr>
          </a:p>
          <a:p>
            <a:pPr marL="571500" algn="just">
              <a:lnSpc>
                <a:spcPct val="90000"/>
              </a:lnSpc>
            </a:pPr>
            <a:r>
              <a:rPr lang="en-US" sz="2400" b="1" kern="1200" dirty="0">
                <a:solidFill>
                  <a:schemeClr val="tx1"/>
                </a:solidFill>
                <a:latin typeface="Source Sans Pro" panose="020B0503030403020204" pitchFamily="34" charset="0"/>
                <a:ea typeface="Source Sans Pro" panose="020B0503030403020204" pitchFamily="34" charset="0"/>
                <a:cs typeface="+mn-cs"/>
              </a:rPr>
              <a:t>Acta No 005-2024</a:t>
            </a:r>
          </a:p>
        </p:txBody>
      </p:sp>
      <p:pic>
        <p:nvPicPr>
          <p:cNvPr id="2" name="Google Shape;93;p1" descr="No hay ninguna descripción de la foto disponible.">
            <a:extLst>
              <a:ext uri="{FF2B5EF4-FFF2-40B4-BE49-F238E27FC236}">
                <a16:creationId xmlns:a16="http://schemas.microsoft.com/office/drawing/2014/main" id="{8DDC4686-D74E-4A5E-FE77-6B689940278E}"/>
              </a:ext>
            </a:extLst>
          </p:cNvPr>
          <p:cNvPicPr preferRelativeResize="0"/>
          <p:nvPr/>
        </p:nvPicPr>
        <p:blipFill rotWithShape="1">
          <a:blip r:embed="rId2">
            <a:alphaModFix/>
          </a:blip>
          <a:srcRect l="26238" t="22935" r="26586" b="20031"/>
          <a:stretch>
            <a:fillRect/>
          </a:stretch>
        </p:blipFill>
        <p:spPr>
          <a:xfrm>
            <a:off x="15572314" y="9188181"/>
            <a:ext cx="1432577" cy="744819"/>
          </a:xfrm>
          <a:prstGeom prst="rect">
            <a:avLst/>
          </a:prstGeom>
          <a:noFill/>
          <a:ln>
            <a:noFill/>
          </a:ln>
        </p:spPr>
      </p:pic>
      <p:pic>
        <p:nvPicPr>
          <p:cNvPr id="4" name="Google Shape;94;p1" descr="Universidad El Bosque in Colombia : Reviews &amp; Rankings | Student ...">
            <a:extLst>
              <a:ext uri="{FF2B5EF4-FFF2-40B4-BE49-F238E27FC236}">
                <a16:creationId xmlns:a16="http://schemas.microsoft.com/office/drawing/2014/main" id="{39427358-9AB2-F7AD-15ED-0FAEEC62A56A}"/>
              </a:ext>
            </a:extLst>
          </p:cNvPr>
          <p:cNvPicPr preferRelativeResize="0"/>
          <p:nvPr/>
        </p:nvPicPr>
        <p:blipFill rotWithShape="1">
          <a:blip r:embed="rId3">
            <a:alphaModFix/>
          </a:blip>
          <a:srcRect l="14020" t="34765" r="17993" b="25071"/>
          <a:stretch>
            <a:fillRect/>
          </a:stretch>
        </p:blipFill>
        <p:spPr>
          <a:xfrm>
            <a:off x="13472494" y="9291254"/>
            <a:ext cx="1978341" cy="641746"/>
          </a:xfrm>
          <a:prstGeom prst="rect">
            <a:avLst/>
          </a:prstGeom>
          <a:noFill/>
          <a:ln>
            <a:noFill/>
          </a:ln>
        </p:spPr>
      </p:pic>
    </p:spTree>
    <p:extLst>
      <p:ext uri="{BB962C8B-B14F-4D97-AF65-F5344CB8AC3E}">
        <p14:creationId xmlns:p14="http://schemas.microsoft.com/office/powerpoint/2010/main" val="27299529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pic>
        <p:nvPicPr>
          <p:cNvPr id="14" name="Imagen 13">
            <a:extLst>
              <a:ext uri="{FF2B5EF4-FFF2-40B4-BE49-F238E27FC236}">
                <a16:creationId xmlns:a16="http://schemas.microsoft.com/office/drawing/2014/main" id="{0EE33048-BC86-C150-2D91-1090CEB2F45F}"/>
              </a:ext>
            </a:extLst>
          </p:cNvPr>
          <p:cNvPicPr>
            <a:picLocks noChangeAspect="1"/>
          </p:cNvPicPr>
          <p:nvPr/>
        </p:nvPicPr>
        <p:blipFill>
          <a:blip r:embed="rId3"/>
          <a:stretch>
            <a:fillRect/>
          </a:stretch>
        </p:blipFill>
        <p:spPr>
          <a:xfrm>
            <a:off x="8422956" y="4575553"/>
            <a:ext cx="1676400" cy="1616050"/>
          </a:xfrm>
          <a:prstGeom prst="rect">
            <a:avLst/>
          </a:prstGeom>
        </p:spPr>
      </p:pic>
      <p:pic>
        <p:nvPicPr>
          <p:cNvPr id="12" name="Imagen 11">
            <a:extLst>
              <a:ext uri="{FF2B5EF4-FFF2-40B4-BE49-F238E27FC236}">
                <a16:creationId xmlns:a16="http://schemas.microsoft.com/office/drawing/2014/main" id="{9B9BFC6E-15F8-DE40-90E5-573966C21854}"/>
              </a:ext>
            </a:extLst>
          </p:cNvPr>
          <p:cNvPicPr>
            <a:picLocks noChangeAspect="1"/>
          </p:cNvPicPr>
          <p:nvPr/>
        </p:nvPicPr>
        <p:blipFill>
          <a:blip r:embed="rId4"/>
          <a:stretch>
            <a:fillRect/>
          </a:stretch>
        </p:blipFill>
        <p:spPr>
          <a:xfrm>
            <a:off x="9306487" y="1004592"/>
            <a:ext cx="1676400" cy="1471960"/>
          </a:xfrm>
          <a:prstGeom prst="rect">
            <a:avLst/>
          </a:prstGeom>
        </p:spPr>
      </p:pic>
      <p:pic>
        <p:nvPicPr>
          <p:cNvPr id="10" name="Imagen 9">
            <a:extLst>
              <a:ext uri="{FF2B5EF4-FFF2-40B4-BE49-F238E27FC236}">
                <a16:creationId xmlns:a16="http://schemas.microsoft.com/office/drawing/2014/main" id="{F34DFDF2-839B-16AF-1D53-7F7C6791190C}"/>
              </a:ext>
            </a:extLst>
          </p:cNvPr>
          <p:cNvPicPr>
            <a:picLocks noChangeAspect="1"/>
          </p:cNvPicPr>
          <p:nvPr/>
        </p:nvPicPr>
        <p:blipFill>
          <a:blip r:embed="rId5"/>
          <a:stretch>
            <a:fillRect/>
          </a:stretch>
        </p:blipFill>
        <p:spPr>
          <a:xfrm>
            <a:off x="796621" y="5292498"/>
            <a:ext cx="1521615" cy="1305345"/>
          </a:xfrm>
          <a:prstGeom prst="rect">
            <a:avLst/>
          </a:prstGeom>
        </p:spPr>
      </p:pic>
      <p:pic>
        <p:nvPicPr>
          <p:cNvPr id="8" name="Imagen 7">
            <a:extLst>
              <a:ext uri="{FF2B5EF4-FFF2-40B4-BE49-F238E27FC236}">
                <a16:creationId xmlns:a16="http://schemas.microsoft.com/office/drawing/2014/main" id="{CA716DFE-7331-E330-C173-026C6E0BEBCF}"/>
              </a:ext>
            </a:extLst>
          </p:cNvPr>
          <p:cNvPicPr>
            <a:picLocks noChangeAspect="1"/>
          </p:cNvPicPr>
          <p:nvPr/>
        </p:nvPicPr>
        <p:blipFill>
          <a:blip r:embed="rId6"/>
          <a:stretch>
            <a:fillRect/>
          </a:stretch>
        </p:blipFill>
        <p:spPr>
          <a:xfrm>
            <a:off x="796622" y="1631720"/>
            <a:ext cx="1513913" cy="1278557"/>
          </a:xfrm>
          <a:prstGeom prst="rect">
            <a:avLst/>
          </a:prstGeom>
        </p:spPr>
      </p:pic>
      <p:sp>
        <p:nvSpPr>
          <p:cNvPr id="2" name="Rectángulo: esquinas redondeadas 1">
            <a:extLst>
              <a:ext uri="{FF2B5EF4-FFF2-40B4-BE49-F238E27FC236}">
                <a16:creationId xmlns:a16="http://schemas.microsoft.com/office/drawing/2014/main" id="{19EB5E8C-871A-929E-3562-520E80820FA6}"/>
              </a:ext>
            </a:extLst>
          </p:cNvPr>
          <p:cNvSpPr/>
          <p:nvPr/>
        </p:nvSpPr>
        <p:spPr>
          <a:xfrm>
            <a:off x="2137354" y="1740572"/>
            <a:ext cx="6521737" cy="291750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s-ES" sz="2400" dirty="0">
                <a:latin typeface="Source Sans Pro" panose="020B0503030403020204" pitchFamily="34" charset="0"/>
                <a:ea typeface="Source Sans Pro" panose="020B0503030403020204" pitchFamily="34" charset="0"/>
              </a:rPr>
              <a:t>Se espera caracterizar perfiles de metilación de </a:t>
            </a:r>
            <a:r>
              <a:rPr lang="es-ES" sz="2400" dirty="0" err="1">
                <a:latin typeface="Source Sans Pro" panose="020B0503030403020204" pitchFamily="34" charset="0"/>
                <a:ea typeface="Source Sans Pro" panose="020B0503030403020204" pitchFamily="34" charset="0"/>
              </a:rPr>
              <a:t>cfADN</a:t>
            </a:r>
            <a:r>
              <a:rPr lang="es-ES" sz="2400" dirty="0">
                <a:latin typeface="Source Sans Pro" panose="020B0503030403020204" pitchFamily="34" charset="0"/>
                <a:ea typeface="Source Sans Pro" panose="020B0503030403020204" pitchFamily="34" charset="0"/>
              </a:rPr>
              <a:t> y biopsias de pacientes con CU, evidenciando patrones específicos de </a:t>
            </a:r>
            <a:r>
              <a:rPr lang="es-ES" sz="2400" dirty="0" err="1">
                <a:latin typeface="Source Sans Pro" panose="020B0503030403020204" pitchFamily="34" charset="0"/>
                <a:ea typeface="Source Sans Pro" panose="020B0503030403020204" pitchFamily="34" charset="0"/>
              </a:rPr>
              <a:t>metilacion</a:t>
            </a:r>
            <a:r>
              <a:rPr lang="es-ES" sz="2400" dirty="0">
                <a:latin typeface="Source Sans Pro" panose="020B0503030403020204" pitchFamily="34" charset="0"/>
                <a:ea typeface="Source Sans Pro" panose="020B0503030403020204" pitchFamily="34" charset="0"/>
              </a:rPr>
              <a:t> que puedan servir como biomarcadores tempranos de diagnósticos. Esto permitirá identificar diferencias significativas en comparación con individuos sanos</a:t>
            </a:r>
          </a:p>
        </p:txBody>
      </p:sp>
      <p:sp>
        <p:nvSpPr>
          <p:cNvPr id="3" name="Rectángulo: esquinas redondeadas 2">
            <a:extLst>
              <a:ext uri="{FF2B5EF4-FFF2-40B4-BE49-F238E27FC236}">
                <a16:creationId xmlns:a16="http://schemas.microsoft.com/office/drawing/2014/main" id="{496C44B7-6B6A-4B48-32D2-ADEDF31E91AF}"/>
              </a:ext>
            </a:extLst>
          </p:cNvPr>
          <p:cNvSpPr/>
          <p:nvPr/>
        </p:nvSpPr>
        <p:spPr>
          <a:xfrm>
            <a:off x="10663858" y="1658044"/>
            <a:ext cx="6827520" cy="2917509"/>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s-ES" sz="2400" dirty="0">
                <a:latin typeface="Source Sans Pro" panose="020B0503030403020204" pitchFamily="34" charset="0"/>
                <a:ea typeface="Source Sans Pro" panose="020B0503030403020204" pitchFamily="34" charset="0"/>
              </a:rPr>
              <a:t>Al evaluar los niveles de </a:t>
            </a:r>
            <a:r>
              <a:rPr lang="es-ES" sz="2400" dirty="0" err="1">
                <a:latin typeface="Source Sans Pro" panose="020B0503030403020204" pitchFamily="34" charset="0"/>
                <a:ea typeface="Source Sans Pro" panose="020B0503030403020204" pitchFamily="34" charset="0"/>
              </a:rPr>
              <a:t>SIgA</a:t>
            </a:r>
            <a:r>
              <a:rPr lang="es-ES" sz="2400" dirty="0">
                <a:latin typeface="Source Sans Pro" panose="020B0503030403020204" pitchFamily="34" charset="0"/>
                <a:ea typeface="Source Sans Pro" panose="020B0503030403020204" pitchFamily="34" charset="0"/>
              </a:rPr>
              <a:t> en pacientes con la enfermedad y su relación con las firmas de metilación, se espera encontrar que estos niveles están disminuidos en pacientes con CU y CCR en comparación con individuos sanos, lo que podría indicar disfunción en la respuesta inmune local. </a:t>
            </a:r>
            <a:endParaRPr lang="es-ES" sz="3600" dirty="0">
              <a:latin typeface="Source Sans Pro" panose="020B0503030403020204" pitchFamily="34" charset="0"/>
              <a:ea typeface="Source Sans Pro" panose="020B0503030403020204" pitchFamily="34" charset="0"/>
            </a:endParaRPr>
          </a:p>
        </p:txBody>
      </p:sp>
      <p:sp>
        <p:nvSpPr>
          <p:cNvPr id="4" name="Rectángulo: esquinas redondeadas 3">
            <a:extLst>
              <a:ext uri="{FF2B5EF4-FFF2-40B4-BE49-F238E27FC236}">
                <a16:creationId xmlns:a16="http://schemas.microsoft.com/office/drawing/2014/main" id="{CFA9CA8E-FFAC-04D1-2F59-4790510210D3}"/>
              </a:ext>
            </a:extLst>
          </p:cNvPr>
          <p:cNvSpPr/>
          <p:nvPr/>
        </p:nvSpPr>
        <p:spPr>
          <a:xfrm>
            <a:off x="1867592" y="6173586"/>
            <a:ext cx="6644641" cy="2691497"/>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s-ES" sz="2400" dirty="0">
                <a:latin typeface="Source Sans Pro" panose="020B0503030403020204" pitchFamily="34" charset="0"/>
                <a:ea typeface="Source Sans Pro" panose="020B0503030403020204" pitchFamily="34" charset="0"/>
              </a:rPr>
              <a:t>Se espera que la correlación entre los niveles de </a:t>
            </a:r>
            <a:r>
              <a:rPr lang="es-ES" sz="2400" dirty="0" err="1">
                <a:latin typeface="Source Sans Pro" panose="020B0503030403020204" pitchFamily="34" charset="0"/>
                <a:ea typeface="Source Sans Pro" panose="020B0503030403020204" pitchFamily="34" charset="0"/>
              </a:rPr>
              <a:t>SIgA</a:t>
            </a:r>
            <a:r>
              <a:rPr lang="es-ES" sz="2400" dirty="0">
                <a:latin typeface="Source Sans Pro" panose="020B0503030403020204" pitchFamily="34" charset="0"/>
                <a:ea typeface="Source Sans Pro" panose="020B0503030403020204" pitchFamily="34" charset="0"/>
              </a:rPr>
              <a:t> y los patrones de metilación muestre que ciertos genes relacionados con la regulación de la respuesta inmune están </a:t>
            </a:r>
            <a:r>
              <a:rPr lang="es-ES" sz="2400" dirty="0" err="1">
                <a:latin typeface="Source Sans Pro" panose="020B0503030403020204" pitchFamily="34" charset="0"/>
                <a:ea typeface="Source Sans Pro" panose="020B0503030403020204" pitchFamily="34" charset="0"/>
              </a:rPr>
              <a:t>hipermetilados</a:t>
            </a:r>
            <a:r>
              <a:rPr lang="es-ES" sz="2400" dirty="0">
                <a:latin typeface="Source Sans Pro" panose="020B0503030403020204" pitchFamily="34" charset="0"/>
                <a:ea typeface="Source Sans Pro" panose="020B0503030403020204" pitchFamily="34" charset="0"/>
              </a:rPr>
              <a:t>, sugiriendo que la metilación del ADN puede afectar la producción de </a:t>
            </a:r>
            <a:r>
              <a:rPr lang="es-ES" sz="2400" dirty="0" err="1">
                <a:latin typeface="Source Sans Pro" panose="020B0503030403020204" pitchFamily="34" charset="0"/>
                <a:ea typeface="Source Sans Pro" panose="020B0503030403020204" pitchFamily="34" charset="0"/>
              </a:rPr>
              <a:t>SIgA</a:t>
            </a:r>
            <a:endParaRPr lang="es-ES" sz="2400" dirty="0">
              <a:latin typeface="Source Sans Pro" panose="020B0503030403020204" pitchFamily="34" charset="0"/>
              <a:ea typeface="Source Sans Pro" panose="020B0503030403020204" pitchFamily="34" charset="0"/>
            </a:endParaRPr>
          </a:p>
          <a:p>
            <a:pPr algn="ctr"/>
            <a:endParaRPr lang="es-ES" sz="3200" dirty="0"/>
          </a:p>
        </p:txBody>
      </p:sp>
      <p:sp>
        <p:nvSpPr>
          <p:cNvPr id="5" name="Rectángulo: esquinas redondeadas 4">
            <a:extLst>
              <a:ext uri="{FF2B5EF4-FFF2-40B4-BE49-F238E27FC236}">
                <a16:creationId xmlns:a16="http://schemas.microsoft.com/office/drawing/2014/main" id="{7A3D206C-FDAF-F12A-38B4-8ECFB8D11875}"/>
              </a:ext>
            </a:extLst>
          </p:cNvPr>
          <p:cNvSpPr/>
          <p:nvPr/>
        </p:nvSpPr>
        <p:spPr>
          <a:xfrm>
            <a:off x="9494520" y="5593079"/>
            <a:ext cx="6827520" cy="2828657"/>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s-ES" sz="2400" dirty="0">
                <a:latin typeface="Source Sans Pro" panose="020B0503030403020204" pitchFamily="34" charset="0"/>
                <a:ea typeface="Source Sans Pro" panose="020B0503030403020204" pitchFamily="34" charset="0"/>
              </a:rPr>
              <a:t>Finalmente, al analizar el conjunto de los factores descritos, estos proporcionaran un entendimiento más profundo de los mecanismos patogénicos subyacentes y su potencial aplicación en estrategias de vigilancia y prevención del CCR. </a:t>
            </a:r>
            <a:endParaRPr lang="es-ES" sz="4800" dirty="0">
              <a:latin typeface="Source Sans Pro" panose="020B0503030403020204" pitchFamily="34" charset="0"/>
              <a:ea typeface="Source Sans Pro" panose="020B0503030403020204" pitchFamily="34" charset="0"/>
            </a:endParaRPr>
          </a:p>
        </p:txBody>
      </p:sp>
      <p:sp>
        <p:nvSpPr>
          <p:cNvPr id="6" name="Google Shape;430;p29">
            <a:extLst>
              <a:ext uri="{FF2B5EF4-FFF2-40B4-BE49-F238E27FC236}">
                <a16:creationId xmlns:a16="http://schemas.microsoft.com/office/drawing/2014/main" id="{28FF6D2E-8112-A9AD-995B-49E936A8FC54}"/>
              </a:ext>
            </a:extLst>
          </p:cNvPr>
          <p:cNvSpPr txBox="1"/>
          <p:nvPr/>
        </p:nvSpPr>
        <p:spPr>
          <a:xfrm>
            <a:off x="408875" y="244380"/>
            <a:ext cx="5906729" cy="861774"/>
          </a:xfrm>
          <a:prstGeom prst="rect">
            <a:avLst/>
          </a:prstGeom>
          <a:solidFill>
            <a:schemeClr val="lt1"/>
          </a:solidFill>
          <a:ln w="25400" cap="flat" cmpd="sng">
            <a:solidFill>
              <a:schemeClr val="bg1"/>
            </a:solidFill>
            <a:prstDash val="solid"/>
            <a:round/>
            <a:headEnd type="none" w="sm" len="sm"/>
            <a:tailEnd type="none" w="sm" len="sm"/>
          </a:ln>
        </p:spPr>
        <p:txBody>
          <a:bodyPr spcFirstLastPara="1" wrap="square" lIns="0" tIns="0" rIns="0" bIns="0" anchor="t" anchorCtr="0">
            <a:spAutoFit/>
          </a:bodyPr>
          <a:lstStyle/>
          <a:p>
            <a:pPr algn="ctr">
              <a:lnSpc>
                <a:spcPct val="140007"/>
              </a:lnSpc>
            </a:pPr>
            <a:r>
              <a:rPr lang="en-US" sz="4000" b="1" dirty="0">
                <a:solidFill>
                  <a:srgbClr val="3F3F3F"/>
                </a:solidFill>
                <a:latin typeface="Source Sans Pro"/>
                <a:ea typeface="Source Sans Pro"/>
              </a:rPr>
              <a:t>Resultados Esperados</a:t>
            </a:r>
            <a:endParaRPr sz="1050" dirty="0">
              <a:solidFill>
                <a:srgbClr val="3F3F3F"/>
              </a:solidFill>
              <a:latin typeface="Source Sans Pro"/>
              <a:ea typeface="Source Sans Pro"/>
            </a:endParaRPr>
          </a:p>
        </p:txBody>
      </p:sp>
      <p:pic>
        <p:nvPicPr>
          <p:cNvPr id="15" name="Google Shape;93;p1" descr="No hay ninguna descripción de la foto disponible.">
            <a:extLst>
              <a:ext uri="{FF2B5EF4-FFF2-40B4-BE49-F238E27FC236}">
                <a16:creationId xmlns:a16="http://schemas.microsoft.com/office/drawing/2014/main" id="{6B95DCA3-E699-5493-E2D8-86D5A3921669}"/>
              </a:ext>
            </a:extLst>
          </p:cNvPr>
          <p:cNvPicPr preferRelativeResize="0"/>
          <p:nvPr/>
        </p:nvPicPr>
        <p:blipFill rotWithShape="1">
          <a:blip r:embed="rId7">
            <a:alphaModFix/>
          </a:blip>
          <a:srcRect l="26238" t="22935" r="26586" b="20031"/>
          <a:stretch>
            <a:fillRect/>
          </a:stretch>
        </p:blipFill>
        <p:spPr>
          <a:xfrm>
            <a:off x="15572314" y="9188181"/>
            <a:ext cx="1432577" cy="744819"/>
          </a:xfrm>
          <a:prstGeom prst="rect">
            <a:avLst/>
          </a:prstGeom>
          <a:noFill/>
          <a:ln>
            <a:noFill/>
          </a:ln>
        </p:spPr>
      </p:pic>
      <p:pic>
        <p:nvPicPr>
          <p:cNvPr id="16" name="Google Shape;94;p1" descr="Universidad El Bosque in Colombia : Reviews &amp; Rankings | Student ...">
            <a:extLst>
              <a:ext uri="{FF2B5EF4-FFF2-40B4-BE49-F238E27FC236}">
                <a16:creationId xmlns:a16="http://schemas.microsoft.com/office/drawing/2014/main" id="{8AD59974-B605-41CC-40A8-97F6AE283DE4}"/>
              </a:ext>
            </a:extLst>
          </p:cNvPr>
          <p:cNvPicPr preferRelativeResize="0"/>
          <p:nvPr/>
        </p:nvPicPr>
        <p:blipFill rotWithShape="1">
          <a:blip r:embed="rId8">
            <a:alphaModFix/>
          </a:blip>
          <a:srcRect l="14020" t="34765" r="17993" b="25071"/>
          <a:stretch>
            <a:fillRect/>
          </a:stretch>
        </p:blipFill>
        <p:spPr>
          <a:xfrm>
            <a:off x="13472494" y="9291254"/>
            <a:ext cx="1978341" cy="64174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1E71B8D-2B50-7709-E1EB-F67164FDF3D5}"/>
              </a:ext>
            </a:extLst>
          </p:cNvPr>
          <p:cNvPicPr>
            <a:picLocks noChangeAspect="1"/>
          </p:cNvPicPr>
          <p:nvPr/>
        </p:nvPicPr>
        <p:blipFill>
          <a:blip r:embed="rId2"/>
          <a:stretch>
            <a:fillRect/>
          </a:stretch>
        </p:blipFill>
        <p:spPr>
          <a:xfrm>
            <a:off x="5378937" y="656795"/>
            <a:ext cx="10212778" cy="451509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Imagen 6">
            <a:extLst>
              <a:ext uri="{FF2B5EF4-FFF2-40B4-BE49-F238E27FC236}">
                <a16:creationId xmlns:a16="http://schemas.microsoft.com/office/drawing/2014/main" id="{5129D23B-16C1-810C-B2CC-32053F1A70C0}"/>
              </a:ext>
            </a:extLst>
          </p:cNvPr>
          <p:cNvPicPr>
            <a:picLocks noChangeAspect="1"/>
          </p:cNvPicPr>
          <p:nvPr/>
        </p:nvPicPr>
        <p:blipFill>
          <a:blip r:embed="rId3"/>
          <a:stretch>
            <a:fillRect/>
          </a:stretch>
        </p:blipFill>
        <p:spPr>
          <a:xfrm>
            <a:off x="5378938" y="5433159"/>
            <a:ext cx="10212778" cy="450454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 name="Google Shape;430;p29">
            <a:extLst>
              <a:ext uri="{FF2B5EF4-FFF2-40B4-BE49-F238E27FC236}">
                <a16:creationId xmlns:a16="http://schemas.microsoft.com/office/drawing/2014/main" id="{F84B6FE1-AE22-7261-9CAF-71E5C972E552}"/>
              </a:ext>
            </a:extLst>
          </p:cNvPr>
          <p:cNvSpPr txBox="1"/>
          <p:nvPr/>
        </p:nvSpPr>
        <p:spPr>
          <a:xfrm>
            <a:off x="387424" y="4571385"/>
            <a:ext cx="4617720" cy="861774"/>
          </a:xfrm>
          <a:prstGeom prst="rect">
            <a:avLst/>
          </a:prstGeom>
          <a:solidFill>
            <a:schemeClr val="lt1"/>
          </a:solidFill>
          <a:ln w="25400" cap="flat" cmpd="sng">
            <a:solidFill>
              <a:schemeClr val="tx1"/>
            </a:solidFill>
            <a:prstDash val="dash"/>
            <a:round/>
            <a:headEnd type="none" w="sm" len="sm"/>
            <a:tailEnd type="none" w="sm" len="sm"/>
          </a:ln>
        </p:spPr>
        <p:txBody>
          <a:bodyPr spcFirstLastPara="1" wrap="square" lIns="0" tIns="0" rIns="0" bIns="0" anchor="t" anchorCtr="0">
            <a:spAutoFit/>
          </a:bodyPr>
          <a:lstStyle/>
          <a:p>
            <a:pPr algn="ctr">
              <a:lnSpc>
                <a:spcPct val="140007"/>
              </a:lnSpc>
            </a:pPr>
            <a:r>
              <a:rPr lang="en-US" sz="4000" b="1" dirty="0">
                <a:solidFill>
                  <a:srgbClr val="3F3F3F"/>
                </a:solidFill>
                <a:latin typeface="Source Sans Pro"/>
                <a:ea typeface="Source Sans Pro"/>
              </a:rPr>
              <a:t>Presupuesto</a:t>
            </a:r>
          </a:p>
        </p:txBody>
      </p:sp>
      <p:sp>
        <p:nvSpPr>
          <p:cNvPr id="4" name="CuadroTexto 3">
            <a:extLst>
              <a:ext uri="{FF2B5EF4-FFF2-40B4-BE49-F238E27FC236}">
                <a16:creationId xmlns:a16="http://schemas.microsoft.com/office/drawing/2014/main" id="{26C47F20-B45C-9F84-058F-DE3AB27F93FF}"/>
              </a:ext>
            </a:extLst>
          </p:cNvPr>
          <p:cNvSpPr txBox="1"/>
          <p:nvPr/>
        </p:nvSpPr>
        <p:spPr>
          <a:xfrm>
            <a:off x="1238959" y="6400559"/>
            <a:ext cx="2914650" cy="369332"/>
          </a:xfrm>
          <a:prstGeom prst="rect">
            <a:avLst/>
          </a:prstGeom>
          <a:noFill/>
        </p:spPr>
        <p:txBody>
          <a:bodyPr wrap="square">
            <a:spAutoFit/>
          </a:bodyPr>
          <a:lstStyle/>
          <a:p>
            <a:pPr algn="ctr">
              <a:lnSpc>
                <a:spcPct val="90000"/>
              </a:lnSpc>
            </a:pPr>
            <a:r>
              <a:rPr lang="en-US" sz="2000" b="1" kern="1200" dirty="0">
                <a:solidFill>
                  <a:schemeClr val="tx1"/>
                </a:solidFill>
                <a:latin typeface="+mn-lt"/>
                <a:ea typeface="+mn-ea"/>
                <a:cs typeface="+mn-cs"/>
              </a:rPr>
              <a:t>PCI-2024-0016 </a:t>
            </a:r>
          </a:p>
        </p:txBody>
      </p:sp>
      <p:pic>
        <p:nvPicPr>
          <p:cNvPr id="6" name="Google Shape;93;p1" descr="No hay ninguna descripción de la foto disponible.">
            <a:extLst>
              <a:ext uri="{FF2B5EF4-FFF2-40B4-BE49-F238E27FC236}">
                <a16:creationId xmlns:a16="http://schemas.microsoft.com/office/drawing/2014/main" id="{BAB5EFE1-938A-9E78-59AB-0760876C3744}"/>
              </a:ext>
            </a:extLst>
          </p:cNvPr>
          <p:cNvPicPr preferRelativeResize="0"/>
          <p:nvPr/>
        </p:nvPicPr>
        <p:blipFill rotWithShape="1">
          <a:blip r:embed="rId4">
            <a:alphaModFix/>
          </a:blip>
          <a:srcRect l="26238" t="22935" r="26586" b="20031"/>
          <a:stretch>
            <a:fillRect/>
          </a:stretch>
        </p:blipFill>
        <p:spPr>
          <a:xfrm>
            <a:off x="2349608" y="127308"/>
            <a:ext cx="1432577" cy="744819"/>
          </a:xfrm>
          <a:prstGeom prst="rect">
            <a:avLst/>
          </a:prstGeom>
          <a:noFill/>
          <a:ln>
            <a:noFill/>
          </a:ln>
        </p:spPr>
      </p:pic>
      <p:pic>
        <p:nvPicPr>
          <p:cNvPr id="8" name="Google Shape;94;p1" descr="Universidad El Bosque in Colombia : Reviews &amp; Rankings | Student ...">
            <a:extLst>
              <a:ext uri="{FF2B5EF4-FFF2-40B4-BE49-F238E27FC236}">
                <a16:creationId xmlns:a16="http://schemas.microsoft.com/office/drawing/2014/main" id="{D9511974-AF1E-BFEF-A1D5-8806F77091FB}"/>
              </a:ext>
            </a:extLst>
          </p:cNvPr>
          <p:cNvPicPr preferRelativeResize="0"/>
          <p:nvPr/>
        </p:nvPicPr>
        <p:blipFill rotWithShape="1">
          <a:blip r:embed="rId5">
            <a:alphaModFix/>
          </a:blip>
          <a:srcRect l="14020" t="34765" r="17993" b="25071"/>
          <a:stretch>
            <a:fillRect/>
          </a:stretch>
        </p:blipFill>
        <p:spPr>
          <a:xfrm>
            <a:off x="249788" y="230381"/>
            <a:ext cx="1978341" cy="641746"/>
          </a:xfrm>
          <a:prstGeom prst="rect">
            <a:avLst/>
          </a:prstGeom>
          <a:noFill/>
          <a:ln>
            <a:noFill/>
          </a:ln>
        </p:spPr>
      </p:pic>
    </p:spTree>
    <p:extLst>
      <p:ext uri="{BB962C8B-B14F-4D97-AF65-F5344CB8AC3E}">
        <p14:creationId xmlns:p14="http://schemas.microsoft.com/office/powerpoint/2010/main" val="42219952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35"/>
        <p:cNvGrpSpPr/>
        <p:nvPr/>
      </p:nvGrpSpPr>
      <p:grpSpPr>
        <a:xfrm>
          <a:off x="0" y="0"/>
          <a:ext cx="0" cy="0"/>
          <a:chOff x="0" y="0"/>
          <a:chExt cx="0" cy="0"/>
        </a:xfrm>
      </p:grpSpPr>
      <p:sp>
        <p:nvSpPr>
          <p:cNvPr id="436" name="Google Shape;436;p31"/>
          <p:cNvSpPr/>
          <p:nvPr/>
        </p:nvSpPr>
        <p:spPr>
          <a:xfrm>
            <a:off x="0" y="0"/>
            <a:ext cx="18288000" cy="10287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7" name="Google Shape;437;p31"/>
          <p:cNvSpPr/>
          <p:nvPr/>
        </p:nvSpPr>
        <p:spPr>
          <a:xfrm rot="-2700000" flipH="1">
            <a:off x="-564234" y="-380505"/>
            <a:ext cx="2741457" cy="2065483"/>
          </a:xfrm>
          <a:custGeom>
            <a:avLst/>
            <a:gdLst/>
            <a:ahLst/>
            <a:cxnLst/>
            <a:rect l="l" t="t" r="r" b="b"/>
            <a:pathLst>
              <a:path w="1827638" h="1376989" extrusionOk="0">
                <a:moveTo>
                  <a:pt x="0" y="987379"/>
                </a:moveTo>
                <a:lnTo>
                  <a:pt x="987379" y="0"/>
                </a:lnTo>
                <a:lnTo>
                  <a:pt x="1827638" y="840260"/>
                </a:lnTo>
                <a:lnTo>
                  <a:pt x="1827638" y="1376989"/>
                </a:lnTo>
                <a:lnTo>
                  <a:pt x="0" y="1376989"/>
                </a:lnTo>
                <a:close/>
              </a:path>
            </a:pathLst>
          </a:cu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8" name="Google Shape;438;p31"/>
          <p:cNvSpPr/>
          <p:nvPr/>
        </p:nvSpPr>
        <p:spPr>
          <a:xfrm rot="-2700000" flipH="1">
            <a:off x="1337461" y="633219"/>
            <a:ext cx="968052" cy="968052"/>
          </a:xfrm>
          <a:prstGeom prst="rect">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9" name="Google Shape;439;p31"/>
          <p:cNvSpPr/>
          <p:nvPr/>
        </p:nvSpPr>
        <p:spPr>
          <a:xfrm rot="-2700000" flipH="1">
            <a:off x="15065223" y="982710"/>
            <a:ext cx="1031208" cy="1031208"/>
          </a:xfrm>
          <a:prstGeom prst="rect">
            <a:avLst/>
          </a:prstGeom>
          <a:solidFill>
            <a:schemeClr val="accent4">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0" name="Google Shape;440;p31"/>
          <p:cNvSpPr/>
          <p:nvPr/>
        </p:nvSpPr>
        <p:spPr>
          <a:xfrm rot="10800000" flipH="1">
            <a:off x="14034964" y="0"/>
            <a:ext cx="4253036" cy="2221255"/>
          </a:xfrm>
          <a:custGeom>
            <a:avLst/>
            <a:gdLst/>
            <a:ahLst/>
            <a:cxnLst/>
            <a:rect l="l" t="t" r="r" b="b"/>
            <a:pathLst>
              <a:path w="2835357" h="1480837" extrusionOk="0">
                <a:moveTo>
                  <a:pt x="2835357" y="1480837"/>
                </a:moveTo>
                <a:lnTo>
                  <a:pt x="0" y="1480837"/>
                </a:lnTo>
                <a:lnTo>
                  <a:pt x="1552727" y="0"/>
                </a:lnTo>
                <a:lnTo>
                  <a:pt x="2835357" y="1223245"/>
                </a:lnTo>
                <a:close/>
              </a:path>
            </a:pathLst>
          </a:custGeom>
          <a:solidFill>
            <a:schemeClr val="accent4">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1" name="Google Shape;441;p31"/>
          <p:cNvSpPr/>
          <p:nvPr/>
        </p:nvSpPr>
        <p:spPr>
          <a:xfrm flipH="1">
            <a:off x="11964516" y="9173251"/>
            <a:ext cx="2241769" cy="1113749"/>
          </a:xfrm>
          <a:prstGeom prst="triangle">
            <a:avLst>
              <a:gd name="adj" fmla="val 50000"/>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43" name="Google Shape;443;p31"/>
          <p:cNvSpPr/>
          <p:nvPr/>
        </p:nvSpPr>
        <p:spPr>
          <a:xfrm flipH="1">
            <a:off x="11406120" y="9679714"/>
            <a:ext cx="1222354" cy="607286"/>
          </a:xfrm>
          <a:prstGeom prst="triangle">
            <a:avLst>
              <a:gd name="adj" fmla="val 50000"/>
            </a:avLst>
          </a:prstGeom>
          <a:solidFill>
            <a:schemeClr val="accent1">
              <a:alpha val="2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 name="Imagen 2">
            <a:extLst>
              <a:ext uri="{FF2B5EF4-FFF2-40B4-BE49-F238E27FC236}">
                <a16:creationId xmlns:a16="http://schemas.microsoft.com/office/drawing/2014/main" id="{DE302FD3-E385-71C2-690D-5499549BF0B5}"/>
              </a:ext>
            </a:extLst>
          </p:cNvPr>
          <p:cNvPicPr>
            <a:picLocks noChangeAspect="1"/>
          </p:cNvPicPr>
          <p:nvPr/>
        </p:nvPicPr>
        <p:blipFill>
          <a:blip r:embed="rId3"/>
          <a:stretch>
            <a:fillRect/>
          </a:stretch>
        </p:blipFill>
        <p:spPr>
          <a:xfrm>
            <a:off x="1278464" y="2821741"/>
            <a:ext cx="14632417" cy="6995265"/>
          </a:xfrm>
          <a:prstGeom prst="rect">
            <a:avLst/>
          </a:prstGeom>
        </p:spPr>
      </p:pic>
      <p:sp>
        <p:nvSpPr>
          <p:cNvPr id="5" name="Google Shape;430;p29">
            <a:extLst>
              <a:ext uri="{FF2B5EF4-FFF2-40B4-BE49-F238E27FC236}">
                <a16:creationId xmlns:a16="http://schemas.microsoft.com/office/drawing/2014/main" id="{7A366FBE-B1DD-130B-BB88-6CA0AC6D6C65}"/>
              </a:ext>
            </a:extLst>
          </p:cNvPr>
          <p:cNvSpPr txBox="1"/>
          <p:nvPr/>
        </p:nvSpPr>
        <p:spPr>
          <a:xfrm>
            <a:off x="4943695" y="1110628"/>
            <a:ext cx="8141705" cy="861774"/>
          </a:xfrm>
          <a:prstGeom prst="rect">
            <a:avLst/>
          </a:prstGeom>
          <a:solidFill>
            <a:schemeClr val="lt1"/>
          </a:solidFill>
          <a:ln w="25400" cap="flat" cmpd="sng">
            <a:solidFill>
              <a:schemeClr val="bg1"/>
            </a:solidFill>
            <a:prstDash val="solid"/>
            <a:round/>
            <a:headEnd type="none" w="sm" len="sm"/>
            <a:tailEnd type="none" w="sm" len="sm"/>
          </a:ln>
        </p:spPr>
        <p:txBody>
          <a:bodyPr spcFirstLastPara="1" wrap="square" lIns="0" tIns="0" rIns="0" bIns="0" anchor="t" anchorCtr="0">
            <a:spAutoFit/>
          </a:bodyPr>
          <a:lstStyle/>
          <a:p>
            <a:pPr algn="ctr">
              <a:lnSpc>
                <a:spcPct val="140007"/>
              </a:lnSpc>
            </a:pPr>
            <a:r>
              <a:rPr lang="en-US" sz="4000" b="1" dirty="0">
                <a:solidFill>
                  <a:srgbClr val="3F3F3F"/>
                </a:solidFill>
                <a:latin typeface="Source Sans Pro"/>
                <a:ea typeface="Source Sans Pro"/>
              </a:rPr>
              <a:t>Cronograma de actividades</a:t>
            </a:r>
            <a:endParaRPr sz="1050" dirty="0">
              <a:solidFill>
                <a:srgbClr val="3F3F3F"/>
              </a:solidFill>
              <a:latin typeface="Source Sans Pro"/>
              <a:ea typeface="Source Sans Pro"/>
            </a:endParaRPr>
          </a:p>
        </p:txBody>
      </p:sp>
      <p:pic>
        <p:nvPicPr>
          <p:cNvPr id="2" name="Google Shape;93;p1" descr="No hay ninguna descripción de la foto disponible.">
            <a:extLst>
              <a:ext uri="{FF2B5EF4-FFF2-40B4-BE49-F238E27FC236}">
                <a16:creationId xmlns:a16="http://schemas.microsoft.com/office/drawing/2014/main" id="{4A620FCC-A389-C989-D64F-7546468BD1EE}"/>
              </a:ext>
            </a:extLst>
          </p:cNvPr>
          <p:cNvPicPr preferRelativeResize="0"/>
          <p:nvPr/>
        </p:nvPicPr>
        <p:blipFill rotWithShape="1">
          <a:blip r:embed="rId4">
            <a:alphaModFix/>
          </a:blip>
          <a:srcRect l="26238" t="22935" r="26586" b="20031"/>
          <a:stretch>
            <a:fillRect/>
          </a:stretch>
        </p:blipFill>
        <p:spPr>
          <a:xfrm>
            <a:off x="2506004" y="41248"/>
            <a:ext cx="1432577" cy="744819"/>
          </a:xfrm>
          <a:prstGeom prst="rect">
            <a:avLst/>
          </a:prstGeom>
          <a:noFill/>
          <a:ln>
            <a:noFill/>
          </a:ln>
        </p:spPr>
      </p:pic>
      <p:pic>
        <p:nvPicPr>
          <p:cNvPr id="4" name="Google Shape;94;p1" descr="Universidad El Bosque in Colombia : Reviews &amp; Rankings | Student ...">
            <a:extLst>
              <a:ext uri="{FF2B5EF4-FFF2-40B4-BE49-F238E27FC236}">
                <a16:creationId xmlns:a16="http://schemas.microsoft.com/office/drawing/2014/main" id="{46D32E59-BB5D-FFF2-9043-1EABFD22281D}"/>
              </a:ext>
            </a:extLst>
          </p:cNvPr>
          <p:cNvPicPr preferRelativeResize="0"/>
          <p:nvPr/>
        </p:nvPicPr>
        <p:blipFill rotWithShape="1">
          <a:blip r:embed="rId5">
            <a:alphaModFix/>
          </a:blip>
          <a:srcRect l="14020" t="34765" r="17993" b="25071"/>
          <a:stretch>
            <a:fillRect/>
          </a:stretch>
        </p:blipFill>
        <p:spPr>
          <a:xfrm>
            <a:off x="406184" y="144321"/>
            <a:ext cx="1978341" cy="64174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4401</TotalTime>
  <Words>4536</Words>
  <Application>Microsoft Office PowerPoint</Application>
  <PresentationFormat>Personalizado</PresentationFormat>
  <Paragraphs>331</Paragraphs>
  <Slides>30</Slides>
  <Notes>24</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30</vt:i4>
      </vt:variant>
    </vt:vector>
  </HeadingPairs>
  <TitlesOfParts>
    <vt:vector size="37" baseType="lpstr">
      <vt:lpstr>Calibri</vt:lpstr>
      <vt:lpstr>Arial</vt:lpstr>
      <vt:lpstr>BlinkMacSystemFont</vt:lpstr>
      <vt:lpstr>Wingdings</vt:lpstr>
      <vt:lpstr>Open Sans</vt:lpstr>
      <vt:lpstr>Source Sans Pro</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PREGUNTA DE INVESTIGACION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ALEJANDRA BENAVIDES</dc:creator>
  <cp:lastModifiedBy>Angie Alejandra Benavides rojas</cp:lastModifiedBy>
  <cp:revision>151</cp:revision>
  <dcterms:created xsi:type="dcterms:W3CDTF">2006-08-16T00:00:00Z</dcterms:created>
  <dcterms:modified xsi:type="dcterms:W3CDTF">2026-01-26T21:31:20Z</dcterms:modified>
</cp:coreProperties>
</file>